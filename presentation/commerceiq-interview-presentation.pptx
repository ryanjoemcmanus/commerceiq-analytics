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f64b848eec34720" /><Relationship Type="http://schemas.openxmlformats.org/officeDocument/2006/relationships/extended-properties" Target="/docProps/app.xml" Id="R5319eb318a0c4661" /><Relationship Type="http://schemas.openxmlformats.org/officeDocument/2006/relationships/officeDocument" Target="/ppt/presentation.xml" Id="Rf58b87b7d66f4c65" /></Relationships>
</file>

<file path=ppt/presentation.xml><?xml version="1.0" encoding="utf-8"?>
<p:presentation xmlns:p="http://schemas.openxmlformats.org/presentationml/2006/main">
  <p:sldMasterIdLst>
    <p:sldMasterId xmlns:r="http://schemas.openxmlformats.org/officeDocument/2006/relationships" id="2147483648" r:id="R231041e0898847ee"/>
  </p:sldMasterIdLst>
  <p:notesMasterIdLst>
    <p:notesMasterId xmlns:r="http://schemas.openxmlformats.org/officeDocument/2006/relationships" r:id="R606d9ae762524b88"/>
  </p:notesMasterIdLst>
  <p:sldIdLst>
    <p:sldId xmlns:r="http://schemas.openxmlformats.org/officeDocument/2006/relationships" id="256" r:id="Reeef695758d04f51"/>
    <p:sldId xmlns:r="http://schemas.openxmlformats.org/officeDocument/2006/relationships" id="257" r:id="Re7a4a4588df342cc"/>
    <p:sldId xmlns:r="http://schemas.openxmlformats.org/officeDocument/2006/relationships" id="258" r:id="Rf48f88c5f912474a"/>
    <p:sldId xmlns:r="http://schemas.openxmlformats.org/officeDocument/2006/relationships" id="259" r:id="Re13f4d599f8d443a"/>
    <p:sldId xmlns:r="http://schemas.openxmlformats.org/officeDocument/2006/relationships" id="260" r:id="Rddc7784cea464e51"/>
    <p:sldId xmlns:r="http://schemas.openxmlformats.org/officeDocument/2006/relationships" id="261" r:id="Rba62b1059aa5444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2769508875e4004" /><Relationship Type="http://schemas.openxmlformats.org/officeDocument/2006/relationships/slideMaster" Target="/ppt/slideMasters/slideMaster1.xml" Id="R231041e0898847ee" /><Relationship Type="http://schemas.openxmlformats.org/officeDocument/2006/relationships/notesMaster" Target="/ppt/notesMasters/notesMaster1.xml" Id="R606d9ae762524b88" /><Relationship Type="http://schemas.openxmlformats.org/officeDocument/2006/relationships/presProps" Target="/ppt/presProps.xml" Id="R091bae7a5c5742d1" /><Relationship Type="http://schemas.openxmlformats.org/officeDocument/2006/relationships/tableStyles" Target="/ppt/tableStyles.xml" Id="Re918b893138841bb" /><Relationship Type="http://schemas.openxmlformats.org/officeDocument/2006/relationships/slide" Target="/ppt/slides/slide1.xml" Id="Reeef695758d04f51" /><Relationship Type="http://schemas.openxmlformats.org/officeDocument/2006/relationships/slide" Target="/ppt/slides/slide2.xml" Id="Re7a4a4588df342cc" /><Relationship Type="http://schemas.openxmlformats.org/officeDocument/2006/relationships/slide" Target="/ppt/slides/slide3.xml" Id="Rf48f88c5f912474a" /><Relationship Type="http://schemas.openxmlformats.org/officeDocument/2006/relationships/slide" Target="/ppt/slides/slide4.xml" Id="Re13f4d599f8d443a" /><Relationship Type="http://schemas.openxmlformats.org/officeDocument/2006/relationships/slide" Target="/ppt/slides/slide5.xml" Id="Rddc7784cea464e51" /><Relationship Type="http://schemas.openxmlformats.org/officeDocument/2006/relationships/slide" Target="/ppt/slides/slide6.xml" Id="Rba62b1059aa5444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c20d1d9acd848d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9c15d93245d45de" /><Relationship Type="http://schemas.openxmlformats.org/officeDocument/2006/relationships/notesMaster" Target="/ppt/notesMasters/notesMaster1.xml" Id="Rbe17f6ae9bc24bb4" /></Relationships>
</file>

<file path=ppt/notesSlides/_rels/notesSlide2.xml.rels>&#65279;<?xml version="1.0" encoding="utf-8"?><Relationships xmlns="http://schemas.openxmlformats.org/package/2006/relationships"><Relationship Type="http://schemas.openxmlformats.org/officeDocument/2006/relationships/slide" Target="/ppt/slides/slide2.xml" Id="R78bd9107afd74245" /><Relationship Type="http://schemas.openxmlformats.org/officeDocument/2006/relationships/notesMaster" Target="/ppt/notesMasters/notesMaster1.xml" Id="R579df58db1fb46e4" /></Relationships>
</file>

<file path=ppt/notesSlides/_rels/notesSlide3.xml.rels>&#65279;<?xml version="1.0" encoding="utf-8"?><Relationships xmlns="http://schemas.openxmlformats.org/package/2006/relationships"><Relationship Type="http://schemas.openxmlformats.org/officeDocument/2006/relationships/slide" Target="/ppt/slides/slide3.xml" Id="R249dd3317dce4596" /><Relationship Type="http://schemas.openxmlformats.org/officeDocument/2006/relationships/notesMaster" Target="/ppt/notesMasters/notesMaster1.xml" Id="R890c7bbad2184441" /></Relationships>
</file>

<file path=ppt/notesSlides/_rels/notesSlide4.xml.rels>&#65279;<?xml version="1.0" encoding="utf-8"?><Relationships xmlns="http://schemas.openxmlformats.org/package/2006/relationships"><Relationship Type="http://schemas.openxmlformats.org/officeDocument/2006/relationships/slide" Target="/ppt/slides/slide4.xml" Id="Rd770362ed0324898" /><Relationship Type="http://schemas.openxmlformats.org/officeDocument/2006/relationships/notesMaster" Target="/ppt/notesMasters/notesMaster1.xml" Id="R97b8d0728b5c4376" /></Relationships>
</file>

<file path=ppt/notesSlides/_rels/notesSlide5.xml.rels>&#65279;<?xml version="1.0" encoding="utf-8"?><Relationships xmlns="http://schemas.openxmlformats.org/package/2006/relationships"><Relationship Type="http://schemas.openxmlformats.org/officeDocument/2006/relationships/slide" Target="/ppt/slides/slide5.xml" Id="R183cc1ad3b3c4931" /><Relationship Type="http://schemas.openxmlformats.org/officeDocument/2006/relationships/notesMaster" Target="/ppt/notesMasters/notesMaster1.xml" Id="R07df93eccf924ae9" /></Relationships>
</file>

<file path=ppt/notesSlides/_rels/notesSlide6.xml.rels>&#65279;<?xml version="1.0" encoding="utf-8"?><Relationships xmlns="http://schemas.openxmlformats.org/package/2006/relationships"><Relationship Type="http://schemas.openxmlformats.org/officeDocument/2006/relationships/slide" Target="/ppt/slides/slide6.xml" Id="R4efccfdd458d4e29" /><Relationship Type="http://schemas.openxmlformats.org/officeDocument/2006/relationships/notesMaster" Target="/ppt/notesMasters/notesMaster1.xml" Id="Ra76891ce2ae347a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business problem: demonstrate an analyst workflow that is technically reproducible and decision-oriented. CommerceIQ uses the public Olist marketplace data and deliberately stops short of machine learning because the highest-value work is data quality, SQL, KPI design, and stakeholder communication.</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images/commerceiq-dashboard-1.png</a:t>
            </a:r>
          </a:p>
          <a:p xmlns:a="http://schemas.openxmlformats.org/drawingml/2006/main">
            <a:r>
              <a:t>- https://www.kaggle.com/datasets/olistbr/brazilian-ecommerce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 to right. The audit never modifies raw data. Cleaning rules are reusable Python. PostgreSQL enforces the relational contract. Named SQL queries define KPI grain and filters. Power BI consumes pre-validated extracts. Mention that this separation prevents metric drift between notebooks and dashboards.</a:t>
            </a:r>
          </a:p>
          <a:p xmlns:a="http://schemas.openxmlformats.org/drawingml/2006/main">
            <a:r>
              <a:t/>
            </a:r>
          </a:p>
          <a:p xmlns:a="http://schemas.openxmlformats.org/drawingml/2006/main">
            <a:r>
              <a:t>[Sources]</a:t>
            </a:r>
          </a:p>
          <a:p xmlns:a="http://schemas.openxmlformats.org/drawingml/2006/main">
            <a:r>
              <a:t>- docs/architecture.md</a:t>
            </a:r>
          </a:p>
          <a:p xmlns:a="http://schemas.openxmlformats.org/drawingml/2006/main">
            <a:r>
              <a:t>- docs/data_model.md</a:t>
            </a:r>
          </a:p>
          <a:p xmlns:a="http://schemas.openxmlformats.org/drawingml/2006/main">
            <a:r>
              <a:t>- docs/kpi_definitions.md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three numbers to frame the project. Delivered GMV excludes freight. On-time delivery compares calendar dates for orders with comparable timestamps. Repeat customers use customer_unique_id and at least two delivered orders. The data window limits permanent churn conclusions.</a:t>
            </a:r>
          </a:p>
          <a:p xmlns:a="http://schemas.openxmlformats.org/drawingml/2006/main">
            <a:r>
              <a:t/>
            </a:r>
          </a:p>
          <a:p xmlns:a="http://schemas.openxmlformats.org/drawingml/2006/main">
            <a:r>
              <a:t>[Sources]</a:t>
            </a:r>
          </a:p>
          <a:p xmlns:a="http://schemas.openxmlformats.org/drawingml/2006/main">
            <a:r>
              <a:t>- reports/analytics/executive_summary.csv</a:t>
            </a:r>
          </a:p>
          <a:p xmlns:a="http://schemas.openxmlformats.org/drawingml/2006/main">
            <a:r>
              <a:t>- docs/kpi_definitions.md</a:t>
            </a:r>
          </a:p>
          <a:p xmlns:a="http://schemas.openxmlformats.org/drawingml/2006/main">
            <a:r>
              <a:t>- docs/executive_summary.md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core analytical finding. Compare the first and last bars, then connect the result to action: identify at-risk orders before the estimated date, prioritize high-value regions and categories, and communicate proactively. Be explicit that the analysis is observational.</a:t>
            </a:r>
          </a:p>
          <a:p xmlns:a="http://schemas.openxmlformats.org/drawingml/2006/main">
            <a:r>
              <a:t/>
            </a:r>
          </a:p>
          <a:p xmlns:a="http://schemas.openxmlformats.org/drawingml/2006/main">
            <a:r>
              <a:t>[Sources]</a:t>
            </a:r>
          </a:p>
          <a:p xmlns:a="http://schemas.openxmlformats.org/drawingml/2006/main">
            <a:r>
              <a:t>- reports/analytics/delivery_review_relationship.csv</a:t>
            </a:r>
          </a:p>
          <a:p xmlns:a="http://schemas.openxmlformats.org/drawingml/2006/main">
            <a:r>
              <a:t>- docs/conclusion.md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prioritization logic. Geographic concentration makes targeted monitoring efficient. Payment concentration means installment and payment method detail should remain visible. The low observed repeat rate motivates controlled post-purchase, replenishment, and service-recovery tests, but should not be called permanent churn.</a:t>
            </a:r>
          </a:p>
          <a:p xmlns:a="http://schemas.openxmlformats.org/drawingml/2006/main">
            <a:r>
              <a:t/>
            </a:r>
          </a:p>
          <a:p xmlns:a="http://schemas.openxmlformats.org/drawingml/2006/main">
            <a:r>
              <a:t>[Sources]</a:t>
            </a:r>
          </a:p>
          <a:p xmlns:a="http://schemas.openxmlformats.org/drawingml/2006/main">
            <a:r>
              <a:t>- reports/analytics/state_performance.csv</a:t>
            </a:r>
          </a:p>
          <a:p xmlns:a="http://schemas.openxmlformats.org/drawingml/2006/main">
            <a:r>
              <a:t>- reports/analytics/payment_method_performance.csv</a:t>
            </a:r>
          </a:p>
          <a:p xmlns:a="http://schemas.openxmlformats.org/drawingml/2006/main">
            <a:r>
              <a:t>- reports/analytics/executive_summary.csv</a:t>
            </a:r>
          </a:p>
          <a:p xmlns:a="http://schemas.openxmlformats.org/drawingml/2006/main">
            <a:r>
              <a:t>- images/commerceiq-dashboard-3.png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resolving the opening question. The project does not claim profit or causal impact because the dataset lacks costs, acquisition spend, and experimental assignment. The value is a defensible analytical foundation and a focused recommendation. Invite questions about modeling decisions, SQL grain, or dashboard design.</a:t>
            </a:r>
          </a:p>
          <a:p xmlns:a="http://schemas.openxmlformats.org/drawingml/2006/main">
            <a:r>
              <a:t/>
            </a:r>
          </a:p>
          <a:p xmlns:a="http://schemas.openxmlformats.org/drawingml/2006/main">
            <a:r>
              <a:t>[Sources]</a:t>
            </a:r>
          </a:p>
          <a:p xmlns:a="http://schemas.openxmlformats.org/drawingml/2006/main">
            <a:r>
              <a:t>- docs/conclusion.md</a:t>
            </a:r>
          </a:p>
          <a:p xmlns:a="http://schemas.openxmlformats.org/drawingml/2006/main">
            <a:r>
              <a:t>- docs/kpi_definitions.md</a:t>
            </a:r>
          </a:p>
          <a:p xmlns:a="http://schemas.openxmlformats.org/drawingml/2006/main">
            <a:r>
              <a:t>- 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50c0da244af4ed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2fc46f48af94b2a" /><Relationship Type="http://schemas.openxmlformats.org/officeDocument/2006/relationships/slideLayout" Target="/ppt/slideLayouts/slideLayout1.xml" Id="Reaea8d610c5e400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aea8d610c5e400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f7f2dbcbc5b4d37" /><Relationship Type="http://schemas.openxmlformats.org/officeDocument/2006/relationships/image" Target="/ppt/media/image.png" Id="R2578f1361cf3466c" /><Relationship Type="http://schemas.openxmlformats.org/officeDocument/2006/relationships/notesSlide" Target="/ppt/notesSlides/notesSlide1.xml" Id="Rce69498f55b7478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6da91506e434d11" /><Relationship Type="http://schemas.openxmlformats.org/officeDocument/2006/relationships/notesSlide" Target="/ppt/notesSlides/notesSlide2.xml" Id="R2a205fcb6d4648e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08affc39024400a" /><Relationship Type="http://schemas.openxmlformats.org/officeDocument/2006/relationships/notesSlide" Target="/ppt/notesSlides/notesSlide3.xml" Id="Ra6357084356d41b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8b2797175dd4f2a" /><Relationship Type="http://schemas.openxmlformats.org/officeDocument/2006/relationships/chart" Target="/ppt/slides/charts/chart1.xml" Id="R92e0b41f81854faa" /><Relationship Type="http://schemas.openxmlformats.org/officeDocument/2006/relationships/notesSlide" Target="/ppt/notesSlides/notesSlide4.xml" Id="R20ac597b52bd48e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87a0a1136db4298" /><Relationship Type="http://schemas.openxmlformats.org/officeDocument/2006/relationships/image" Target="/ppt/media/image2.png" Id="R3975550329ac4272" /><Relationship Type="http://schemas.openxmlformats.org/officeDocument/2006/relationships/notesSlide" Target="/ppt/notesSlides/notesSlide5.xml" Id="R09aa82fffaa44de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32c3890499f462f" /><Relationship Type="http://schemas.openxmlformats.org/officeDocument/2006/relationships/notesSlide" Target="/ppt/notesSlides/notesSlide6.xml" Id="R7d3813b37e3f46aa" /></Relationships>
</file>

<file path=ppt/slides/charts/chart1.xml><?xml version="1.0" encoding="utf-8"?>
<c:chartSpace xmlns:c="http://schemas.openxmlformats.org/drawingml/2006/chart">
  <c:lang val="en-US"/>
  <c:chart>
    <c:plotArea>
      <c:barChart>
        <c:barDir val="col"/>
        <c:grouping val="clustered"/>
        <c:varyColors val="0"/>
        <c:ser>
          <c:idx val="0"/>
          <c:order val="0"/>
          <c:tx>
            <c:v>Low-review rate</c:v>
          </c:tx>
          <c:spPr>
            <a:solidFill xmlns:a="http://schemas.openxmlformats.org/drawingml/2006/main">
              <a:srgbClr val="2563EB"/>
            </a:solidFill>
          </c:spPr>
          <c:cat>
            <c:strLit>
              <c:ptCount val="5"/>
              <c:pt idx="0">
                <c:v>2+ days early</c:v>
              </c:pt>
              <c:pt idx="1">
                <c:v>On time / 1 early</c:v>
              </c:pt>
              <c:pt idx="2">
                <c:v>1-3 days late</c:v>
              </c:pt>
              <c:pt idx="3">
                <c:v>4-7 days late</c:v>
              </c:pt>
              <c:pt idx="4">
                <c:v>8+ days late</c:v>
              </c:pt>
            </c:strLit>
          </c:cat>
          <c:val>
            <c:numLit>
              <c:formatCode>General</c:formatCode>
              <c:ptCount val="5"/>
              <c:pt idx="0">
                <c:v>9.16</c:v>
              </c:pt>
              <c:pt idx="1">
                <c:v>11.61</c:v>
              </c:pt>
              <c:pt idx="2">
                <c:v>32.18</c:v>
              </c:pt>
              <c:pt idx="3">
                <c:v>67.56</c:v>
              </c:pt>
              <c:pt idx="4">
                <c:v>79.18</c:v>
              </c:pt>
            </c:numLit>
          </c:val>
        </c:ser>
        <c:dLbls>
          <c:txPr>
            <a:bodyPr xmlns:a="http://schemas.openxmlformats.org/drawingml/2006/main" anchorCtr="1"/>
            <a:lstStyle xmlns:a="http://schemas.openxmlformats.org/drawingml/2006/main"/>
            <a:p xmlns:a="http://schemas.openxmlformats.org/drawingml/2006/main">
              <a:pPr>
                <a:defRPr sz="1050" b="1">
                  <a:solidFill>
                    <a:srgbClr val="101827"/>
                  </a:solidFil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0D5DD"/>
            </a:solidFill>
            <a:prstDash val="solid"/>
          </a:ln>
        </c:spPr>
        <c:txPr>
          <a:bodyPr xmlns:a="http://schemas.openxmlformats.org/drawingml/2006/main" anchorCtr="1"/>
          <a:lstStyle xmlns:a="http://schemas.openxmlformats.org/drawingml/2006/main"/>
          <a:p xmlns:a="http://schemas.openxmlformats.org/drawingml/2006/main">
            <a:pPr>
              <a:defRPr sz="975">
                <a:solidFill>
                  <a:srgbClr val="667085"/>
                </a:solidFill>
              </a:defRPr>
            </a:pPr>
          </a:p>
        </c:txPr>
        <c:crossAx val="48672768"/>
      </c:catAx>
      <c:valAx>
        <c:axId val="48672768"/>
        <c:scaling>
          <c:orientation val="minMax"/>
          <c:max val="90"/>
          <c:min val="0"/>
        </c:scaling>
        <c:delete val="0"/>
        <c:axPos val="l"/>
        <c:majorGridlines>
          <c:spPr>
            <a:ln xmlns:a="http://schemas.openxmlformats.org/drawingml/2006/main" w="9525">
              <a:solidFill>
                <a:srgbClr val="D0D5DD"/>
              </a:solidFill>
              <a:prstDash val="solid"/>
            </a:ln>
          </c:spPr>
        </c:majorGridlines>
        <c:title>
          <c:tx>
            <c:rich>
              <a:bodyPr xmlns:a="http://schemas.openxmlformats.org/drawingml/2006/main"/>
              <a:lstStyle xmlns:a="http://schemas.openxmlformats.org/drawingml/2006/main"/>
              <a:p xmlns:a="http://schemas.openxmlformats.org/drawingml/2006/main">
                <a:r>
                  <a:rPr sz="1050" b="1">
                    <a:solidFill>
                      <a:srgbClr val="667085"/>
                    </a:solidFill>
                  </a:rPr>
                  <a:t>Low-review rate (%)</a:t>
                </a:r>
              </a:p>
            </c:rich>
          </c:tx>
          <c:overlay val="0"/>
          <c:txPr>
            <a:bodyPr xmlns:a="http://schemas.openxmlformats.org/drawingml/2006/main" anchorCtr="1"/>
            <a:lstStyle xmlns:a="http://schemas.openxmlformats.org/drawingml/2006/main"/>
            <a:p xmlns:a="http://schemas.openxmlformats.org/drawingml/2006/main">
              <a:pPr>
                <a:defRPr sz="1050" b="1">
                  <a:solidFill>
                    <a:srgbClr val="667085"/>
                  </a:solidFill>
                </a:defRPr>
              </a:pPr>
            </a:p>
          </c:txPr>
        </c:title>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975">
                <a:solidFill>
                  <a:srgbClr val="667085"/>
                </a:solidFill>
              </a:defRPr>
            </a:pPr>
          </a:p>
        </c:txPr>
        <c:crossAx val="48650112"/>
        <c:crossBetween val="between"/>
        <c:majorUnit val="30"/>
      </c:valAx>
      <c:spPr>
        <a:noFill xmlns:a="http://schemas.openxmlformats.org/drawingml/2006/main"/>
        <a:ln xmlns:a="http://schemas.openxmlformats.org/drawingml/2006/main" w="0">
          <a:solidFill>
            <a:srgbClr val="FFFFFF"/>
          </a:solidFill>
          <a:prstDash val="solid"/>
        </a:l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cover-eyebrow">
            <a:extLst xmlns:a="http://schemas.openxmlformats.org/drawingml/2006/main">
              <a:ext uri="{FF2B5EF4-FFF2-40B4-BE49-F238E27FC236}">
                <a16:creationId xmlns:a16="http://schemas.microsoft.com/office/drawing/2014/main" id="{AA53789A-4EA6-4983-A9DD-49705FED4BC5}"/>
              </a:ext>
            </a:extLst>
          </p:cNvPr>
          <p:cNvSpPr>
            <a:spLocks xmlns:a="http://schemas.openxmlformats.org/drawingml/2006/main" noGrp="1"/>
          </p:cNvSpPr>
          <p:nvPr/>
        </p:nvSpPr>
        <p:spPr>
          <a:xfrm xmlns:a="http://schemas.openxmlformats.org/drawingml/2006/main">
            <a:off x="495300" y="4953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1">
                <a:solidFill>
                  <a:srgbClr val="2563EB"/>
                </a:solidFill>
                <a:latin typeface="Arial"/>
                <a:ea typeface="Arial"/>
                <a:cs typeface="Arial"/>
              </a:defRPr>
            </a:pPr>
            <a:r>
              <a:rPr sz="1050" b="1">
                <a:solidFill>
                  <a:srgbClr val="2563EB"/>
                </a:solidFill>
                <a:latin typeface="Arial"/>
                <a:ea typeface="Arial"/>
                <a:cs typeface="Arial"/>
              </a:rPr>
              <a:t>PORTFOLIO CASE STUDY · OLIST E-COMMERCE</a:t>
            </a:r>
          </a:p>
        </p:txBody>
      </p:sp>
      <p:sp>
        <p:nvSpPr>
          <p:cNvPr id="2" name="cover-title">
            <a:extLst xmlns:a="http://schemas.openxmlformats.org/drawingml/2006/main">
              <a:ext uri="{FF2B5EF4-FFF2-40B4-BE49-F238E27FC236}">
                <a16:creationId xmlns:a16="http://schemas.microsoft.com/office/drawing/2014/main" id="{07EF5134-C7E6-49B8-882B-E43F41FFF25F}"/>
              </a:ext>
            </a:extLst>
          </p:cNvPr>
          <p:cNvSpPr>
            <a:spLocks xmlns:a="http://schemas.openxmlformats.org/drawingml/2006/main" noGrp="1"/>
          </p:cNvSpPr>
          <p:nvPr/>
        </p:nvSpPr>
        <p:spPr>
          <a:xfrm xmlns:a="http://schemas.openxmlformats.org/drawingml/2006/main">
            <a:off x="495300" y="1600200"/>
            <a:ext cx="4953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4500" b="1">
                <a:solidFill>
                  <a:srgbClr val="101827"/>
                </a:solidFill>
                <a:latin typeface="Arial"/>
                <a:ea typeface="Arial"/>
                <a:cs typeface="Arial"/>
              </a:defRPr>
            </a:pPr>
            <a:r>
              <a:rPr sz="4500" b="1">
                <a:solidFill>
                  <a:srgbClr val="101827"/>
                </a:solidFill>
                <a:latin typeface="Arial"/>
                <a:ea typeface="Arial"/>
                <a:cs typeface="Arial"/>
              </a:rPr>
              <a:t>CommerceIQ</a:t>
            </a:r>
          </a:p>
        </p:txBody>
      </p:sp>
      <p:sp>
        <p:nvSpPr>
          <p:cNvPr id="3" name="cover-subtitle">
            <a:extLst xmlns:a="http://schemas.openxmlformats.org/drawingml/2006/main">
              <a:ext uri="{FF2B5EF4-FFF2-40B4-BE49-F238E27FC236}">
                <a16:creationId xmlns:a16="http://schemas.microsoft.com/office/drawing/2014/main" id="{A46D6E4D-0C17-40BB-968E-02BBFE5FDF64}"/>
              </a:ext>
            </a:extLst>
          </p:cNvPr>
          <p:cNvSpPr>
            <a:spLocks xmlns:a="http://schemas.openxmlformats.org/drawingml/2006/main" noGrp="1"/>
          </p:cNvSpPr>
          <p:nvPr/>
        </p:nvSpPr>
        <p:spPr>
          <a:xfrm xmlns:a="http://schemas.openxmlformats.org/drawingml/2006/main">
            <a:off x="495300" y="2495550"/>
            <a:ext cx="4953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150" b="1">
                <a:solidFill>
                  <a:srgbClr val="101827"/>
                </a:solidFill>
                <a:latin typeface="Arial"/>
                <a:ea typeface="Arial"/>
                <a:cs typeface="Arial"/>
              </a:defRPr>
            </a:pPr>
            <a:r>
              <a:rPr sz="3150" b="1">
                <a:solidFill>
                  <a:srgbClr val="101827"/>
                </a:solidFill>
                <a:latin typeface="Arial"/>
                <a:ea typeface="Arial"/>
                <a:cs typeface="Arial"/>
              </a:rPr>
              <a:t>End-to-End</a:t>
            </a:r>
          </a:p>
          <a:p xmlns:a="http://schemas.openxmlformats.org/drawingml/2006/main">
            <a:pPr algn="l">
              <a:defRPr sz="3150" b="1">
                <a:solidFill>
                  <a:srgbClr val="101827"/>
                </a:solidFill>
                <a:latin typeface="Arial"/>
                <a:ea typeface="Arial"/>
                <a:cs typeface="Arial"/>
              </a:defRPr>
            </a:pPr>
            <a:r>
              <a:rPr sz="3150" b="1">
                <a:solidFill>
                  <a:srgbClr val="101827"/>
                </a:solidFill>
                <a:latin typeface="Arial"/>
                <a:ea typeface="Arial"/>
                <a:cs typeface="Arial"/>
              </a:rPr>
              <a:t>E-Commerce Analytics</a:t>
            </a:r>
          </a:p>
        </p:txBody>
      </p:sp>
      <p:sp>
        <p:nvSpPr>
          <p:cNvPr id="4" name="cover-description">
            <a:extLst xmlns:a="http://schemas.openxmlformats.org/drawingml/2006/main">
              <a:ext uri="{FF2B5EF4-FFF2-40B4-BE49-F238E27FC236}">
                <a16:creationId xmlns:a16="http://schemas.microsoft.com/office/drawing/2014/main" id="{5C0A6691-A33D-4DFF-83E0-1E9F2C351BB6}"/>
              </a:ext>
            </a:extLst>
          </p:cNvPr>
          <p:cNvSpPr>
            <a:spLocks xmlns:a="http://schemas.openxmlformats.org/drawingml/2006/main" noGrp="1"/>
          </p:cNvSpPr>
          <p:nvPr/>
        </p:nvSpPr>
        <p:spPr>
          <a:xfrm xmlns:a="http://schemas.openxmlformats.org/drawingml/2006/main">
            <a:off x="495300" y="4438650"/>
            <a:ext cx="4953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0">
                <a:solidFill>
                  <a:srgbClr val="667085"/>
                </a:solidFill>
                <a:latin typeface="Arial"/>
                <a:ea typeface="Arial"/>
                <a:cs typeface="Arial"/>
              </a:defRPr>
            </a:pPr>
            <a:r>
              <a:rPr sz="1575" b="0">
                <a:solidFill>
                  <a:srgbClr val="667085"/>
                </a:solidFill>
                <a:latin typeface="Arial"/>
                <a:ea typeface="Arial"/>
                <a:cs typeface="Arial"/>
              </a:rPr>
              <a:t>Python · PostgreSQL · SQL · Power BI</a:t>
            </a:r>
          </a:p>
          <a:p xmlns:a="http://schemas.openxmlformats.org/drawingml/2006/main">
            <a:pPr algn="l">
              <a:defRPr sz="1575" b="0">
                <a:solidFill>
                  <a:srgbClr val="667085"/>
                </a:solidFill>
                <a:latin typeface="Arial"/>
                <a:ea typeface="Arial"/>
                <a:cs typeface="Arial"/>
              </a:defRPr>
            </a:pPr>
            <a:r>
              <a:rPr sz="1575" b="0">
                <a:solidFill>
                  <a:srgbClr val="667085"/>
                </a:solidFill>
                <a:latin typeface="Arial"/>
                <a:ea typeface="Arial"/>
                <a:cs typeface="Arial"/>
              </a:rPr>
              <a:t>A reproducible analysis from raw files to stakeholder action.</a:t>
            </a:r>
          </a:p>
        </p:txBody>
      </p:sp>
      <p:sp>
        <p:nvSpPr>
          <p:cNvPr id="5" name="cover-image-frame">
            <a:extLst xmlns:a="http://schemas.openxmlformats.org/drawingml/2006/main">
              <a:ext uri="{FF2B5EF4-FFF2-40B4-BE49-F238E27FC236}">
                <a16:creationId xmlns:a16="http://schemas.microsoft.com/office/drawing/2014/main" id="{451E9837-29D5-42B0-BDFE-333842508A86}"/>
              </a:ext>
            </a:extLst>
          </p:cNvPr>
          <p:cNvSpPr>
            <a:spLocks xmlns:a="http://schemas.openxmlformats.org/drawingml/2006/main" noGrp="1"/>
          </p:cNvSpPr>
          <p:nvPr/>
        </p:nvSpPr>
        <p:spPr>
          <a:xfrm xmlns:a="http://schemas.openxmlformats.org/drawingml/2006/main">
            <a:off x="5905500" y="495300"/>
            <a:ext cx="5791200" cy="5410200"/>
          </a:xfrm>
          <a:prstGeom xmlns:a="http://schemas.openxmlformats.org/drawingml/2006/main" prst="roundRect">
            <a:avLst>
              <a:gd name="adj" fmla="val 2113"/>
            </a:avLst>
          </a:prstGeom>
          <a:solidFill xmlns:a="http://schemas.openxmlformats.org/drawingml/2006/main">
            <a:srgbClr val="EFF6FF"/>
          </a:solidFill>
          <a:ln xmlns:a="http://schemas.openxmlformats.org/drawingml/2006/main" w="9525">
            <a:solidFill>
              <a:srgbClr val="D0D5DD"/>
            </a:solidFill>
            <a:prstDash val="solid"/>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2578f1361cf3466c"/>
          <a:stretch xmlns:a="http://schemas.openxmlformats.org/drawingml/2006/main"/>
        </p:blipFill>
        <p:spPr>
          <a:xfrm xmlns:a="http://schemas.openxmlformats.org/drawingml/2006/main">
            <a:off x="6096000" y="1636005"/>
            <a:ext cx="5410200" cy="3128790"/>
          </a:xfrm>
          <a:prstGeom xmlns:a="http://schemas.openxmlformats.org/drawingml/2006/main" prst="rect">
            <a:avLst/>
          </a:prstGeom>
        </p:spPr>
      </p:pic>
      <p:sp>
        <p:nvSpPr>
          <p:cNvPr id="7" name="cover-footer">
            <a:extLst xmlns:a="http://schemas.openxmlformats.org/drawingml/2006/main">
              <a:ext uri="{FF2B5EF4-FFF2-40B4-BE49-F238E27FC236}">
                <a16:creationId xmlns:a16="http://schemas.microsoft.com/office/drawing/2014/main" id="{4A352993-E0DA-487E-AD50-B2B4CBC409FC}"/>
              </a:ext>
            </a:extLst>
          </p:cNvPr>
          <p:cNvSpPr>
            <a:spLocks xmlns:a="http://schemas.openxmlformats.org/drawingml/2006/main" noGrp="1"/>
          </p:cNvSpPr>
          <p:nvPr/>
        </p:nvSpPr>
        <p:spPr>
          <a:xfrm xmlns:a="http://schemas.openxmlformats.org/drawingml/2006/main">
            <a:off x="495300" y="609600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667085"/>
                </a:solidFill>
                <a:latin typeface="Arial"/>
                <a:ea typeface="Arial"/>
                <a:cs typeface="Arial"/>
              </a:defRPr>
            </a:pPr>
            <a:r>
              <a:rPr sz="1200" b="0">
                <a:solidFill>
                  <a:srgbClr val="667085"/>
                </a:solidFill>
                <a:latin typeface="Arial"/>
                <a:ea typeface="Arial"/>
                <a:cs typeface="Arial"/>
              </a:rPr>
              <a:t>Analytics internship interview presentation</a:t>
            </a:r>
          </a:p>
        </p:txBody>
      </p:sp>
    </p:spTree>
    <p:extLst>
      <p:ext uri="{BB962C8B-B14F-4D97-AF65-F5344CB8AC3E}">
        <p14:creationId xmlns:p14="http://schemas.microsoft.com/office/powerpoint/2010/main" val="50099353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architecture-title">
            <a:extLst xmlns:a="http://schemas.openxmlformats.org/drawingml/2006/main">
              <a:ext uri="{FF2B5EF4-FFF2-40B4-BE49-F238E27FC236}">
                <a16:creationId xmlns:a16="http://schemas.microsoft.com/office/drawing/2014/main" id="{9FF7D580-88BA-45B6-9E6B-9D15F87321BC}"/>
              </a:ext>
            </a:extLst>
          </p:cNvPr>
          <p:cNvSpPr>
            <a:spLocks xmlns:a="http://schemas.openxmlformats.org/drawingml/2006/main" noGrp="1"/>
          </p:cNvSpPr>
          <p:nvPr/>
        </p:nvSpPr>
        <p:spPr>
          <a:xfrm xmlns:a="http://schemas.openxmlformats.org/drawingml/2006/main">
            <a:off x="495300" y="400050"/>
            <a:ext cx="11201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7062"/>
          </a:bodyPr>
          <a:lstStyle xmlns:a="http://schemas.openxmlformats.org/drawingml/2006/main"/>
          <a:p xmlns:a="http://schemas.openxmlformats.org/drawingml/2006/main">
            <a:pPr algn="l">
              <a:defRPr sz="2850" b="1">
                <a:solidFill>
                  <a:srgbClr val="101827"/>
                </a:solidFill>
                <a:latin typeface="Arial"/>
                <a:ea typeface="Arial"/>
                <a:cs typeface="Arial"/>
              </a:defRPr>
            </a:pPr>
            <a:r>
              <a:rPr sz="2850" b="1">
                <a:solidFill>
                  <a:srgbClr val="101827"/>
                </a:solidFill>
                <a:latin typeface="Arial"/>
                <a:ea typeface="Arial"/>
                <a:cs typeface="Arial"/>
              </a:rPr>
              <a:t>A governed pipeline turns public CSVs into stakeholder decisions</a:t>
            </a:r>
          </a:p>
        </p:txBody>
      </p:sp>
      <p:sp>
        <p:nvSpPr>
          <p:cNvPr id="2" name="architecture-subtitle">
            <a:extLst xmlns:a="http://schemas.openxmlformats.org/drawingml/2006/main">
              <a:ext uri="{FF2B5EF4-FFF2-40B4-BE49-F238E27FC236}">
                <a16:creationId xmlns:a16="http://schemas.microsoft.com/office/drawing/2014/main" id="{3E6B7C4D-B414-4FE7-B039-6F2F71071AC9}"/>
              </a:ext>
            </a:extLst>
          </p:cNvPr>
          <p:cNvSpPr>
            <a:spLocks xmlns:a="http://schemas.openxmlformats.org/drawingml/2006/main" noGrp="1"/>
          </p:cNvSpPr>
          <p:nvPr/>
        </p:nvSpPr>
        <p:spPr>
          <a:xfrm xmlns:a="http://schemas.openxmlformats.org/drawingml/2006/main">
            <a:off x="495300" y="120015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667085"/>
                </a:solidFill>
                <a:latin typeface="Arial"/>
                <a:ea typeface="Arial"/>
                <a:cs typeface="Arial"/>
              </a:defRPr>
            </a:pPr>
            <a:r>
              <a:rPr sz="1500" b="0">
                <a:solidFill>
                  <a:srgbClr val="667085"/>
                </a:solidFill>
                <a:latin typeface="Arial"/>
                <a:ea typeface="Arial"/>
                <a:cs typeface="Arial"/>
              </a:rPr>
              <a:t>Each layer has one responsibility, so metrics are defined once and remain reproducible.</a:t>
            </a:r>
          </a:p>
        </p:txBody>
      </p:sp>
      <p:sp>
        <p:nvSpPr>
          <p:cNvPr id="3" name="process-connector-1">
            <a:extLst xmlns:a="http://schemas.openxmlformats.org/drawingml/2006/main">
              <a:ext uri="{FF2B5EF4-FFF2-40B4-BE49-F238E27FC236}">
                <a16:creationId xmlns:a16="http://schemas.microsoft.com/office/drawing/2014/main" id="{ADF1B501-CB40-482C-87B8-F442BD6D0BC8}"/>
              </a:ext>
            </a:extLst>
          </p:cNvPr>
          <p:cNvSpPr>
            <a:spLocks xmlns:a="http://schemas.openxmlformats.org/drawingml/2006/main" noGrp="1"/>
          </p:cNvSpPr>
          <p:nvPr/>
        </p:nvSpPr>
        <p:spPr>
          <a:xfrm xmlns:a="http://schemas.openxmlformats.org/drawingml/2006/main">
            <a:off x="1676400" y="3076575"/>
            <a:ext cx="876300" cy="38100"/>
          </a:xfrm>
          <a:prstGeom xmlns:a="http://schemas.openxmlformats.org/drawingml/2006/main" prst="rect">
            <a:avLst/>
          </a:prstGeom>
          <a:solidFill xmlns:a="http://schemas.openxmlformats.org/drawingml/2006/main">
            <a:srgbClr val="60A5FA"/>
          </a:solidFill>
          <a:ln xmlns:a="http://schemas.openxmlformats.org/drawingml/2006/main" w="0">
            <a:solidFill>
              <a:srgbClr val="60A5FA"/>
            </a:solidFill>
            <a:prstDash val="solid"/>
          </a:ln>
        </p:spPr>
      </p:sp>
      <p:sp>
        <p:nvSpPr>
          <p:cNvPr id="4" name="process-connector-2">
            <a:extLst xmlns:a="http://schemas.openxmlformats.org/drawingml/2006/main">
              <a:ext uri="{FF2B5EF4-FFF2-40B4-BE49-F238E27FC236}">
                <a16:creationId xmlns:a16="http://schemas.microsoft.com/office/drawing/2014/main" id="{165B324A-365F-4193-839E-733B806470B3}"/>
              </a:ext>
            </a:extLst>
          </p:cNvPr>
          <p:cNvSpPr>
            <a:spLocks xmlns:a="http://schemas.openxmlformats.org/drawingml/2006/main" noGrp="1"/>
          </p:cNvSpPr>
          <p:nvPr/>
        </p:nvSpPr>
        <p:spPr>
          <a:xfrm xmlns:a="http://schemas.openxmlformats.org/drawingml/2006/main">
            <a:off x="3581400" y="3076575"/>
            <a:ext cx="876300" cy="38100"/>
          </a:xfrm>
          <a:prstGeom xmlns:a="http://schemas.openxmlformats.org/drawingml/2006/main" prst="rect">
            <a:avLst/>
          </a:prstGeom>
          <a:solidFill xmlns:a="http://schemas.openxmlformats.org/drawingml/2006/main">
            <a:srgbClr val="60A5FA"/>
          </a:solidFill>
          <a:ln xmlns:a="http://schemas.openxmlformats.org/drawingml/2006/main" w="0">
            <a:solidFill>
              <a:srgbClr val="60A5FA"/>
            </a:solidFill>
            <a:prstDash val="solid"/>
          </a:ln>
        </p:spPr>
      </p:sp>
      <p:sp>
        <p:nvSpPr>
          <p:cNvPr id="5" name="process-connector-3">
            <a:extLst xmlns:a="http://schemas.openxmlformats.org/drawingml/2006/main">
              <a:ext uri="{FF2B5EF4-FFF2-40B4-BE49-F238E27FC236}">
                <a16:creationId xmlns:a16="http://schemas.microsoft.com/office/drawing/2014/main" id="{4A19E6B5-7A5A-496C-AF4C-17B31BF7E185}"/>
              </a:ext>
            </a:extLst>
          </p:cNvPr>
          <p:cNvSpPr>
            <a:spLocks xmlns:a="http://schemas.openxmlformats.org/drawingml/2006/main" noGrp="1"/>
          </p:cNvSpPr>
          <p:nvPr/>
        </p:nvSpPr>
        <p:spPr>
          <a:xfrm xmlns:a="http://schemas.openxmlformats.org/drawingml/2006/main">
            <a:off x="5486400" y="3076575"/>
            <a:ext cx="876300" cy="38100"/>
          </a:xfrm>
          <a:prstGeom xmlns:a="http://schemas.openxmlformats.org/drawingml/2006/main" prst="rect">
            <a:avLst/>
          </a:prstGeom>
          <a:solidFill xmlns:a="http://schemas.openxmlformats.org/drawingml/2006/main">
            <a:srgbClr val="60A5FA"/>
          </a:solidFill>
          <a:ln xmlns:a="http://schemas.openxmlformats.org/drawingml/2006/main" w="0">
            <a:solidFill>
              <a:srgbClr val="60A5FA"/>
            </a:solidFill>
            <a:prstDash val="solid"/>
          </a:ln>
        </p:spPr>
      </p:sp>
      <p:sp>
        <p:nvSpPr>
          <p:cNvPr id="6" name="process-connector-4">
            <a:extLst xmlns:a="http://schemas.openxmlformats.org/drawingml/2006/main">
              <a:ext uri="{FF2B5EF4-FFF2-40B4-BE49-F238E27FC236}">
                <a16:creationId xmlns:a16="http://schemas.microsoft.com/office/drawing/2014/main" id="{08B09400-297A-4C09-B24C-7C35FD967BCD}"/>
              </a:ext>
            </a:extLst>
          </p:cNvPr>
          <p:cNvSpPr>
            <a:spLocks xmlns:a="http://schemas.openxmlformats.org/drawingml/2006/main" noGrp="1"/>
          </p:cNvSpPr>
          <p:nvPr/>
        </p:nvSpPr>
        <p:spPr>
          <a:xfrm xmlns:a="http://schemas.openxmlformats.org/drawingml/2006/main">
            <a:off x="7391400" y="3076575"/>
            <a:ext cx="876300" cy="38100"/>
          </a:xfrm>
          <a:prstGeom xmlns:a="http://schemas.openxmlformats.org/drawingml/2006/main" prst="rect">
            <a:avLst/>
          </a:prstGeom>
          <a:solidFill xmlns:a="http://schemas.openxmlformats.org/drawingml/2006/main">
            <a:srgbClr val="60A5FA"/>
          </a:solidFill>
          <a:ln xmlns:a="http://schemas.openxmlformats.org/drawingml/2006/main" w="0">
            <a:solidFill>
              <a:srgbClr val="60A5FA"/>
            </a:solidFill>
            <a:prstDash val="solid"/>
          </a:ln>
        </p:spPr>
      </p:sp>
      <p:sp>
        <p:nvSpPr>
          <p:cNvPr id="7" name="process-connector-5">
            <a:extLst xmlns:a="http://schemas.openxmlformats.org/drawingml/2006/main">
              <a:ext uri="{FF2B5EF4-FFF2-40B4-BE49-F238E27FC236}">
                <a16:creationId xmlns:a16="http://schemas.microsoft.com/office/drawing/2014/main" id="{8B9F22BA-6C32-4A5D-B3D3-D79D8D17329F}"/>
              </a:ext>
            </a:extLst>
          </p:cNvPr>
          <p:cNvSpPr>
            <a:spLocks xmlns:a="http://schemas.openxmlformats.org/drawingml/2006/main" noGrp="1"/>
          </p:cNvSpPr>
          <p:nvPr/>
        </p:nvSpPr>
        <p:spPr>
          <a:xfrm xmlns:a="http://schemas.openxmlformats.org/drawingml/2006/main">
            <a:off x="9296400" y="3076575"/>
            <a:ext cx="876300" cy="38100"/>
          </a:xfrm>
          <a:prstGeom xmlns:a="http://schemas.openxmlformats.org/drawingml/2006/main" prst="rect">
            <a:avLst/>
          </a:prstGeom>
          <a:solidFill xmlns:a="http://schemas.openxmlformats.org/drawingml/2006/main">
            <a:srgbClr val="60A5FA"/>
          </a:solidFill>
          <a:ln xmlns:a="http://schemas.openxmlformats.org/drawingml/2006/main" w="0">
            <a:solidFill>
              <a:srgbClr val="60A5FA"/>
            </a:solidFill>
            <a:prstDash val="solid"/>
          </a:ln>
        </p:spPr>
      </p:sp>
      <p:sp>
        <p:nvSpPr>
          <p:cNvPr id="8" name="process-node-01">
            <a:extLst xmlns:a="http://schemas.openxmlformats.org/drawingml/2006/main">
              <a:ext uri="{FF2B5EF4-FFF2-40B4-BE49-F238E27FC236}">
                <a16:creationId xmlns:a16="http://schemas.microsoft.com/office/drawing/2014/main" id="{7AC31C60-6D68-41B7-BE96-B5F2AB5164C0}"/>
              </a:ext>
            </a:extLst>
          </p:cNvPr>
          <p:cNvSpPr>
            <a:spLocks xmlns:a="http://schemas.openxmlformats.org/drawingml/2006/main" noGrp="1"/>
          </p:cNvSpPr>
          <p:nvPr/>
        </p:nvSpPr>
        <p:spPr>
          <a:xfrm xmlns:a="http://schemas.openxmlformats.org/drawingml/2006/main">
            <a:off x="762000" y="2695575"/>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2563EB"/>
            </a:solidFill>
            <a:prstDash val="solid"/>
          </a:ln>
        </p:spPr>
      </p:sp>
      <p:sp>
        <p:nvSpPr>
          <p:cNvPr id="9" name="process-number-01">
            <a:extLst xmlns:a="http://schemas.openxmlformats.org/drawingml/2006/main">
              <a:ext uri="{FF2B5EF4-FFF2-40B4-BE49-F238E27FC236}">
                <a16:creationId xmlns:a16="http://schemas.microsoft.com/office/drawing/2014/main" id="{43691439-A0F1-41DA-8397-D4D16255FBB0}"/>
              </a:ext>
            </a:extLst>
          </p:cNvPr>
          <p:cNvSpPr>
            <a:spLocks xmlns:a="http://schemas.openxmlformats.org/drawingml/2006/main" noGrp="1"/>
          </p:cNvSpPr>
          <p:nvPr/>
        </p:nvSpPr>
        <p:spPr>
          <a:xfrm xmlns:a="http://schemas.openxmlformats.org/drawingml/2006/main">
            <a:off x="933450" y="2914650"/>
            <a:ext cx="45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p xmlns:a="http://schemas.openxmlformats.org/drawingml/2006/main">
            <a:pPr algn="ctr">
              <a:defRPr sz="1650" b="1">
                <a:solidFill>
                  <a:srgbClr val="2563EB"/>
                </a:solidFill>
                <a:latin typeface="Arial"/>
                <a:ea typeface="Arial"/>
                <a:cs typeface="Arial"/>
              </a:defRPr>
            </a:pPr>
            <a:r>
              <a:rPr sz="1650" b="1">
                <a:solidFill>
                  <a:srgbClr val="2563EB"/>
                </a:solidFill>
                <a:latin typeface="Arial"/>
                <a:ea typeface="Arial"/>
                <a:cs typeface="Arial"/>
              </a:rPr>
              <a:t>01</a:t>
            </a:r>
          </a:p>
        </p:txBody>
      </p:sp>
      <p:sp>
        <p:nvSpPr>
          <p:cNvPr id="10" name="process-title-01">
            <a:extLst xmlns:a="http://schemas.openxmlformats.org/drawingml/2006/main">
              <a:ext uri="{FF2B5EF4-FFF2-40B4-BE49-F238E27FC236}">
                <a16:creationId xmlns:a16="http://schemas.microsoft.com/office/drawing/2014/main" id="{1D89D446-2300-4779-9BC6-B0814604A356}"/>
              </a:ext>
            </a:extLst>
          </p:cNvPr>
          <p:cNvSpPr>
            <a:spLocks xmlns:a="http://schemas.openxmlformats.org/drawingml/2006/main" noGrp="1"/>
          </p:cNvSpPr>
          <p:nvPr/>
        </p:nvSpPr>
        <p:spPr>
          <a:xfrm xmlns:a="http://schemas.openxmlformats.org/drawingml/2006/main">
            <a:off x="552450" y="3714750"/>
            <a:ext cx="1219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575" b="1">
                <a:solidFill>
                  <a:srgbClr val="101827"/>
                </a:solidFill>
                <a:latin typeface="Arial"/>
                <a:ea typeface="Arial"/>
                <a:cs typeface="Arial"/>
              </a:defRPr>
            </a:pPr>
            <a:r>
              <a:rPr sz="1575" b="1">
                <a:solidFill>
                  <a:srgbClr val="101827"/>
                </a:solidFill>
                <a:latin typeface="Arial"/>
                <a:ea typeface="Arial"/>
                <a:cs typeface="Arial"/>
              </a:rPr>
              <a:t>Raw CSVs</a:t>
            </a:r>
          </a:p>
        </p:txBody>
      </p:sp>
      <p:sp>
        <p:nvSpPr>
          <p:cNvPr id="11" name="process-detail-01">
            <a:extLst xmlns:a="http://schemas.openxmlformats.org/drawingml/2006/main">
              <a:ext uri="{FF2B5EF4-FFF2-40B4-BE49-F238E27FC236}">
                <a16:creationId xmlns:a16="http://schemas.microsoft.com/office/drawing/2014/main" id="{47BA1525-A34B-46ED-BBBF-D2A75281EBA2}"/>
              </a:ext>
            </a:extLst>
          </p:cNvPr>
          <p:cNvSpPr>
            <a:spLocks xmlns:a="http://schemas.openxmlformats.org/drawingml/2006/main" noGrp="1"/>
          </p:cNvSpPr>
          <p:nvPr/>
        </p:nvSpPr>
        <p:spPr>
          <a:xfrm xmlns:a="http://schemas.openxmlformats.org/drawingml/2006/main">
            <a:off x="476250" y="4124325"/>
            <a:ext cx="1371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200" b="0">
                <a:solidFill>
                  <a:srgbClr val="667085"/>
                </a:solidFill>
                <a:latin typeface="Arial"/>
                <a:ea typeface="Arial"/>
                <a:cs typeface="Arial"/>
              </a:defRPr>
            </a:pPr>
            <a:r>
              <a:rPr sz="1200" b="0">
                <a:solidFill>
                  <a:srgbClr val="667085"/>
                </a:solidFill>
                <a:latin typeface="Arial"/>
                <a:ea typeface="Arial"/>
                <a:cs typeface="Arial"/>
              </a:rPr>
              <a:t>Immutable source</a:t>
            </a:r>
          </a:p>
        </p:txBody>
      </p:sp>
      <p:sp>
        <p:nvSpPr>
          <p:cNvPr id="12" name="process-node-02">
            <a:extLst xmlns:a="http://schemas.openxmlformats.org/drawingml/2006/main">
              <a:ext uri="{FF2B5EF4-FFF2-40B4-BE49-F238E27FC236}">
                <a16:creationId xmlns:a16="http://schemas.microsoft.com/office/drawing/2014/main" id="{CC2D5B16-B884-4C51-81B7-3B727F2CE37F}"/>
              </a:ext>
            </a:extLst>
          </p:cNvPr>
          <p:cNvSpPr>
            <a:spLocks xmlns:a="http://schemas.openxmlformats.org/drawingml/2006/main" noGrp="1"/>
          </p:cNvSpPr>
          <p:nvPr/>
        </p:nvSpPr>
        <p:spPr>
          <a:xfrm xmlns:a="http://schemas.openxmlformats.org/drawingml/2006/main">
            <a:off x="2667000" y="2695575"/>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2563EB"/>
            </a:solidFill>
            <a:prstDash val="solid"/>
          </a:ln>
        </p:spPr>
      </p:sp>
      <p:sp>
        <p:nvSpPr>
          <p:cNvPr id="13" name="process-number-02">
            <a:extLst xmlns:a="http://schemas.openxmlformats.org/drawingml/2006/main">
              <a:ext uri="{FF2B5EF4-FFF2-40B4-BE49-F238E27FC236}">
                <a16:creationId xmlns:a16="http://schemas.microsoft.com/office/drawing/2014/main" id="{98B56680-CB46-4980-8818-4A7678843AB4}"/>
              </a:ext>
            </a:extLst>
          </p:cNvPr>
          <p:cNvSpPr>
            <a:spLocks xmlns:a="http://schemas.openxmlformats.org/drawingml/2006/main" noGrp="1"/>
          </p:cNvSpPr>
          <p:nvPr/>
        </p:nvSpPr>
        <p:spPr>
          <a:xfrm xmlns:a="http://schemas.openxmlformats.org/drawingml/2006/main">
            <a:off x="2838450" y="2914650"/>
            <a:ext cx="45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p xmlns:a="http://schemas.openxmlformats.org/drawingml/2006/main">
            <a:pPr algn="ctr">
              <a:defRPr sz="1650" b="1">
                <a:solidFill>
                  <a:srgbClr val="2563EB"/>
                </a:solidFill>
                <a:latin typeface="Arial"/>
                <a:ea typeface="Arial"/>
                <a:cs typeface="Arial"/>
              </a:defRPr>
            </a:pPr>
            <a:r>
              <a:rPr sz="1650" b="1">
                <a:solidFill>
                  <a:srgbClr val="2563EB"/>
                </a:solidFill>
                <a:latin typeface="Arial"/>
                <a:ea typeface="Arial"/>
                <a:cs typeface="Arial"/>
              </a:rPr>
              <a:t>02</a:t>
            </a:r>
          </a:p>
        </p:txBody>
      </p:sp>
      <p:sp>
        <p:nvSpPr>
          <p:cNvPr id="14" name="process-title-02">
            <a:extLst xmlns:a="http://schemas.openxmlformats.org/drawingml/2006/main">
              <a:ext uri="{FF2B5EF4-FFF2-40B4-BE49-F238E27FC236}">
                <a16:creationId xmlns:a16="http://schemas.microsoft.com/office/drawing/2014/main" id="{8C084D3F-4E44-4CB5-AC95-B4929EA23CB3}"/>
              </a:ext>
            </a:extLst>
          </p:cNvPr>
          <p:cNvSpPr>
            <a:spLocks xmlns:a="http://schemas.openxmlformats.org/drawingml/2006/main" noGrp="1"/>
          </p:cNvSpPr>
          <p:nvPr/>
        </p:nvSpPr>
        <p:spPr>
          <a:xfrm xmlns:a="http://schemas.openxmlformats.org/drawingml/2006/main">
            <a:off x="2457450" y="3714750"/>
            <a:ext cx="1219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575" b="1">
                <a:solidFill>
                  <a:srgbClr val="101827"/>
                </a:solidFill>
                <a:latin typeface="Arial"/>
                <a:ea typeface="Arial"/>
                <a:cs typeface="Arial"/>
              </a:defRPr>
            </a:pPr>
            <a:r>
              <a:rPr sz="1575" b="1">
                <a:solidFill>
                  <a:srgbClr val="101827"/>
                </a:solidFill>
                <a:latin typeface="Arial"/>
                <a:ea typeface="Arial"/>
                <a:cs typeface="Arial"/>
              </a:rPr>
              <a:t>Audit</a:t>
            </a:r>
          </a:p>
        </p:txBody>
      </p:sp>
      <p:sp>
        <p:nvSpPr>
          <p:cNvPr id="15" name="process-detail-02">
            <a:extLst xmlns:a="http://schemas.openxmlformats.org/drawingml/2006/main">
              <a:ext uri="{FF2B5EF4-FFF2-40B4-BE49-F238E27FC236}">
                <a16:creationId xmlns:a16="http://schemas.microsoft.com/office/drawing/2014/main" id="{447CC1AD-4609-467B-B1D6-6ABD4DFBF146}"/>
              </a:ext>
            </a:extLst>
          </p:cNvPr>
          <p:cNvSpPr>
            <a:spLocks xmlns:a="http://schemas.openxmlformats.org/drawingml/2006/main" noGrp="1"/>
          </p:cNvSpPr>
          <p:nvPr/>
        </p:nvSpPr>
        <p:spPr>
          <a:xfrm xmlns:a="http://schemas.openxmlformats.org/drawingml/2006/main">
            <a:off x="2381250" y="4124325"/>
            <a:ext cx="1371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200" b="0">
                <a:solidFill>
                  <a:srgbClr val="667085"/>
                </a:solidFill>
                <a:latin typeface="Arial"/>
                <a:ea typeface="Arial"/>
                <a:cs typeface="Arial"/>
              </a:defRPr>
            </a:pPr>
            <a:r>
              <a:rPr sz="1200" b="0">
                <a:solidFill>
                  <a:srgbClr val="667085"/>
                </a:solidFill>
                <a:latin typeface="Arial"/>
                <a:ea typeface="Arial"/>
                <a:cs typeface="Arial"/>
              </a:rPr>
              <a:t>Schema + quality</a:t>
            </a:r>
          </a:p>
        </p:txBody>
      </p:sp>
      <p:sp>
        <p:nvSpPr>
          <p:cNvPr id="16" name="process-node-03">
            <a:extLst xmlns:a="http://schemas.openxmlformats.org/drawingml/2006/main">
              <a:ext uri="{FF2B5EF4-FFF2-40B4-BE49-F238E27FC236}">
                <a16:creationId xmlns:a16="http://schemas.microsoft.com/office/drawing/2014/main" id="{6F2C584A-3FD9-4E3B-9019-E0BA1AC02ABF}"/>
              </a:ext>
            </a:extLst>
          </p:cNvPr>
          <p:cNvSpPr>
            <a:spLocks xmlns:a="http://schemas.openxmlformats.org/drawingml/2006/main" noGrp="1"/>
          </p:cNvSpPr>
          <p:nvPr/>
        </p:nvSpPr>
        <p:spPr>
          <a:xfrm xmlns:a="http://schemas.openxmlformats.org/drawingml/2006/main">
            <a:off x="4572000" y="2695575"/>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2563EB"/>
            </a:solidFill>
            <a:prstDash val="solid"/>
          </a:ln>
        </p:spPr>
      </p:sp>
      <p:sp>
        <p:nvSpPr>
          <p:cNvPr id="17" name="process-number-03">
            <a:extLst xmlns:a="http://schemas.openxmlformats.org/drawingml/2006/main">
              <a:ext uri="{FF2B5EF4-FFF2-40B4-BE49-F238E27FC236}">
                <a16:creationId xmlns:a16="http://schemas.microsoft.com/office/drawing/2014/main" id="{9A1D301D-C72E-4D69-83C7-2F86A257E913}"/>
              </a:ext>
            </a:extLst>
          </p:cNvPr>
          <p:cNvSpPr>
            <a:spLocks xmlns:a="http://schemas.openxmlformats.org/drawingml/2006/main" noGrp="1"/>
          </p:cNvSpPr>
          <p:nvPr/>
        </p:nvSpPr>
        <p:spPr>
          <a:xfrm xmlns:a="http://schemas.openxmlformats.org/drawingml/2006/main">
            <a:off x="4743450" y="2914650"/>
            <a:ext cx="45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p xmlns:a="http://schemas.openxmlformats.org/drawingml/2006/main">
            <a:pPr algn="ctr">
              <a:defRPr sz="1650" b="1">
                <a:solidFill>
                  <a:srgbClr val="2563EB"/>
                </a:solidFill>
                <a:latin typeface="Arial"/>
                <a:ea typeface="Arial"/>
                <a:cs typeface="Arial"/>
              </a:defRPr>
            </a:pPr>
            <a:r>
              <a:rPr sz="1650" b="1">
                <a:solidFill>
                  <a:srgbClr val="2563EB"/>
                </a:solidFill>
                <a:latin typeface="Arial"/>
                <a:ea typeface="Arial"/>
                <a:cs typeface="Arial"/>
              </a:rPr>
              <a:t>03</a:t>
            </a:r>
          </a:p>
        </p:txBody>
      </p:sp>
      <p:sp>
        <p:nvSpPr>
          <p:cNvPr id="18" name="process-title-03">
            <a:extLst xmlns:a="http://schemas.openxmlformats.org/drawingml/2006/main">
              <a:ext uri="{FF2B5EF4-FFF2-40B4-BE49-F238E27FC236}">
                <a16:creationId xmlns:a16="http://schemas.microsoft.com/office/drawing/2014/main" id="{8097A83A-A806-4DCE-AE42-6AE79961A6CA}"/>
              </a:ext>
            </a:extLst>
          </p:cNvPr>
          <p:cNvSpPr>
            <a:spLocks xmlns:a="http://schemas.openxmlformats.org/drawingml/2006/main" noGrp="1"/>
          </p:cNvSpPr>
          <p:nvPr/>
        </p:nvSpPr>
        <p:spPr>
          <a:xfrm xmlns:a="http://schemas.openxmlformats.org/drawingml/2006/main">
            <a:off x="4362450" y="3714750"/>
            <a:ext cx="1219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575" b="1">
                <a:solidFill>
                  <a:srgbClr val="101827"/>
                </a:solidFill>
                <a:latin typeface="Arial"/>
                <a:ea typeface="Arial"/>
                <a:cs typeface="Arial"/>
              </a:defRPr>
            </a:pPr>
            <a:r>
              <a:rPr sz="1575" b="1">
                <a:solidFill>
                  <a:srgbClr val="101827"/>
                </a:solidFill>
                <a:latin typeface="Arial"/>
                <a:ea typeface="Arial"/>
                <a:cs typeface="Arial"/>
              </a:rPr>
              <a:t>Clean</a:t>
            </a:r>
          </a:p>
        </p:txBody>
      </p:sp>
      <p:sp>
        <p:nvSpPr>
          <p:cNvPr id="19" name="process-detail-03">
            <a:extLst xmlns:a="http://schemas.openxmlformats.org/drawingml/2006/main">
              <a:ext uri="{FF2B5EF4-FFF2-40B4-BE49-F238E27FC236}">
                <a16:creationId xmlns:a16="http://schemas.microsoft.com/office/drawing/2014/main" id="{FB5D5B70-EFE0-4F1A-927F-AC51ACD4C8ED}"/>
              </a:ext>
            </a:extLst>
          </p:cNvPr>
          <p:cNvSpPr>
            <a:spLocks xmlns:a="http://schemas.openxmlformats.org/drawingml/2006/main" noGrp="1"/>
          </p:cNvSpPr>
          <p:nvPr/>
        </p:nvSpPr>
        <p:spPr>
          <a:xfrm xmlns:a="http://schemas.openxmlformats.org/drawingml/2006/main">
            <a:off x="4286250" y="4124325"/>
            <a:ext cx="1371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200" b="0">
                <a:solidFill>
                  <a:srgbClr val="667085"/>
                </a:solidFill>
                <a:latin typeface="Arial"/>
                <a:ea typeface="Arial"/>
                <a:cs typeface="Arial"/>
              </a:defRPr>
            </a:pPr>
            <a:r>
              <a:rPr sz="1200" b="0">
                <a:solidFill>
                  <a:srgbClr val="667085"/>
                </a:solidFill>
                <a:latin typeface="Arial"/>
                <a:ea typeface="Arial"/>
                <a:cs typeface="Arial"/>
              </a:rPr>
              <a:t>Validated tables</a:t>
            </a:r>
          </a:p>
        </p:txBody>
      </p:sp>
      <p:sp>
        <p:nvSpPr>
          <p:cNvPr id="20" name="process-node-04">
            <a:extLst xmlns:a="http://schemas.openxmlformats.org/drawingml/2006/main">
              <a:ext uri="{FF2B5EF4-FFF2-40B4-BE49-F238E27FC236}">
                <a16:creationId xmlns:a16="http://schemas.microsoft.com/office/drawing/2014/main" id="{6212B702-A0CB-4FE5-BEB0-E7107C6B5DCA}"/>
              </a:ext>
            </a:extLst>
          </p:cNvPr>
          <p:cNvSpPr>
            <a:spLocks xmlns:a="http://schemas.openxmlformats.org/drawingml/2006/main" noGrp="1"/>
          </p:cNvSpPr>
          <p:nvPr/>
        </p:nvSpPr>
        <p:spPr>
          <a:xfrm xmlns:a="http://schemas.openxmlformats.org/drawingml/2006/main">
            <a:off x="6477000" y="2695575"/>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2563EB"/>
            </a:solidFill>
            <a:prstDash val="solid"/>
          </a:ln>
        </p:spPr>
      </p:sp>
      <p:sp>
        <p:nvSpPr>
          <p:cNvPr id="21" name="process-number-04">
            <a:extLst xmlns:a="http://schemas.openxmlformats.org/drawingml/2006/main">
              <a:ext uri="{FF2B5EF4-FFF2-40B4-BE49-F238E27FC236}">
                <a16:creationId xmlns:a16="http://schemas.microsoft.com/office/drawing/2014/main" id="{54B83FD2-E236-456A-A2AF-0BB44B7529A3}"/>
              </a:ext>
            </a:extLst>
          </p:cNvPr>
          <p:cNvSpPr>
            <a:spLocks xmlns:a="http://schemas.openxmlformats.org/drawingml/2006/main" noGrp="1"/>
          </p:cNvSpPr>
          <p:nvPr/>
        </p:nvSpPr>
        <p:spPr>
          <a:xfrm xmlns:a="http://schemas.openxmlformats.org/drawingml/2006/main">
            <a:off x="6648450" y="2914650"/>
            <a:ext cx="45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p xmlns:a="http://schemas.openxmlformats.org/drawingml/2006/main">
            <a:pPr algn="ctr">
              <a:defRPr sz="1650" b="1">
                <a:solidFill>
                  <a:srgbClr val="2563EB"/>
                </a:solidFill>
                <a:latin typeface="Arial"/>
                <a:ea typeface="Arial"/>
                <a:cs typeface="Arial"/>
              </a:defRPr>
            </a:pPr>
            <a:r>
              <a:rPr sz="1650" b="1">
                <a:solidFill>
                  <a:srgbClr val="2563EB"/>
                </a:solidFill>
                <a:latin typeface="Arial"/>
                <a:ea typeface="Arial"/>
                <a:cs typeface="Arial"/>
              </a:rPr>
              <a:t>04</a:t>
            </a:r>
          </a:p>
        </p:txBody>
      </p:sp>
      <p:sp>
        <p:nvSpPr>
          <p:cNvPr id="22" name="process-title-04">
            <a:extLst xmlns:a="http://schemas.openxmlformats.org/drawingml/2006/main">
              <a:ext uri="{FF2B5EF4-FFF2-40B4-BE49-F238E27FC236}">
                <a16:creationId xmlns:a16="http://schemas.microsoft.com/office/drawing/2014/main" id="{320D0F21-6D13-42FA-BDD6-CC8813376191}"/>
              </a:ext>
            </a:extLst>
          </p:cNvPr>
          <p:cNvSpPr>
            <a:spLocks xmlns:a="http://schemas.openxmlformats.org/drawingml/2006/main" noGrp="1"/>
          </p:cNvSpPr>
          <p:nvPr/>
        </p:nvSpPr>
        <p:spPr>
          <a:xfrm xmlns:a="http://schemas.openxmlformats.org/drawingml/2006/main">
            <a:off x="6267450" y="3714750"/>
            <a:ext cx="1219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274"/>
          </a:bodyPr>
          <a:lstStyle xmlns:a="http://schemas.openxmlformats.org/drawingml/2006/main"/>
          <a:p xmlns:a="http://schemas.openxmlformats.org/drawingml/2006/main">
            <a:pPr algn="ctr">
              <a:defRPr sz="1575" b="1">
                <a:solidFill>
                  <a:srgbClr val="101827"/>
                </a:solidFill>
                <a:latin typeface="Arial"/>
                <a:ea typeface="Arial"/>
                <a:cs typeface="Arial"/>
              </a:defRPr>
            </a:pPr>
            <a:r>
              <a:rPr sz="1575" b="1">
                <a:solidFill>
                  <a:srgbClr val="101827"/>
                </a:solidFill>
                <a:latin typeface="Arial"/>
                <a:ea typeface="Arial"/>
                <a:cs typeface="Arial"/>
              </a:rPr>
              <a:t>PostgreSQL</a:t>
            </a:r>
          </a:p>
        </p:txBody>
      </p:sp>
      <p:sp>
        <p:nvSpPr>
          <p:cNvPr id="23" name="process-detail-04">
            <a:extLst xmlns:a="http://schemas.openxmlformats.org/drawingml/2006/main">
              <a:ext uri="{FF2B5EF4-FFF2-40B4-BE49-F238E27FC236}">
                <a16:creationId xmlns:a16="http://schemas.microsoft.com/office/drawing/2014/main" id="{0F92C59B-75A1-4C72-B5F4-242F86B837DD}"/>
              </a:ext>
            </a:extLst>
          </p:cNvPr>
          <p:cNvSpPr>
            <a:spLocks xmlns:a="http://schemas.openxmlformats.org/drawingml/2006/main" noGrp="1"/>
          </p:cNvSpPr>
          <p:nvPr/>
        </p:nvSpPr>
        <p:spPr>
          <a:xfrm xmlns:a="http://schemas.openxmlformats.org/drawingml/2006/main">
            <a:off x="6191250" y="4124325"/>
            <a:ext cx="1371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200" b="0">
                <a:solidFill>
                  <a:srgbClr val="667085"/>
                </a:solidFill>
                <a:latin typeface="Arial"/>
                <a:ea typeface="Arial"/>
                <a:cs typeface="Arial"/>
              </a:defRPr>
            </a:pPr>
            <a:r>
              <a:rPr sz="1200" b="0">
                <a:solidFill>
                  <a:srgbClr val="667085"/>
                </a:solidFill>
                <a:latin typeface="Arial"/>
                <a:ea typeface="Arial"/>
                <a:cs typeface="Arial"/>
              </a:rPr>
              <a:t>Relational model</a:t>
            </a:r>
          </a:p>
        </p:txBody>
      </p:sp>
      <p:sp>
        <p:nvSpPr>
          <p:cNvPr id="24" name="process-node-05">
            <a:extLst xmlns:a="http://schemas.openxmlformats.org/drawingml/2006/main">
              <a:ext uri="{FF2B5EF4-FFF2-40B4-BE49-F238E27FC236}">
                <a16:creationId xmlns:a16="http://schemas.microsoft.com/office/drawing/2014/main" id="{8CC1EED1-2B01-40B9-A344-E339EC8852B0}"/>
              </a:ext>
            </a:extLst>
          </p:cNvPr>
          <p:cNvSpPr>
            <a:spLocks xmlns:a="http://schemas.openxmlformats.org/drawingml/2006/main" noGrp="1"/>
          </p:cNvSpPr>
          <p:nvPr/>
        </p:nvSpPr>
        <p:spPr>
          <a:xfrm xmlns:a="http://schemas.openxmlformats.org/drawingml/2006/main">
            <a:off x="8382000" y="2695575"/>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2563EB"/>
            </a:solidFill>
            <a:prstDash val="solid"/>
          </a:ln>
        </p:spPr>
      </p:sp>
      <p:sp>
        <p:nvSpPr>
          <p:cNvPr id="25" name="process-number-05">
            <a:extLst xmlns:a="http://schemas.openxmlformats.org/drawingml/2006/main">
              <a:ext uri="{FF2B5EF4-FFF2-40B4-BE49-F238E27FC236}">
                <a16:creationId xmlns:a16="http://schemas.microsoft.com/office/drawing/2014/main" id="{78CE6ED6-C800-4429-B601-C13AB0900019}"/>
              </a:ext>
            </a:extLst>
          </p:cNvPr>
          <p:cNvSpPr>
            <a:spLocks xmlns:a="http://schemas.openxmlformats.org/drawingml/2006/main" noGrp="1"/>
          </p:cNvSpPr>
          <p:nvPr/>
        </p:nvSpPr>
        <p:spPr>
          <a:xfrm xmlns:a="http://schemas.openxmlformats.org/drawingml/2006/main">
            <a:off x="8553450" y="2914650"/>
            <a:ext cx="45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p xmlns:a="http://schemas.openxmlformats.org/drawingml/2006/main">
            <a:pPr algn="ctr">
              <a:defRPr sz="1650" b="1">
                <a:solidFill>
                  <a:srgbClr val="2563EB"/>
                </a:solidFill>
                <a:latin typeface="Arial"/>
                <a:ea typeface="Arial"/>
                <a:cs typeface="Arial"/>
              </a:defRPr>
            </a:pPr>
            <a:r>
              <a:rPr sz="1650" b="1">
                <a:solidFill>
                  <a:srgbClr val="2563EB"/>
                </a:solidFill>
                <a:latin typeface="Arial"/>
                <a:ea typeface="Arial"/>
                <a:cs typeface="Arial"/>
              </a:rPr>
              <a:t>05</a:t>
            </a:r>
          </a:p>
        </p:txBody>
      </p:sp>
      <p:sp>
        <p:nvSpPr>
          <p:cNvPr id="26" name="process-title-05">
            <a:extLst xmlns:a="http://schemas.openxmlformats.org/drawingml/2006/main">
              <a:ext uri="{FF2B5EF4-FFF2-40B4-BE49-F238E27FC236}">
                <a16:creationId xmlns:a16="http://schemas.microsoft.com/office/drawing/2014/main" id="{0FC73D30-F3CD-47D4-8BE9-A5A7F6EDF06E}"/>
              </a:ext>
            </a:extLst>
          </p:cNvPr>
          <p:cNvSpPr>
            <a:spLocks xmlns:a="http://schemas.openxmlformats.org/drawingml/2006/main" noGrp="1"/>
          </p:cNvSpPr>
          <p:nvPr/>
        </p:nvSpPr>
        <p:spPr>
          <a:xfrm xmlns:a="http://schemas.openxmlformats.org/drawingml/2006/main">
            <a:off x="8172450" y="3714750"/>
            <a:ext cx="1219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575" b="1">
                <a:solidFill>
                  <a:srgbClr val="101827"/>
                </a:solidFill>
                <a:latin typeface="Arial"/>
                <a:ea typeface="Arial"/>
                <a:cs typeface="Arial"/>
              </a:defRPr>
            </a:pPr>
            <a:r>
              <a:rPr sz="1575" b="1">
                <a:solidFill>
                  <a:srgbClr val="101827"/>
                </a:solidFill>
                <a:latin typeface="Arial"/>
                <a:ea typeface="Arial"/>
                <a:cs typeface="Arial"/>
              </a:rPr>
              <a:t>SQL</a:t>
            </a:r>
          </a:p>
        </p:txBody>
      </p:sp>
      <p:sp>
        <p:nvSpPr>
          <p:cNvPr id="27" name="process-detail-05">
            <a:extLst xmlns:a="http://schemas.openxmlformats.org/drawingml/2006/main">
              <a:ext uri="{FF2B5EF4-FFF2-40B4-BE49-F238E27FC236}">
                <a16:creationId xmlns:a16="http://schemas.microsoft.com/office/drawing/2014/main" id="{4DD2AF14-CCBF-4458-8489-AF938A2B3E06}"/>
              </a:ext>
            </a:extLst>
          </p:cNvPr>
          <p:cNvSpPr>
            <a:spLocks xmlns:a="http://schemas.openxmlformats.org/drawingml/2006/main" noGrp="1"/>
          </p:cNvSpPr>
          <p:nvPr/>
        </p:nvSpPr>
        <p:spPr>
          <a:xfrm xmlns:a="http://schemas.openxmlformats.org/drawingml/2006/main">
            <a:off x="8096250" y="4124325"/>
            <a:ext cx="1371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200" b="0">
                <a:solidFill>
                  <a:srgbClr val="667085"/>
                </a:solidFill>
                <a:latin typeface="Arial"/>
                <a:ea typeface="Arial"/>
                <a:cs typeface="Arial"/>
              </a:defRPr>
            </a:pPr>
            <a:r>
              <a:rPr sz="1200" b="0">
                <a:solidFill>
                  <a:srgbClr val="667085"/>
                </a:solidFill>
                <a:latin typeface="Arial"/>
                <a:ea typeface="Arial"/>
                <a:cs typeface="Arial"/>
              </a:rPr>
              <a:t>Named analyses</a:t>
            </a:r>
          </a:p>
        </p:txBody>
      </p:sp>
      <p:sp>
        <p:nvSpPr>
          <p:cNvPr id="28" name="process-node-06">
            <a:extLst xmlns:a="http://schemas.openxmlformats.org/drawingml/2006/main">
              <a:ext uri="{FF2B5EF4-FFF2-40B4-BE49-F238E27FC236}">
                <a16:creationId xmlns:a16="http://schemas.microsoft.com/office/drawing/2014/main" id="{99FD8822-3E81-4781-A0FD-67A86B147F8A}"/>
              </a:ext>
            </a:extLst>
          </p:cNvPr>
          <p:cNvSpPr>
            <a:spLocks xmlns:a="http://schemas.openxmlformats.org/drawingml/2006/main" noGrp="1"/>
          </p:cNvSpPr>
          <p:nvPr/>
        </p:nvSpPr>
        <p:spPr>
          <a:xfrm xmlns:a="http://schemas.openxmlformats.org/drawingml/2006/main">
            <a:off x="10287000" y="2695575"/>
            <a:ext cx="800100" cy="800100"/>
          </a:xfrm>
          <a:prstGeom xmlns:a="http://schemas.openxmlformats.org/drawingml/2006/main" prst="ellipse">
            <a:avLst/>
          </a:prstGeom>
          <a:solidFill xmlns:a="http://schemas.openxmlformats.org/drawingml/2006/main">
            <a:srgbClr val="2563EB"/>
          </a:solidFill>
          <a:ln xmlns:a="http://schemas.openxmlformats.org/drawingml/2006/main" w="28575">
            <a:solidFill>
              <a:srgbClr val="2563EB"/>
            </a:solidFill>
            <a:prstDash val="solid"/>
          </a:ln>
        </p:spPr>
      </p:sp>
      <p:sp>
        <p:nvSpPr>
          <p:cNvPr id="29" name="process-number-06">
            <a:extLst xmlns:a="http://schemas.openxmlformats.org/drawingml/2006/main">
              <a:ext uri="{FF2B5EF4-FFF2-40B4-BE49-F238E27FC236}">
                <a16:creationId xmlns:a16="http://schemas.microsoft.com/office/drawing/2014/main" id="{8CC49222-E741-462A-AEC1-08C155009FD5}"/>
              </a:ext>
            </a:extLst>
          </p:cNvPr>
          <p:cNvSpPr>
            <a:spLocks xmlns:a="http://schemas.openxmlformats.org/drawingml/2006/main" noGrp="1"/>
          </p:cNvSpPr>
          <p:nvPr/>
        </p:nvSpPr>
        <p:spPr>
          <a:xfrm xmlns:a="http://schemas.openxmlformats.org/drawingml/2006/main">
            <a:off x="10458450" y="2914650"/>
            <a:ext cx="45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06</a:t>
            </a:r>
          </a:p>
        </p:txBody>
      </p:sp>
      <p:sp>
        <p:nvSpPr>
          <p:cNvPr id="30" name="process-title-06">
            <a:extLst xmlns:a="http://schemas.openxmlformats.org/drawingml/2006/main">
              <a:ext uri="{FF2B5EF4-FFF2-40B4-BE49-F238E27FC236}">
                <a16:creationId xmlns:a16="http://schemas.microsoft.com/office/drawing/2014/main" id="{4BE8938C-FC17-4665-8903-7E27748FA4E8}"/>
              </a:ext>
            </a:extLst>
          </p:cNvPr>
          <p:cNvSpPr>
            <a:spLocks xmlns:a="http://schemas.openxmlformats.org/drawingml/2006/main" noGrp="1"/>
          </p:cNvSpPr>
          <p:nvPr/>
        </p:nvSpPr>
        <p:spPr>
          <a:xfrm xmlns:a="http://schemas.openxmlformats.org/drawingml/2006/main">
            <a:off x="10077450" y="3714750"/>
            <a:ext cx="1219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575" b="1">
                <a:solidFill>
                  <a:srgbClr val="101827"/>
                </a:solidFill>
                <a:latin typeface="Arial"/>
                <a:ea typeface="Arial"/>
                <a:cs typeface="Arial"/>
              </a:defRPr>
            </a:pPr>
            <a:r>
              <a:rPr sz="1575" b="1">
                <a:solidFill>
                  <a:srgbClr val="101827"/>
                </a:solidFill>
                <a:latin typeface="Arial"/>
                <a:ea typeface="Arial"/>
                <a:cs typeface="Arial"/>
              </a:rPr>
              <a:t>Power BI</a:t>
            </a:r>
          </a:p>
        </p:txBody>
      </p:sp>
      <p:sp>
        <p:nvSpPr>
          <p:cNvPr id="31" name="process-detail-06">
            <a:extLst xmlns:a="http://schemas.openxmlformats.org/drawingml/2006/main">
              <a:ext uri="{FF2B5EF4-FFF2-40B4-BE49-F238E27FC236}">
                <a16:creationId xmlns:a16="http://schemas.microsoft.com/office/drawing/2014/main" id="{5A2A6A5E-4E2A-4C99-B905-75CE09669E6D}"/>
              </a:ext>
            </a:extLst>
          </p:cNvPr>
          <p:cNvSpPr>
            <a:spLocks xmlns:a="http://schemas.openxmlformats.org/drawingml/2006/main" noGrp="1"/>
          </p:cNvSpPr>
          <p:nvPr/>
        </p:nvSpPr>
        <p:spPr>
          <a:xfrm xmlns:a="http://schemas.openxmlformats.org/drawingml/2006/main">
            <a:off x="10001250" y="4124325"/>
            <a:ext cx="1371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200" b="0">
                <a:solidFill>
                  <a:srgbClr val="667085"/>
                </a:solidFill>
                <a:latin typeface="Arial"/>
                <a:ea typeface="Arial"/>
                <a:cs typeface="Arial"/>
              </a:defRPr>
            </a:pPr>
            <a:r>
              <a:rPr sz="1200" b="0">
                <a:solidFill>
                  <a:srgbClr val="667085"/>
                </a:solidFill>
                <a:latin typeface="Arial"/>
                <a:ea typeface="Arial"/>
                <a:cs typeface="Arial"/>
              </a:rPr>
              <a:t>Decision layer</a:t>
            </a:r>
          </a:p>
        </p:txBody>
      </p:sp>
      <p:sp>
        <p:nvSpPr>
          <p:cNvPr id="32" name="architecture-proof">
            <a:extLst xmlns:a="http://schemas.openxmlformats.org/drawingml/2006/main">
              <a:ext uri="{FF2B5EF4-FFF2-40B4-BE49-F238E27FC236}">
                <a16:creationId xmlns:a16="http://schemas.microsoft.com/office/drawing/2014/main" id="{2BCFB65B-DD48-404D-9F23-E65D79B9DB82}"/>
              </a:ext>
            </a:extLst>
          </p:cNvPr>
          <p:cNvSpPr>
            <a:spLocks xmlns:a="http://schemas.openxmlformats.org/drawingml/2006/main" noGrp="1"/>
          </p:cNvSpPr>
          <p:nvPr/>
        </p:nvSpPr>
        <p:spPr>
          <a:xfrm xmlns:a="http://schemas.openxmlformats.org/drawingml/2006/main">
            <a:off x="495300" y="5095875"/>
            <a:ext cx="11201400" cy="876300"/>
          </a:xfrm>
          <a:prstGeom xmlns:a="http://schemas.openxmlformats.org/drawingml/2006/main" prst="roundRect">
            <a:avLst>
              <a:gd name="adj" fmla="val 13043"/>
            </a:avLst>
          </a:prstGeom>
          <a:solidFill xmlns:a="http://schemas.openxmlformats.org/drawingml/2006/main">
            <a:srgbClr val="F3F4F6"/>
          </a:solidFill>
          <a:ln xmlns:a="http://schemas.openxmlformats.org/drawingml/2006/main" w="9525">
            <a:solidFill>
              <a:srgbClr val="F3F4F6"/>
            </a:solidFill>
            <a:prstDash val="solid"/>
          </a:ln>
        </p:spPr>
      </p:sp>
      <p:sp>
        <p:nvSpPr>
          <p:cNvPr id="33" name="architecture-proof-text">
            <a:extLst xmlns:a="http://schemas.openxmlformats.org/drawingml/2006/main">
              <a:ext uri="{FF2B5EF4-FFF2-40B4-BE49-F238E27FC236}">
                <a16:creationId xmlns:a16="http://schemas.microsoft.com/office/drawing/2014/main" id="{C6D38F7A-4D0A-4E22-B113-68653E5B729D}"/>
              </a:ext>
            </a:extLst>
          </p:cNvPr>
          <p:cNvSpPr>
            <a:spLocks xmlns:a="http://schemas.openxmlformats.org/drawingml/2006/main" noGrp="1"/>
          </p:cNvSpPr>
          <p:nvPr/>
        </p:nvSpPr>
        <p:spPr>
          <a:xfrm xmlns:a="http://schemas.openxmlformats.org/drawingml/2006/main">
            <a:off x="762000" y="528637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333"/>
          </a:bodyPr>
          <a:lstStyle xmlns:a="http://schemas.openxmlformats.org/drawingml/2006/main"/>
          <a:p xmlns:a="http://schemas.openxmlformats.org/drawingml/2006/main">
            <a:pPr algn="l">
              <a:defRPr sz="1500" b="1">
                <a:solidFill>
                  <a:srgbClr val="101827"/>
                </a:solidFill>
                <a:latin typeface="Arial"/>
                <a:ea typeface="Arial"/>
                <a:cs typeface="Arial"/>
              </a:defRPr>
            </a:pPr>
            <a:r>
              <a:rPr sz="1500" b="1">
                <a:solidFill>
                  <a:srgbClr val="101827"/>
                </a:solidFill>
                <a:latin typeface="Arial"/>
                <a:ea typeface="Arial"/>
                <a:cs typeface="Arial"/>
              </a:rPr>
              <a:t>Proof of reproducibility: transactional loads, integrity checks, checksum manifests, 23 automated tests, and a dashboard that consumes validated analytical extracts—not raw files.</a:t>
            </a:r>
          </a:p>
        </p:txBody>
      </p:sp>
      <p:sp>
        <p:nvSpPr>
          <p:cNvPr id="34" name="footer-rule-2">
            <a:extLst xmlns:a="http://schemas.openxmlformats.org/drawingml/2006/main">
              <a:ext uri="{FF2B5EF4-FFF2-40B4-BE49-F238E27FC236}">
                <a16:creationId xmlns:a16="http://schemas.microsoft.com/office/drawing/2014/main" id="{9E9CDE58-EA15-49CB-A344-81B8E671A122}"/>
              </a:ext>
            </a:extLst>
          </p:cNvPr>
          <p:cNvSpPr>
            <a:spLocks xmlns:a="http://schemas.openxmlformats.org/drawingml/2006/main" noGrp="1"/>
          </p:cNvSpPr>
          <p:nvPr/>
        </p:nvSpPr>
        <p:spPr>
          <a:xfrm xmlns:a="http://schemas.openxmlformats.org/drawingml/2006/main">
            <a:off x="495300" y="6419850"/>
            <a:ext cx="11201400" cy="19050"/>
          </a:xfrm>
          <a:prstGeom xmlns:a="http://schemas.openxmlformats.org/drawingml/2006/main" prst="rect">
            <a:avLst/>
          </a:prstGeom>
          <a:solidFill xmlns:a="http://schemas.openxmlformats.org/drawingml/2006/main">
            <a:srgbClr val="D0D5DD"/>
          </a:solidFill>
          <a:ln xmlns:a="http://schemas.openxmlformats.org/drawingml/2006/main" w="0">
            <a:solidFill>
              <a:srgbClr val="D0D5DD"/>
            </a:solidFill>
            <a:prstDash val="solid"/>
          </a:ln>
        </p:spPr>
      </p:sp>
      <p:sp>
        <p:nvSpPr>
          <p:cNvPr id="35" name="footer-label-2">
            <a:extLst xmlns:a="http://schemas.openxmlformats.org/drawingml/2006/main">
              <a:ext uri="{FF2B5EF4-FFF2-40B4-BE49-F238E27FC236}">
                <a16:creationId xmlns:a16="http://schemas.microsoft.com/office/drawing/2014/main" id="{ACE2A487-E909-4BF3-B2B8-91B3E1FD6D8E}"/>
              </a:ext>
            </a:extLst>
          </p:cNvPr>
          <p:cNvSpPr>
            <a:spLocks xmlns:a="http://schemas.openxmlformats.org/drawingml/2006/main" noGrp="1"/>
          </p:cNvSpPr>
          <p:nvPr/>
        </p:nvSpPr>
        <p:spPr>
          <a:xfrm xmlns:a="http://schemas.openxmlformats.org/drawingml/2006/main">
            <a:off x="495300" y="650557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defRPr sz="825" b="1">
                <a:solidFill>
                  <a:srgbClr val="667085"/>
                </a:solidFill>
                <a:latin typeface="Arial"/>
                <a:ea typeface="Arial"/>
                <a:cs typeface="Arial"/>
              </a:defRPr>
            </a:pPr>
            <a:r>
              <a:rPr sz="825" b="1">
                <a:solidFill>
                  <a:srgbClr val="667085"/>
                </a:solidFill>
                <a:latin typeface="Arial"/>
                <a:ea typeface="Arial"/>
                <a:cs typeface="Arial"/>
              </a:rPr>
              <a:t>COMMERCEIQ · INTERVIEW CASE STUDY</a:t>
            </a:r>
          </a:p>
        </p:txBody>
      </p:sp>
      <p:sp>
        <p:nvSpPr>
          <p:cNvPr id="36" name="footer-number-2">
            <a:extLst xmlns:a="http://schemas.openxmlformats.org/drawingml/2006/main">
              <a:ext uri="{FF2B5EF4-FFF2-40B4-BE49-F238E27FC236}">
                <a16:creationId xmlns:a16="http://schemas.microsoft.com/office/drawing/2014/main" id="{FAD6C8BA-0100-43A1-AD71-A3FD6EB5C2A6}"/>
              </a:ext>
            </a:extLst>
          </p:cNvPr>
          <p:cNvSpPr>
            <a:spLocks xmlns:a="http://schemas.openxmlformats.org/drawingml/2006/main" noGrp="1"/>
          </p:cNvSpPr>
          <p:nvPr/>
        </p:nvSpPr>
        <p:spPr>
          <a:xfrm xmlns:a="http://schemas.openxmlformats.org/drawingml/2006/main">
            <a:off x="11315700" y="65055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r">
              <a:defRPr sz="825" b="0">
                <a:solidFill>
                  <a:srgbClr val="667085"/>
                </a:solidFill>
                <a:latin typeface="Arial"/>
                <a:ea typeface="Arial"/>
                <a:cs typeface="Arial"/>
              </a:defRPr>
            </a:pPr>
            <a:r>
              <a:rPr sz="825" b="0">
                <a:solidFill>
                  <a:srgbClr val="667085"/>
                </a:solidFill>
                <a:latin typeface="Arial"/>
                <a:ea typeface="Arial"/>
                <a:cs typeface="Arial"/>
              </a:rPr>
              <a:t>2</a:t>
            </a:r>
          </a:p>
        </p:txBody>
      </p:sp>
    </p:spTree>
    <p:extLst>
      <p:ext uri="{BB962C8B-B14F-4D97-AF65-F5344CB8AC3E}">
        <p14:creationId xmlns:p14="http://schemas.microsoft.com/office/powerpoint/2010/main" val="86184027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metrics-title">
            <a:extLst xmlns:a="http://schemas.openxmlformats.org/drawingml/2006/main">
              <a:ext uri="{FF2B5EF4-FFF2-40B4-BE49-F238E27FC236}">
                <a16:creationId xmlns:a16="http://schemas.microsoft.com/office/drawing/2014/main" id="{6652F3A6-420E-4AF7-9B92-DE681EBA7DDB}"/>
              </a:ext>
            </a:extLst>
          </p:cNvPr>
          <p:cNvSpPr>
            <a:spLocks xmlns:a="http://schemas.openxmlformats.org/drawingml/2006/main" noGrp="1"/>
          </p:cNvSpPr>
          <p:nvPr/>
        </p:nvSpPr>
        <p:spPr>
          <a:xfrm xmlns:a="http://schemas.openxmlformats.org/drawingml/2006/main">
            <a:off x="495300" y="400050"/>
            <a:ext cx="11201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249"/>
          </a:bodyPr>
          <a:lstStyle xmlns:a="http://schemas.openxmlformats.org/drawingml/2006/main"/>
          <a:p xmlns:a="http://schemas.openxmlformats.org/drawingml/2006/main">
            <a:pPr algn="l">
              <a:defRPr sz="2850" b="1">
                <a:solidFill>
                  <a:srgbClr val="101827"/>
                </a:solidFill>
                <a:latin typeface="Arial"/>
                <a:ea typeface="Arial"/>
                <a:cs typeface="Arial"/>
              </a:defRPr>
            </a:pPr>
            <a:r>
              <a:rPr sz="2850" b="1">
                <a:solidFill>
                  <a:srgbClr val="101827"/>
                </a:solidFill>
                <a:latin typeface="Arial"/>
                <a:ea typeface="Arial"/>
                <a:cs typeface="Arial"/>
              </a:rPr>
              <a:t>Scale is meaningful—but service and retention define the opportunity</a:t>
            </a:r>
          </a:p>
        </p:txBody>
      </p:sp>
      <p:sp>
        <p:nvSpPr>
          <p:cNvPr id="2" name="metrics-narrative">
            <a:extLst xmlns:a="http://schemas.openxmlformats.org/drawingml/2006/main">
              <a:ext uri="{FF2B5EF4-FFF2-40B4-BE49-F238E27FC236}">
                <a16:creationId xmlns:a16="http://schemas.microsoft.com/office/drawing/2014/main" id="{B79A46BA-0DA1-44C5-981B-B39DED6D4544}"/>
              </a:ext>
            </a:extLst>
          </p:cNvPr>
          <p:cNvSpPr>
            <a:spLocks xmlns:a="http://schemas.openxmlformats.org/drawingml/2006/main" noGrp="1"/>
          </p:cNvSpPr>
          <p:nvPr/>
        </p:nvSpPr>
        <p:spPr>
          <a:xfrm xmlns:a="http://schemas.openxmlformats.org/drawingml/2006/main">
            <a:off x="495300" y="1257300"/>
            <a:ext cx="112014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a:solidFill>
                  <a:srgbClr val="667085"/>
                </a:solidFill>
                <a:latin typeface="Arial"/>
                <a:ea typeface="Arial"/>
                <a:cs typeface="Arial"/>
              </a:defRPr>
            </a:pPr>
            <a:r>
              <a:rPr sz="1650" b="0">
                <a:solidFill>
                  <a:srgbClr val="667085"/>
                </a:solidFill>
                <a:latin typeface="Arial"/>
                <a:ea typeface="Arial"/>
                <a:cs typeface="Arial"/>
              </a:rPr>
              <a:t>The marketplace generated substantial delivered GMV and generally strong delivery performance. The clearest upside is to protect the minority of late orders and convert the large base of one-time buyers.</a:t>
            </a:r>
          </a:p>
        </p:txBody>
      </p:sp>
      <p:sp>
        <p:nvSpPr>
          <p:cNvPr id="3" name="metric-card-1">
            <a:extLst xmlns:a="http://schemas.openxmlformats.org/drawingml/2006/main">
              <a:ext uri="{FF2B5EF4-FFF2-40B4-BE49-F238E27FC236}">
                <a16:creationId xmlns:a16="http://schemas.microsoft.com/office/drawing/2014/main" id="{B643ECBC-821A-43AB-889F-440684C96C1D}"/>
              </a:ext>
            </a:extLst>
          </p:cNvPr>
          <p:cNvSpPr>
            <a:spLocks xmlns:a="http://schemas.openxmlformats.org/drawingml/2006/main" noGrp="1"/>
          </p:cNvSpPr>
          <p:nvPr/>
        </p:nvSpPr>
        <p:spPr>
          <a:xfrm xmlns:a="http://schemas.openxmlformats.org/drawingml/2006/main">
            <a:off x="495300" y="2762250"/>
            <a:ext cx="3543300" cy="2857500"/>
          </a:xfrm>
          <a:prstGeom xmlns:a="http://schemas.openxmlformats.org/drawingml/2006/main" prst="roundRect">
            <a:avLst>
              <a:gd name="adj" fmla="val 4000"/>
            </a:avLst>
          </a:prstGeom>
          <a:solidFill xmlns:a="http://schemas.openxmlformats.org/drawingml/2006/main">
            <a:srgbClr val="F3F4F6"/>
          </a:solidFill>
          <a:ln xmlns:a="http://schemas.openxmlformats.org/drawingml/2006/main" w="9525">
            <a:solidFill>
              <a:srgbClr val="F3F4F6"/>
            </a:solidFill>
            <a:prstDash val="solid"/>
          </a:ln>
        </p:spPr>
      </p:sp>
      <p:sp>
        <p:nvSpPr>
          <p:cNvPr id="4" name="metric-stat-1">
            <a:extLst xmlns:a="http://schemas.openxmlformats.org/drawingml/2006/main">
              <a:ext uri="{FF2B5EF4-FFF2-40B4-BE49-F238E27FC236}">
                <a16:creationId xmlns:a16="http://schemas.microsoft.com/office/drawing/2014/main" id="{223901A9-1609-4F0B-BC25-003106C47BA4}"/>
              </a:ext>
            </a:extLst>
          </p:cNvPr>
          <p:cNvSpPr>
            <a:spLocks xmlns:a="http://schemas.openxmlformats.org/drawingml/2006/main" noGrp="1"/>
          </p:cNvSpPr>
          <p:nvPr/>
        </p:nvSpPr>
        <p:spPr>
          <a:xfrm xmlns:a="http://schemas.openxmlformats.org/drawingml/2006/main">
            <a:off x="781050" y="3143250"/>
            <a:ext cx="2971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600" b="1">
                <a:solidFill>
                  <a:srgbClr val="101827"/>
                </a:solidFill>
                <a:latin typeface="Arial"/>
                <a:ea typeface="Arial"/>
                <a:cs typeface="Arial"/>
              </a:defRPr>
            </a:pPr>
            <a:r>
              <a:rPr sz="3600" b="1">
                <a:solidFill>
                  <a:srgbClr val="101827"/>
                </a:solidFill>
                <a:latin typeface="Arial"/>
                <a:ea typeface="Arial"/>
                <a:cs typeface="Arial"/>
              </a:rPr>
              <a:t>R$13.22M</a:t>
            </a:r>
          </a:p>
        </p:txBody>
      </p:sp>
      <p:sp>
        <p:nvSpPr>
          <p:cNvPr id="5" name="metric-title-1">
            <a:extLst xmlns:a="http://schemas.openxmlformats.org/drawingml/2006/main">
              <a:ext uri="{FF2B5EF4-FFF2-40B4-BE49-F238E27FC236}">
                <a16:creationId xmlns:a16="http://schemas.microsoft.com/office/drawing/2014/main" id="{56DFC5F2-5D64-4221-8741-51BDDDAB5C13}"/>
              </a:ext>
            </a:extLst>
          </p:cNvPr>
          <p:cNvSpPr>
            <a:spLocks xmlns:a="http://schemas.openxmlformats.org/drawingml/2006/main" noGrp="1"/>
          </p:cNvSpPr>
          <p:nvPr/>
        </p:nvSpPr>
        <p:spPr>
          <a:xfrm xmlns:a="http://schemas.openxmlformats.org/drawingml/2006/main">
            <a:off x="781050" y="4152900"/>
            <a:ext cx="29718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1">
                <a:solidFill>
                  <a:srgbClr val="101827"/>
                </a:solidFill>
                <a:latin typeface="Arial"/>
                <a:ea typeface="Arial"/>
                <a:cs typeface="Arial"/>
              </a:defRPr>
            </a:pPr>
            <a:r>
              <a:rPr sz="1725" b="1">
                <a:solidFill>
                  <a:srgbClr val="101827"/>
                </a:solidFill>
                <a:latin typeface="Arial"/>
                <a:ea typeface="Arial"/>
                <a:cs typeface="Arial"/>
              </a:rPr>
              <a:t>Delivered item GMV</a:t>
            </a:r>
          </a:p>
        </p:txBody>
      </p:sp>
      <p:sp>
        <p:nvSpPr>
          <p:cNvPr id="6" name="metric-detail-1">
            <a:extLst xmlns:a="http://schemas.openxmlformats.org/drawingml/2006/main">
              <a:ext uri="{FF2B5EF4-FFF2-40B4-BE49-F238E27FC236}">
                <a16:creationId xmlns:a16="http://schemas.microsoft.com/office/drawing/2014/main" id="{C919C93A-A890-409E-93DE-8F989B6E0656}"/>
              </a:ext>
            </a:extLst>
          </p:cNvPr>
          <p:cNvSpPr>
            <a:spLocks xmlns:a="http://schemas.openxmlformats.org/drawingml/2006/main" noGrp="1"/>
          </p:cNvSpPr>
          <p:nvPr/>
        </p:nvSpPr>
        <p:spPr>
          <a:xfrm xmlns:a="http://schemas.openxmlformats.org/drawingml/2006/main">
            <a:off x="781050" y="4724400"/>
            <a:ext cx="2971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667085"/>
                </a:solidFill>
                <a:latin typeface="Arial"/>
                <a:ea typeface="Arial"/>
                <a:cs typeface="Arial"/>
              </a:defRPr>
            </a:pPr>
            <a:r>
              <a:rPr sz="1275" b="0">
                <a:solidFill>
                  <a:srgbClr val="667085"/>
                </a:solidFill>
                <a:latin typeface="Arial"/>
                <a:ea typeface="Arial"/>
                <a:cs typeface="Arial"/>
              </a:rPr>
              <a:t>96,478 delivered orders</a:t>
            </a:r>
          </a:p>
        </p:txBody>
      </p:sp>
      <p:sp>
        <p:nvSpPr>
          <p:cNvPr id="7" name="metric-card-2">
            <a:extLst xmlns:a="http://schemas.openxmlformats.org/drawingml/2006/main">
              <a:ext uri="{FF2B5EF4-FFF2-40B4-BE49-F238E27FC236}">
                <a16:creationId xmlns:a16="http://schemas.microsoft.com/office/drawing/2014/main" id="{39193206-B4ED-4C2C-8CD5-5DAA15D5E04A}"/>
              </a:ext>
            </a:extLst>
          </p:cNvPr>
          <p:cNvSpPr>
            <a:spLocks xmlns:a="http://schemas.openxmlformats.org/drawingml/2006/main" noGrp="1"/>
          </p:cNvSpPr>
          <p:nvPr/>
        </p:nvSpPr>
        <p:spPr>
          <a:xfrm xmlns:a="http://schemas.openxmlformats.org/drawingml/2006/main">
            <a:off x="4324350" y="2762250"/>
            <a:ext cx="3543300" cy="2857500"/>
          </a:xfrm>
          <a:prstGeom xmlns:a="http://schemas.openxmlformats.org/drawingml/2006/main" prst="roundRect">
            <a:avLst>
              <a:gd name="adj" fmla="val 4000"/>
            </a:avLst>
          </a:prstGeom>
          <a:solidFill xmlns:a="http://schemas.openxmlformats.org/drawingml/2006/main">
            <a:srgbClr val="EFF6FF"/>
          </a:solidFill>
          <a:ln xmlns:a="http://schemas.openxmlformats.org/drawingml/2006/main" w="9525">
            <a:solidFill>
              <a:srgbClr val="60A5FA"/>
            </a:solidFill>
            <a:prstDash val="solid"/>
          </a:ln>
        </p:spPr>
      </p:sp>
      <p:sp>
        <p:nvSpPr>
          <p:cNvPr id="8" name="metric-stat-2">
            <a:extLst xmlns:a="http://schemas.openxmlformats.org/drawingml/2006/main">
              <a:ext uri="{FF2B5EF4-FFF2-40B4-BE49-F238E27FC236}">
                <a16:creationId xmlns:a16="http://schemas.microsoft.com/office/drawing/2014/main" id="{5079CD7F-31BD-44FF-9C8C-780943275E9A}"/>
              </a:ext>
            </a:extLst>
          </p:cNvPr>
          <p:cNvSpPr>
            <a:spLocks xmlns:a="http://schemas.openxmlformats.org/drawingml/2006/main" noGrp="1"/>
          </p:cNvSpPr>
          <p:nvPr/>
        </p:nvSpPr>
        <p:spPr>
          <a:xfrm xmlns:a="http://schemas.openxmlformats.org/drawingml/2006/main">
            <a:off x="4610100" y="3143250"/>
            <a:ext cx="2971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600" b="1">
                <a:solidFill>
                  <a:srgbClr val="2563EB"/>
                </a:solidFill>
                <a:latin typeface="Arial"/>
                <a:ea typeface="Arial"/>
                <a:cs typeface="Arial"/>
              </a:defRPr>
            </a:pPr>
            <a:r>
              <a:rPr sz="3600" b="1">
                <a:solidFill>
                  <a:srgbClr val="2563EB"/>
                </a:solidFill>
                <a:latin typeface="Arial"/>
                <a:ea typeface="Arial"/>
                <a:cs typeface="Arial"/>
              </a:rPr>
              <a:t>93.23%</a:t>
            </a:r>
          </a:p>
        </p:txBody>
      </p:sp>
      <p:sp>
        <p:nvSpPr>
          <p:cNvPr id="9" name="metric-title-2">
            <a:extLst xmlns:a="http://schemas.openxmlformats.org/drawingml/2006/main">
              <a:ext uri="{FF2B5EF4-FFF2-40B4-BE49-F238E27FC236}">
                <a16:creationId xmlns:a16="http://schemas.microsoft.com/office/drawing/2014/main" id="{063CFF7B-D68F-4F4A-83C5-9D3CE734ECED}"/>
              </a:ext>
            </a:extLst>
          </p:cNvPr>
          <p:cNvSpPr>
            <a:spLocks xmlns:a="http://schemas.openxmlformats.org/drawingml/2006/main" noGrp="1"/>
          </p:cNvSpPr>
          <p:nvPr/>
        </p:nvSpPr>
        <p:spPr>
          <a:xfrm xmlns:a="http://schemas.openxmlformats.org/drawingml/2006/main">
            <a:off x="4610100" y="4152900"/>
            <a:ext cx="29718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1">
                <a:solidFill>
                  <a:srgbClr val="101827"/>
                </a:solidFill>
                <a:latin typeface="Arial"/>
                <a:ea typeface="Arial"/>
                <a:cs typeface="Arial"/>
              </a:defRPr>
            </a:pPr>
            <a:r>
              <a:rPr sz="1725" b="1">
                <a:solidFill>
                  <a:srgbClr val="101827"/>
                </a:solidFill>
                <a:latin typeface="Arial"/>
                <a:ea typeface="Arial"/>
                <a:cs typeface="Arial"/>
              </a:rPr>
              <a:t>On-time delivery</a:t>
            </a:r>
          </a:p>
        </p:txBody>
      </p:sp>
      <p:sp>
        <p:nvSpPr>
          <p:cNvPr id="10" name="metric-detail-2">
            <a:extLst xmlns:a="http://schemas.openxmlformats.org/drawingml/2006/main">
              <a:ext uri="{FF2B5EF4-FFF2-40B4-BE49-F238E27FC236}">
                <a16:creationId xmlns:a16="http://schemas.microsoft.com/office/drawing/2014/main" id="{5CCCD6F2-4CDD-446F-A9BB-554C7DD49F21}"/>
              </a:ext>
            </a:extLst>
          </p:cNvPr>
          <p:cNvSpPr>
            <a:spLocks xmlns:a="http://schemas.openxmlformats.org/drawingml/2006/main" noGrp="1"/>
          </p:cNvSpPr>
          <p:nvPr/>
        </p:nvSpPr>
        <p:spPr>
          <a:xfrm xmlns:a="http://schemas.openxmlformats.org/drawingml/2006/main">
            <a:off x="4610100" y="4724400"/>
            <a:ext cx="2971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667085"/>
                </a:solidFill>
                <a:latin typeface="Arial"/>
                <a:ea typeface="Arial"/>
                <a:cs typeface="Arial"/>
              </a:defRPr>
            </a:pPr>
            <a:r>
              <a:rPr sz="1275" b="0">
                <a:solidFill>
                  <a:srgbClr val="667085"/>
                </a:solidFill>
                <a:latin typeface="Arial"/>
                <a:ea typeface="Arial"/>
                <a:cs typeface="Arial"/>
              </a:rPr>
              <a:t>Comparable delivered orders</a:t>
            </a:r>
          </a:p>
        </p:txBody>
      </p:sp>
      <p:sp>
        <p:nvSpPr>
          <p:cNvPr id="11" name="metric-card-3">
            <a:extLst xmlns:a="http://schemas.openxmlformats.org/drawingml/2006/main">
              <a:ext uri="{FF2B5EF4-FFF2-40B4-BE49-F238E27FC236}">
                <a16:creationId xmlns:a16="http://schemas.microsoft.com/office/drawing/2014/main" id="{A878E6EF-0C7B-41C0-8B26-A6269605F16F}"/>
              </a:ext>
            </a:extLst>
          </p:cNvPr>
          <p:cNvSpPr>
            <a:spLocks xmlns:a="http://schemas.openxmlformats.org/drawingml/2006/main" noGrp="1"/>
          </p:cNvSpPr>
          <p:nvPr/>
        </p:nvSpPr>
        <p:spPr>
          <a:xfrm xmlns:a="http://schemas.openxmlformats.org/drawingml/2006/main">
            <a:off x="8153400" y="2762250"/>
            <a:ext cx="3543300" cy="2857500"/>
          </a:xfrm>
          <a:prstGeom xmlns:a="http://schemas.openxmlformats.org/drawingml/2006/main" prst="roundRect">
            <a:avLst>
              <a:gd name="adj" fmla="val 4000"/>
            </a:avLst>
          </a:prstGeom>
          <a:solidFill xmlns:a="http://schemas.openxmlformats.org/drawingml/2006/main">
            <a:srgbClr val="F3F4F6"/>
          </a:solidFill>
          <a:ln xmlns:a="http://schemas.openxmlformats.org/drawingml/2006/main" w="9525">
            <a:solidFill>
              <a:srgbClr val="F3F4F6"/>
            </a:solidFill>
            <a:prstDash val="solid"/>
          </a:ln>
        </p:spPr>
      </p:sp>
      <p:sp>
        <p:nvSpPr>
          <p:cNvPr id="12" name="metric-stat-3">
            <a:extLst xmlns:a="http://schemas.openxmlformats.org/drawingml/2006/main">
              <a:ext uri="{FF2B5EF4-FFF2-40B4-BE49-F238E27FC236}">
                <a16:creationId xmlns:a16="http://schemas.microsoft.com/office/drawing/2014/main" id="{B697B396-A48D-462F-BD23-DDFDC5B20528}"/>
              </a:ext>
            </a:extLst>
          </p:cNvPr>
          <p:cNvSpPr>
            <a:spLocks xmlns:a="http://schemas.openxmlformats.org/drawingml/2006/main" noGrp="1"/>
          </p:cNvSpPr>
          <p:nvPr/>
        </p:nvSpPr>
        <p:spPr>
          <a:xfrm xmlns:a="http://schemas.openxmlformats.org/drawingml/2006/main">
            <a:off x="8439150" y="3143250"/>
            <a:ext cx="2971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600" b="1">
                <a:solidFill>
                  <a:srgbClr val="101827"/>
                </a:solidFill>
                <a:latin typeface="Arial"/>
                <a:ea typeface="Arial"/>
                <a:cs typeface="Arial"/>
              </a:defRPr>
            </a:pPr>
            <a:r>
              <a:rPr sz="3600" b="1">
                <a:solidFill>
                  <a:srgbClr val="101827"/>
                </a:solidFill>
                <a:latin typeface="Arial"/>
                <a:ea typeface="Arial"/>
                <a:cs typeface="Arial"/>
              </a:rPr>
              <a:t>3.00%</a:t>
            </a:r>
          </a:p>
        </p:txBody>
      </p:sp>
      <p:sp>
        <p:nvSpPr>
          <p:cNvPr id="13" name="metric-title-3">
            <a:extLst xmlns:a="http://schemas.openxmlformats.org/drawingml/2006/main">
              <a:ext uri="{FF2B5EF4-FFF2-40B4-BE49-F238E27FC236}">
                <a16:creationId xmlns:a16="http://schemas.microsoft.com/office/drawing/2014/main" id="{808F4E31-4818-4FB2-B45F-1B3420F6B8C4}"/>
              </a:ext>
            </a:extLst>
          </p:cNvPr>
          <p:cNvSpPr>
            <a:spLocks xmlns:a="http://schemas.openxmlformats.org/drawingml/2006/main" noGrp="1"/>
          </p:cNvSpPr>
          <p:nvPr/>
        </p:nvSpPr>
        <p:spPr>
          <a:xfrm xmlns:a="http://schemas.openxmlformats.org/drawingml/2006/main">
            <a:off x="8439150" y="4152900"/>
            <a:ext cx="29718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1">
                <a:solidFill>
                  <a:srgbClr val="101827"/>
                </a:solidFill>
                <a:latin typeface="Arial"/>
                <a:ea typeface="Arial"/>
                <a:cs typeface="Arial"/>
              </a:defRPr>
            </a:pPr>
            <a:r>
              <a:rPr sz="1725" b="1">
                <a:solidFill>
                  <a:srgbClr val="101827"/>
                </a:solidFill>
                <a:latin typeface="Arial"/>
                <a:ea typeface="Arial"/>
                <a:cs typeface="Arial"/>
              </a:rPr>
              <a:t>Repeat-customer rate</a:t>
            </a:r>
          </a:p>
        </p:txBody>
      </p:sp>
      <p:sp>
        <p:nvSpPr>
          <p:cNvPr id="14" name="metric-detail-3">
            <a:extLst xmlns:a="http://schemas.openxmlformats.org/drawingml/2006/main">
              <a:ext uri="{FF2B5EF4-FFF2-40B4-BE49-F238E27FC236}">
                <a16:creationId xmlns:a16="http://schemas.microsoft.com/office/drawing/2014/main" id="{F2CF6C10-2593-4C14-B10B-2B45F264FB59}"/>
              </a:ext>
            </a:extLst>
          </p:cNvPr>
          <p:cNvSpPr>
            <a:spLocks xmlns:a="http://schemas.openxmlformats.org/drawingml/2006/main" noGrp="1"/>
          </p:cNvSpPr>
          <p:nvPr/>
        </p:nvSpPr>
        <p:spPr>
          <a:xfrm xmlns:a="http://schemas.openxmlformats.org/drawingml/2006/main">
            <a:off x="8439150" y="4724400"/>
            <a:ext cx="2971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667085"/>
                </a:solidFill>
                <a:latin typeface="Arial"/>
                <a:ea typeface="Arial"/>
                <a:cs typeface="Arial"/>
              </a:defRPr>
            </a:pPr>
            <a:r>
              <a:rPr sz="1275" b="0">
                <a:solidFill>
                  <a:srgbClr val="667085"/>
                </a:solidFill>
                <a:latin typeface="Arial"/>
                <a:ea typeface="Arial"/>
                <a:cs typeface="Arial"/>
              </a:rPr>
              <a:t>Largest visible growth opportunity</a:t>
            </a:r>
          </a:p>
        </p:txBody>
      </p:sp>
      <p:sp>
        <p:nvSpPr>
          <p:cNvPr id="15" name="footer-rule-3">
            <a:extLst xmlns:a="http://schemas.openxmlformats.org/drawingml/2006/main">
              <a:ext uri="{FF2B5EF4-FFF2-40B4-BE49-F238E27FC236}">
                <a16:creationId xmlns:a16="http://schemas.microsoft.com/office/drawing/2014/main" id="{36815DDF-DEDE-401A-B644-5B3EABF1575A}"/>
              </a:ext>
            </a:extLst>
          </p:cNvPr>
          <p:cNvSpPr>
            <a:spLocks xmlns:a="http://schemas.openxmlformats.org/drawingml/2006/main" noGrp="1"/>
          </p:cNvSpPr>
          <p:nvPr/>
        </p:nvSpPr>
        <p:spPr>
          <a:xfrm xmlns:a="http://schemas.openxmlformats.org/drawingml/2006/main">
            <a:off x="495300" y="6419850"/>
            <a:ext cx="11201400" cy="19050"/>
          </a:xfrm>
          <a:prstGeom xmlns:a="http://schemas.openxmlformats.org/drawingml/2006/main" prst="rect">
            <a:avLst/>
          </a:prstGeom>
          <a:solidFill xmlns:a="http://schemas.openxmlformats.org/drawingml/2006/main">
            <a:srgbClr val="D0D5DD"/>
          </a:solidFill>
          <a:ln xmlns:a="http://schemas.openxmlformats.org/drawingml/2006/main" w="0">
            <a:solidFill>
              <a:srgbClr val="D0D5DD"/>
            </a:solidFill>
            <a:prstDash val="solid"/>
          </a:ln>
        </p:spPr>
      </p:sp>
      <p:sp>
        <p:nvSpPr>
          <p:cNvPr id="16" name="footer-label-3">
            <a:extLst xmlns:a="http://schemas.openxmlformats.org/drawingml/2006/main">
              <a:ext uri="{FF2B5EF4-FFF2-40B4-BE49-F238E27FC236}">
                <a16:creationId xmlns:a16="http://schemas.microsoft.com/office/drawing/2014/main" id="{A5ADDE40-3763-406D-A686-CE981DC67CAA}"/>
              </a:ext>
            </a:extLst>
          </p:cNvPr>
          <p:cNvSpPr>
            <a:spLocks xmlns:a="http://schemas.openxmlformats.org/drawingml/2006/main" noGrp="1"/>
          </p:cNvSpPr>
          <p:nvPr/>
        </p:nvSpPr>
        <p:spPr>
          <a:xfrm xmlns:a="http://schemas.openxmlformats.org/drawingml/2006/main">
            <a:off x="495300" y="650557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defRPr sz="825" b="1">
                <a:solidFill>
                  <a:srgbClr val="667085"/>
                </a:solidFill>
                <a:latin typeface="Arial"/>
                <a:ea typeface="Arial"/>
                <a:cs typeface="Arial"/>
              </a:defRPr>
            </a:pPr>
            <a:r>
              <a:rPr sz="825" b="1">
                <a:solidFill>
                  <a:srgbClr val="667085"/>
                </a:solidFill>
                <a:latin typeface="Arial"/>
                <a:ea typeface="Arial"/>
                <a:cs typeface="Arial"/>
              </a:rPr>
              <a:t>COMMERCEIQ · INTERVIEW CASE STUDY</a:t>
            </a:r>
          </a:p>
        </p:txBody>
      </p:sp>
      <p:sp>
        <p:nvSpPr>
          <p:cNvPr id="17" name="footer-number-3">
            <a:extLst xmlns:a="http://schemas.openxmlformats.org/drawingml/2006/main">
              <a:ext uri="{FF2B5EF4-FFF2-40B4-BE49-F238E27FC236}">
                <a16:creationId xmlns:a16="http://schemas.microsoft.com/office/drawing/2014/main" id="{186FEF7E-5E03-43D7-B032-0266A115DFDB}"/>
              </a:ext>
            </a:extLst>
          </p:cNvPr>
          <p:cNvSpPr>
            <a:spLocks xmlns:a="http://schemas.openxmlformats.org/drawingml/2006/main" noGrp="1"/>
          </p:cNvSpPr>
          <p:nvPr/>
        </p:nvSpPr>
        <p:spPr>
          <a:xfrm xmlns:a="http://schemas.openxmlformats.org/drawingml/2006/main">
            <a:off x="11315700" y="65055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r">
              <a:defRPr sz="825" b="0">
                <a:solidFill>
                  <a:srgbClr val="667085"/>
                </a:solidFill>
                <a:latin typeface="Arial"/>
                <a:ea typeface="Arial"/>
                <a:cs typeface="Arial"/>
              </a:defRPr>
            </a:pPr>
            <a:r>
              <a:rPr sz="825" b="0">
                <a:solidFill>
                  <a:srgbClr val="667085"/>
                </a:solidFill>
                <a:latin typeface="Arial"/>
                <a:ea typeface="Arial"/>
                <a:cs typeface="Arial"/>
              </a:rPr>
              <a:t>3</a:t>
            </a:r>
          </a:p>
        </p:txBody>
      </p:sp>
    </p:spTree>
    <p:extLst>
      <p:ext uri="{BB962C8B-B14F-4D97-AF65-F5344CB8AC3E}">
        <p14:creationId xmlns:p14="http://schemas.microsoft.com/office/powerpoint/2010/main" val="203888375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delivery-title">
            <a:extLst xmlns:a="http://schemas.openxmlformats.org/drawingml/2006/main">
              <a:ext uri="{FF2B5EF4-FFF2-40B4-BE49-F238E27FC236}">
                <a16:creationId xmlns:a16="http://schemas.microsoft.com/office/drawing/2014/main" id="{BF9FDD1F-11C8-41DC-B4BD-1D98794D6182}"/>
              </a:ext>
            </a:extLst>
          </p:cNvPr>
          <p:cNvSpPr>
            <a:spLocks xmlns:a="http://schemas.openxmlformats.org/drawingml/2006/main" noGrp="1"/>
          </p:cNvSpPr>
          <p:nvPr/>
        </p:nvSpPr>
        <p:spPr>
          <a:xfrm xmlns:a="http://schemas.openxmlformats.org/drawingml/2006/main">
            <a:off x="495300" y="400050"/>
            <a:ext cx="11201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850" b="1">
                <a:solidFill>
                  <a:srgbClr val="101827"/>
                </a:solidFill>
                <a:latin typeface="Arial"/>
                <a:ea typeface="Arial"/>
                <a:cs typeface="Arial"/>
              </a:defRPr>
            </a:pPr>
            <a:r>
              <a:rPr sz="2850" b="1">
                <a:solidFill>
                  <a:srgbClr val="101827"/>
                </a:solidFill>
                <a:latin typeface="Arial"/>
                <a:ea typeface="Arial"/>
                <a:cs typeface="Arial"/>
              </a:rPr>
              <a:t>Late delivery is the clearest customer-experience signal</a:t>
            </a:r>
          </a:p>
        </p:txBody>
      </p:sp>
      <p:graphicFrame>
        <p:nvGraphicFramePr>
          <p:cNvPr id="20" name="Chart"/>
          <p:cNvGraphicFramePr/>
          <p:nvPr/>
        </p:nvGraphicFramePr>
        <p:xfrm>
          <a:off xmlns:a="http://schemas.openxmlformats.org/drawingml/2006/main" x="495300" y="1352550"/>
          <a:ext xmlns:a="http://schemas.openxmlformats.org/drawingml/2006/main" cx="6191250" cy="4495800"/>
        </p:xfrm>
        <a:graphic xmlns:a="http://schemas.openxmlformats.org/drawingml/2006/main">
          <a:graphicData uri="http://schemas.openxmlformats.org/drawingml/2006/chart">
            <c:chart xmlns:r="http://schemas.openxmlformats.org/officeDocument/2006/relationships" xmlns:c="http://schemas.openxmlformats.org/drawingml/2006/chart" r:id="R92e0b41f81854faa"/>
          </a:graphicData>
        </a:graphic>
      </p:graphicFrame>
      <p:sp>
        <p:nvSpPr>
          <p:cNvPr id="3" name="delivery-callout-1">
            <a:extLst xmlns:a="http://schemas.openxmlformats.org/drawingml/2006/main">
              <a:ext uri="{FF2B5EF4-FFF2-40B4-BE49-F238E27FC236}">
                <a16:creationId xmlns:a16="http://schemas.microsoft.com/office/drawing/2014/main" id="{33A3108C-1C1F-43DC-A97D-05D5C000ACB2}"/>
              </a:ext>
            </a:extLst>
          </p:cNvPr>
          <p:cNvSpPr>
            <a:spLocks xmlns:a="http://schemas.openxmlformats.org/drawingml/2006/main" noGrp="1"/>
          </p:cNvSpPr>
          <p:nvPr/>
        </p:nvSpPr>
        <p:spPr>
          <a:xfrm xmlns:a="http://schemas.openxmlformats.org/drawingml/2006/main">
            <a:off x="7086600" y="1352550"/>
            <a:ext cx="4610100" cy="1257300"/>
          </a:xfrm>
          <a:prstGeom xmlns:a="http://schemas.openxmlformats.org/drawingml/2006/main" prst="roundRect">
            <a:avLst>
              <a:gd name="adj" fmla="val 9091"/>
            </a:avLst>
          </a:prstGeom>
          <a:solidFill xmlns:a="http://schemas.openxmlformats.org/drawingml/2006/main">
            <a:srgbClr val="EFF6FF"/>
          </a:solidFill>
          <a:ln xmlns:a="http://schemas.openxmlformats.org/drawingml/2006/main" w="9525">
            <a:solidFill>
              <a:srgbClr val="60A5FA"/>
            </a:solidFill>
            <a:prstDash val="solid"/>
          </a:ln>
        </p:spPr>
      </p:sp>
      <p:sp>
        <p:nvSpPr>
          <p:cNvPr id="4" name="delivery-callout-stat-1">
            <a:extLst xmlns:a="http://schemas.openxmlformats.org/drawingml/2006/main">
              <a:ext uri="{FF2B5EF4-FFF2-40B4-BE49-F238E27FC236}">
                <a16:creationId xmlns:a16="http://schemas.microsoft.com/office/drawing/2014/main" id="{A40D09A6-0E9B-4D93-BB56-B403ACC0129C}"/>
              </a:ext>
            </a:extLst>
          </p:cNvPr>
          <p:cNvSpPr>
            <a:spLocks xmlns:a="http://schemas.openxmlformats.org/drawingml/2006/main" noGrp="1"/>
          </p:cNvSpPr>
          <p:nvPr/>
        </p:nvSpPr>
        <p:spPr>
          <a:xfrm xmlns:a="http://schemas.openxmlformats.org/drawingml/2006/main">
            <a:off x="7353300" y="1543050"/>
            <a:ext cx="142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556"/>
          </a:bodyPr>
          <a:lstStyle xmlns:a="http://schemas.openxmlformats.org/drawingml/2006/main"/>
          <a:p xmlns:a="http://schemas.openxmlformats.org/drawingml/2006/main">
            <a:pPr algn="l">
              <a:defRPr sz="2250" b="1">
                <a:solidFill>
                  <a:srgbClr val="2563EB"/>
                </a:solidFill>
                <a:latin typeface="Arial"/>
                <a:ea typeface="Arial"/>
                <a:cs typeface="Arial"/>
              </a:defRPr>
            </a:pPr>
            <a:r>
              <a:rPr sz="2250" b="1">
                <a:solidFill>
                  <a:srgbClr val="2563EB"/>
                </a:solidFill>
                <a:latin typeface="Arial"/>
                <a:ea typeface="Arial"/>
                <a:cs typeface="Arial"/>
              </a:rPr>
              <a:t>8.6×</a:t>
            </a:r>
          </a:p>
        </p:txBody>
      </p:sp>
      <p:sp>
        <p:nvSpPr>
          <p:cNvPr id="5" name="delivery-callout-title-1">
            <a:extLst xmlns:a="http://schemas.openxmlformats.org/drawingml/2006/main">
              <a:ext uri="{FF2B5EF4-FFF2-40B4-BE49-F238E27FC236}">
                <a16:creationId xmlns:a16="http://schemas.microsoft.com/office/drawing/2014/main" id="{3BF23BB8-E573-4B8A-BD1C-4FF3466FD007}"/>
              </a:ext>
            </a:extLst>
          </p:cNvPr>
          <p:cNvSpPr>
            <a:spLocks xmlns:a="http://schemas.openxmlformats.org/drawingml/2006/main" noGrp="1"/>
          </p:cNvSpPr>
          <p:nvPr/>
        </p:nvSpPr>
        <p:spPr>
          <a:xfrm xmlns:a="http://schemas.openxmlformats.org/drawingml/2006/main">
            <a:off x="8896350" y="1543050"/>
            <a:ext cx="2533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1">
                <a:solidFill>
                  <a:srgbClr val="101827"/>
                </a:solidFill>
                <a:latin typeface="Arial"/>
                <a:ea typeface="Arial"/>
                <a:cs typeface="Arial"/>
              </a:defRPr>
            </a:pPr>
            <a:r>
              <a:rPr sz="1500" b="1">
                <a:solidFill>
                  <a:srgbClr val="101827"/>
                </a:solidFill>
                <a:latin typeface="Arial"/>
                <a:ea typeface="Arial"/>
                <a:cs typeface="Arial"/>
              </a:rPr>
              <a:t>Higher low-review rate</a:t>
            </a:r>
          </a:p>
        </p:txBody>
      </p:sp>
      <p:sp>
        <p:nvSpPr>
          <p:cNvPr id="6" name="delivery-callout-detail-1">
            <a:extLst xmlns:a="http://schemas.openxmlformats.org/drawingml/2006/main">
              <a:ext uri="{FF2B5EF4-FFF2-40B4-BE49-F238E27FC236}">
                <a16:creationId xmlns:a16="http://schemas.microsoft.com/office/drawing/2014/main" id="{009CE1FF-AA08-4698-A39A-39D65116315A}"/>
              </a:ext>
            </a:extLst>
          </p:cNvPr>
          <p:cNvSpPr>
            <a:spLocks xmlns:a="http://schemas.openxmlformats.org/drawingml/2006/main" noGrp="1"/>
          </p:cNvSpPr>
          <p:nvPr/>
        </p:nvSpPr>
        <p:spPr>
          <a:xfrm xmlns:a="http://schemas.openxmlformats.org/drawingml/2006/main">
            <a:off x="7353300" y="2057400"/>
            <a:ext cx="4076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667085"/>
                </a:solidFill>
                <a:latin typeface="Arial"/>
                <a:ea typeface="Arial"/>
                <a:cs typeface="Arial"/>
              </a:defRPr>
            </a:pPr>
            <a:r>
              <a:rPr sz="1200" b="0">
                <a:solidFill>
                  <a:srgbClr val="667085"/>
                </a:solidFill>
                <a:latin typeface="Arial"/>
                <a:ea typeface="Arial"/>
                <a:cs typeface="Arial"/>
              </a:rPr>
              <a:t>8+ days late vs. 2+ days early</a:t>
            </a:r>
          </a:p>
        </p:txBody>
      </p:sp>
      <p:sp>
        <p:nvSpPr>
          <p:cNvPr id="7" name="delivery-callout-2">
            <a:extLst xmlns:a="http://schemas.openxmlformats.org/drawingml/2006/main">
              <a:ext uri="{FF2B5EF4-FFF2-40B4-BE49-F238E27FC236}">
                <a16:creationId xmlns:a16="http://schemas.microsoft.com/office/drawing/2014/main" id="{A512AD81-C4DA-41C8-A327-60A10A64C569}"/>
              </a:ext>
            </a:extLst>
          </p:cNvPr>
          <p:cNvSpPr>
            <a:spLocks xmlns:a="http://schemas.openxmlformats.org/drawingml/2006/main" noGrp="1"/>
          </p:cNvSpPr>
          <p:nvPr/>
        </p:nvSpPr>
        <p:spPr>
          <a:xfrm xmlns:a="http://schemas.openxmlformats.org/drawingml/2006/main">
            <a:off x="7086600" y="2857500"/>
            <a:ext cx="4610100" cy="1257300"/>
          </a:xfrm>
          <a:prstGeom xmlns:a="http://schemas.openxmlformats.org/drawingml/2006/main" prst="roundRect">
            <a:avLst>
              <a:gd name="adj" fmla="val 9091"/>
            </a:avLst>
          </a:prstGeom>
          <a:solidFill xmlns:a="http://schemas.openxmlformats.org/drawingml/2006/main">
            <a:srgbClr val="F3F4F6"/>
          </a:solidFill>
          <a:ln xmlns:a="http://schemas.openxmlformats.org/drawingml/2006/main" w="9525">
            <a:solidFill>
              <a:srgbClr val="F3F4F6"/>
            </a:solidFill>
            <a:prstDash val="solid"/>
          </a:ln>
        </p:spPr>
      </p:sp>
      <p:sp>
        <p:nvSpPr>
          <p:cNvPr id="8" name="delivery-callout-stat-2">
            <a:extLst xmlns:a="http://schemas.openxmlformats.org/drawingml/2006/main">
              <a:ext uri="{FF2B5EF4-FFF2-40B4-BE49-F238E27FC236}">
                <a16:creationId xmlns:a16="http://schemas.microsoft.com/office/drawing/2014/main" id="{E2DF0AAE-10C7-4693-9B3C-AA399C5F2618}"/>
              </a:ext>
            </a:extLst>
          </p:cNvPr>
          <p:cNvSpPr>
            <a:spLocks xmlns:a="http://schemas.openxmlformats.org/drawingml/2006/main" noGrp="1"/>
          </p:cNvSpPr>
          <p:nvPr/>
        </p:nvSpPr>
        <p:spPr>
          <a:xfrm xmlns:a="http://schemas.openxmlformats.org/drawingml/2006/main">
            <a:off x="7353300" y="3048000"/>
            <a:ext cx="142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285"/>
          </a:bodyPr>
          <a:lstStyle xmlns:a="http://schemas.openxmlformats.org/drawingml/2006/main"/>
          <a:p xmlns:a="http://schemas.openxmlformats.org/drawingml/2006/main">
            <a:pPr algn="l">
              <a:defRPr sz="2250" b="1">
                <a:solidFill>
                  <a:srgbClr val="101827"/>
                </a:solidFill>
                <a:latin typeface="Arial"/>
                <a:ea typeface="Arial"/>
                <a:cs typeface="Arial"/>
              </a:defRPr>
            </a:pPr>
            <a:r>
              <a:rPr sz="2250" b="1">
                <a:solidFill>
                  <a:srgbClr val="101827"/>
                </a:solidFill>
                <a:latin typeface="Arial"/>
                <a:ea typeface="Arial"/>
                <a:cs typeface="Arial"/>
              </a:rPr>
              <a:t>4.30 → 1.70</a:t>
            </a:r>
          </a:p>
        </p:txBody>
      </p:sp>
      <p:sp>
        <p:nvSpPr>
          <p:cNvPr id="9" name="delivery-callout-title-2">
            <a:extLst xmlns:a="http://schemas.openxmlformats.org/drawingml/2006/main">
              <a:ext uri="{FF2B5EF4-FFF2-40B4-BE49-F238E27FC236}">
                <a16:creationId xmlns:a16="http://schemas.microsoft.com/office/drawing/2014/main" id="{526D82C3-DCF8-4888-A97E-5A50F43C17E8}"/>
              </a:ext>
            </a:extLst>
          </p:cNvPr>
          <p:cNvSpPr>
            <a:spLocks xmlns:a="http://schemas.openxmlformats.org/drawingml/2006/main" noGrp="1"/>
          </p:cNvSpPr>
          <p:nvPr/>
        </p:nvSpPr>
        <p:spPr>
          <a:xfrm xmlns:a="http://schemas.openxmlformats.org/drawingml/2006/main">
            <a:off x="8896350" y="3048000"/>
            <a:ext cx="2533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1">
                <a:solidFill>
                  <a:srgbClr val="101827"/>
                </a:solidFill>
                <a:latin typeface="Arial"/>
                <a:ea typeface="Arial"/>
                <a:cs typeface="Arial"/>
              </a:defRPr>
            </a:pPr>
            <a:r>
              <a:rPr sz="1500" b="1">
                <a:solidFill>
                  <a:srgbClr val="101827"/>
                </a:solidFill>
                <a:latin typeface="Arial"/>
                <a:ea typeface="Arial"/>
                <a:cs typeface="Arial"/>
              </a:rPr>
              <a:t>Average review score</a:t>
            </a:r>
          </a:p>
        </p:txBody>
      </p:sp>
      <p:sp>
        <p:nvSpPr>
          <p:cNvPr id="10" name="delivery-callout-detail-2">
            <a:extLst xmlns:a="http://schemas.openxmlformats.org/drawingml/2006/main">
              <a:ext uri="{FF2B5EF4-FFF2-40B4-BE49-F238E27FC236}">
                <a16:creationId xmlns:a16="http://schemas.microsoft.com/office/drawing/2014/main" id="{2E6E3752-CBD4-45C4-959B-955755B9B881}"/>
              </a:ext>
            </a:extLst>
          </p:cNvPr>
          <p:cNvSpPr>
            <a:spLocks xmlns:a="http://schemas.openxmlformats.org/drawingml/2006/main" noGrp="1"/>
          </p:cNvSpPr>
          <p:nvPr/>
        </p:nvSpPr>
        <p:spPr>
          <a:xfrm xmlns:a="http://schemas.openxmlformats.org/drawingml/2006/main">
            <a:off x="7353300" y="3562350"/>
            <a:ext cx="4076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667085"/>
                </a:solidFill>
                <a:latin typeface="Arial"/>
                <a:ea typeface="Arial"/>
                <a:cs typeface="Arial"/>
              </a:defRPr>
            </a:pPr>
            <a:r>
              <a:rPr sz="1200" b="0">
                <a:solidFill>
                  <a:srgbClr val="667085"/>
                </a:solidFill>
                <a:latin typeface="Arial"/>
                <a:ea typeface="Arial"/>
                <a:cs typeface="Arial"/>
              </a:rPr>
              <a:t>Early delivery vs. 8+ days late</a:t>
            </a:r>
          </a:p>
        </p:txBody>
      </p:sp>
      <p:sp>
        <p:nvSpPr>
          <p:cNvPr id="11" name="delivery-callout-3">
            <a:extLst xmlns:a="http://schemas.openxmlformats.org/drawingml/2006/main">
              <a:ext uri="{FF2B5EF4-FFF2-40B4-BE49-F238E27FC236}">
                <a16:creationId xmlns:a16="http://schemas.microsoft.com/office/drawing/2014/main" id="{C4932737-1971-41AB-BE3F-80EA43026BEA}"/>
              </a:ext>
            </a:extLst>
          </p:cNvPr>
          <p:cNvSpPr>
            <a:spLocks xmlns:a="http://schemas.openxmlformats.org/drawingml/2006/main" noGrp="1"/>
          </p:cNvSpPr>
          <p:nvPr/>
        </p:nvSpPr>
        <p:spPr>
          <a:xfrm xmlns:a="http://schemas.openxmlformats.org/drawingml/2006/main">
            <a:off x="7086600" y="4362450"/>
            <a:ext cx="4610100" cy="1257300"/>
          </a:xfrm>
          <a:prstGeom xmlns:a="http://schemas.openxmlformats.org/drawingml/2006/main" prst="roundRect">
            <a:avLst>
              <a:gd name="adj" fmla="val 9091"/>
            </a:avLst>
          </a:prstGeom>
          <a:solidFill xmlns:a="http://schemas.openxmlformats.org/drawingml/2006/main">
            <a:srgbClr val="F3F4F6"/>
          </a:solidFill>
          <a:ln xmlns:a="http://schemas.openxmlformats.org/drawingml/2006/main" w="9525">
            <a:solidFill>
              <a:srgbClr val="F3F4F6"/>
            </a:solidFill>
            <a:prstDash val="solid"/>
          </a:ln>
        </p:spPr>
      </p:sp>
      <p:sp>
        <p:nvSpPr>
          <p:cNvPr id="12" name="delivery-callout-stat-3">
            <a:extLst xmlns:a="http://schemas.openxmlformats.org/drawingml/2006/main">
              <a:ext uri="{FF2B5EF4-FFF2-40B4-BE49-F238E27FC236}">
                <a16:creationId xmlns:a16="http://schemas.microsoft.com/office/drawing/2014/main" id="{5FABBCCB-6814-4316-B6B7-4438E8777413}"/>
              </a:ext>
            </a:extLst>
          </p:cNvPr>
          <p:cNvSpPr>
            <a:spLocks xmlns:a="http://schemas.openxmlformats.org/drawingml/2006/main" noGrp="1"/>
          </p:cNvSpPr>
          <p:nvPr/>
        </p:nvSpPr>
        <p:spPr>
          <a:xfrm xmlns:a="http://schemas.openxmlformats.org/drawingml/2006/main">
            <a:off x="7353300" y="4552950"/>
            <a:ext cx="142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00" b="1">
                <a:solidFill>
                  <a:srgbClr val="101827"/>
                </a:solidFill>
                <a:latin typeface="Arial"/>
                <a:ea typeface="Arial"/>
                <a:cs typeface="Arial"/>
              </a:defRPr>
            </a:pPr>
            <a:r>
              <a:rPr sz="1800" b="1">
                <a:solidFill>
                  <a:srgbClr val="101827"/>
                </a:solidFill>
                <a:latin typeface="Arial"/>
                <a:ea typeface="Arial"/>
                <a:cs typeface="Arial"/>
              </a:rPr>
              <a:t>Action</a:t>
            </a:r>
          </a:p>
        </p:txBody>
      </p:sp>
      <p:sp>
        <p:nvSpPr>
          <p:cNvPr id="13" name="delivery-callout-title-3">
            <a:extLst xmlns:a="http://schemas.openxmlformats.org/drawingml/2006/main">
              <a:ext uri="{FF2B5EF4-FFF2-40B4-BE49-F238E27FC236}">
                <a16:creationId xmlns:a16="http://schemas.microsoft.com/office/drawing/2014/main" id="{09BE5839-12D4-459C-8F06-00B3F56F98F9}"/>
              </a:ext>
            </a:extLst>
          </p:cNvPr>
          <p:cNvSpPr>
            <a:spLocks xmlns:a="http://schemas.openxmlformats.org/drawingml/2006/main" noGrp="1"/>
          </p:cNvSpPr>
          <p:nvPr/>
        </p:nvSpPr>
        <p:spPr>
          <a:xfrm xmlns:a="http://schemas.openxmlformats.org/drawingml/2006/main">
            <a:off x="8896350" y="4552950"/>
            <a:ext cx="2533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942"/>
          </a:bodyPr>
          <a:lstStyle xmlns:a="http://schemas.openxmlformats.org/drawingml/2006/main"/>
          <a:p xmlns:a="http://schemas.openxmlformats.org/drawingml/2006/main">
            <a:pPr algn="l">
              <a:defRPr sz="1500" b="1">
                <a:solidFill>
                  <a:srgbClr val="101827"/>
                </a:solidFill>
                <a:latin typeface="Arial"/>
                <a:ea typeface="Arial"/>
                <a:cs typeface="Arial"/>
              </a:defRPr>
            </a:pPr>
            <a:r>
              <a:rPr sz="1500" b="1">
                <a:solidFill>
                  <a:srgbClr val="101827"/>
                </a:solidFill>
                <a:latin typeface="Arial"/>
                <a:ea typeface="Arial"/>
                <a:cs typeface="Arial"/>
              </a:rPr>
              <a:t>Prevent and communicate</a:t>
            </a:r>
          </a:p>
        </p:txBody>
      </p:sp>
      <p:sp>
        <p:nvSpPr>
          <p:cNvPr id="14" name="delivery-callout-detail-3">
            <a:extLst xmlns:a="http://schemas.openxmlformats.org/drawingml/2006/main">
              <a:ext uri="{FF2B5EF4-FFF2-40B4-BE49-F238E27FC236}">
                <a16:creationId xmlns:a16="http://schemas.microsoft.com/office/drawing/2014/main" id="{E1CFA1AD-9E93-45BF-9686-2005C9CFDF62}"/>
              </a:ext>
            </a:extLst>
          </p:cNvPr>
          <p:cNvSpPr>
            <a:spLocks xmlns:a="http://schemas.openxmlformats.org/drawingml/2006/main" noGrp="1"/>
          </p:cNvSpPr>
          <p:nvPr/>
        </p:nvSpPr>
        <p:spPr>
          <a:xfrm xmlns:a="http://schemas.openxmlformats.org/drawingml/2006/main">
            <a:off x="7353300" y="5067300"/>
            <a:ext cx="4076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667085"/>
                </a:solidFill>
                <a:latin typeface="Arial"/>
                <a:ea typeface="Arial"/>
                <a:cs typeface="Arial"/>
              </a:defRPr>
            </a:pPr>
            <a:r>
              <a:rPr sz="1200" b="0">
                <a:solidFill>
                  <a:srgbClr val="667085"/>
                </a:solidFill>
                <a:latin typeface="Arial"/>
                <a:ea typeface="Arial"/>
                <a:cs typeface="Arial"/>
              </a:rPr>
              <a:t>Escalate exceptions before promised dates</a:t>
            </a:r>
          </a:p>
        </p:txBody>
      </p:sp>
      <p:sp>
        <p:nvSpPr>
          <p:cNvPr id="15" name="delivery-caveat">
            <a:extLst xmlns:a="http://schemas.openxmlformats.org/drawingml/2006/main">
              <a:ext uri="{FF2B5EF4-FFF2-40B4-BE49-F238E27FC236}">
                <a16:creationId xmlns:a16="http://schemas.microsoft.com/office/drawing/2014/main" id="{09D4A832-635E-46C3-9AEA-E59B763B54DC}"/>
              </a:ext>
            </a:extLst>
          </p:cNvPr>
          <p:cNvSpPr>
            <a:spLocks xmlns:a="http://schemas.openxmlformats.org/drawingml/2006/main" noGrp="1"/>
          </p:cNvSpPr>
          <p:nvPr/>
        </p:nvSpPr>
        <p:spPr>
          <a:xfrm xmlns:a="http://schemas.openxmlformats.org/drawingml/2006/main">
            <a:off x="7086600" y="6000750"/>
            <a:ext cx="4610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39"/>
          </a:bodyPr>
          <a:lstStyle xmlns:a="http://schemas.openxmlformats.org/drawingml/2006/main"/>
          <a:p xmlns:a="http://schemas.openxmlformats.org/drawingml/2006/main">
            <a:pPr algn="l">
              <a:defRPr sz="1050" b="0">
                <a:solidFill>
                  <a:srgbClr val="667085"/>
                </a:solidFill>
                <a:latin typeface="Arial"/>
                <a:ea typeface="Arial"/>
                <a:cs typeface="Arial"/>
              </a:defRPr>
            </a:pPr>
            <a:r>
              <a:rPr sz="1050" b="0">
                <a:solidFill>
                  <a:srgbClr val="667085"/>
                </a:solidFill>
                <a:latin typeface="Arial"/>
                <a:ea typeface="Arial"/>
                <a:cs typeface="Arial"/>
              </a:rPr>
              <a:t>Association, not proof of causation; still large and consistent enough to prioritize operational action.</a:t>
            </a:r>
          </a:p>
        </p:txBody>
      </p:sp>
      <p:sp>
        <p:nvSpPr>
          <p:cNvPr id="16" name="footer-rule-4">
            <a:extLst xmlns:a="http://schemas.openxmlformats.org/drawingml/2006/main">
              <a:ext uri="{FF2B5EF4-FFF2-40B4-BE49-F238E27FC236}">
                <a16:creationId xmlns:a16="http://schemas.microsoft.com/office/drawing/2014/main" id="{E61870D8-FF11-45E4-86BC-9F1C12588047}"/>
              </a:ext>
            </a:extLst>
          </p:cNvPr>
          <p:cNvSpPr>
            <a:spLocks xmlns:a="http://schemas.openxmlformats.org/drawingml/2006/main" noGrp="1"/>
          </p:cNvSpPr>
          <p:nvPr/>
        </p:nvSpPr>
        <p:spPr>
          <a:xfrm xmlns:a="http://schemas.openxmlformats.org/drawingml/2006/main">
            <a:off x="495300" y="6419850"/>
            <a:ext cx="11201400" cy="19050"/>
          </a:xfrm>
          <a:prstGeom xmlns:a="http://schemas.openxmlformats.org/drawingml/2006/main" prst="rect">
            <a:avLst/>
          </a:prstGeom>
          <a:solidFill xmlns:a="http://schemas.openxmlformats.org/drawingml/2006/main">
            <a:srgbClr val="D0D5DD"/>
          </a:solidFill>
          <a:ln xmlns:a="http://schemas.openxmlformats.org/drawingml/2006/main" w="0">
            <a:solidFill>
              <a:srgbClr val="D0D5DD"/>
            </a:solidFill>
            <a:prstDash val="solid"/>
          </a:ln>
        </p:spPr>
      </p:sp>
      <p:sp>
        <p:nvSpPr>
          <p:cNvPr id="17" name="footer-label-4">
            <a:extLst xmlns:a="http://schemas.openxmlformats.org/drawingml/2006/main">
              <a:ext uri="{FF2B5EF4-FFF2-40B4-BE49-F238E27FC236}">
                <a16:creationId xmlns:a16="http://schemas.microsoft.com/office/drawing/2014/main" id="{38CE1C0A-62F2-41CA-B5E8-09C186DD4814}"/>
              </a:ext>
            </a:extLst>
          </p:cNvPr>
          <p:cNvSpPr>
            <a:spLocks xmlns:a="http://schemas.openxmlformats.org/drawingml/2006/main" noGrp="1"/>
          </p:cNvSpPr>
          <p:nvPr/>
        </p:nvSpPr>
        <p:spPr>
          <a:xfrm xmlns:a="http://schemas.openxmlformats.org/drawingml/2006/main">
            <a:off x="495300" y="650557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defRPr sz="825" b="1">
                <a:solidFill>
                  <a:srgbClr val="667085"/>
                </a:solidFill>
                <a:latin typeface="Arial"/>
                <a:ea typeface="Arial"/>
                <a:cs typeface="Arial"/>
              </a:defRPr>
            </a:pPr>
            <a:r>
              <a:rPr sz="825" b="1">
                <a:solidFill>
                  <a:srgbClr val="667085"/>
                </a:solidFill>
                <a:latin typeface="Arial"/>
                <a:ea typeface="Arial"/>
                <a:cs typeface="Arial"/>
              </a:rPr>
              <a:t>COMMERCEIQ · INTERVIEW CASE STUDY</a:t>
            </a:r>
          </a:p>
        </p:txBody>
      </p:sp>
      <p:sp>
        <p:nvSpPr>
          <p:cNvPr id="18" name="footer-number-4">
            <a:extLst xmlns:a="http://schemas.openxmlformats.org/drawingml/2006/main">
              <a:ext uri="{FF2B5EF4-FFF2-40B4-BE49-F238E27FC236}">
                <a16:creationId xmlns:a16="http://schemas.microsoft.com/office/drawing/2014/main" id="{BC701734-C800-4686-9788-B52023C25077}"/>
              </a:ext>
            </a:extLst>
          </p:cNvPr>
          <p:cNvSpPr>
            <a:spLocks xmlns:a="http://schemas.openxmlformats.org/drawingml/2006/main" noGrp="1"/>
          </p:cNvSpPr>
          <p:nvPr/>
        </p:nvSpPr>
        <p:spPr>
          <a:xfrm xmlns:a="http://schemas.openxmlformats.org/drawingml/2006/main">
            <a:off x="11315700" y="65055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r">
              <a:defRPr sz="825" b="0">
                <a:solidFill>
                  <a:srgbClr val="667085"/>
                </a:solidFill>
                <a:latin typeface="Arial"/>
                <a:ea typeface="Arial"/>
                <a:cs typeface="Arial"/>
              </a:defRPr>
            </a:pPr>
            <a:r>
              <a:rPr sz="825" b="0">
                <a:solidFill>
                  <a:srgbClr val="667085"/>
                </a:solidFill>
                <a:latin typeface="Arial"/>
                <a:ea typeface="Arial"/>
                <a:cs typeface="Arial"/>
              </a:rPr>
              <a:t>4</a:t>
            </a:r>
          </a:p>
        </p:txBody>
      </p:sp>
    </p:spTree>
    <p:extLst>
      <p:ext uri="{BB962C8B-B14F-4D97-AF65-F5344CB8AC3E}">
        <p14:creationId xmlns:p14="http://schemas.microsoft.com/office/powerpoint/2010/main" val="8762665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concentration-title">
            <a:extLst xmlns:a="http://schemas.openxmlformats.org/drawingml/2006/main">
              <a:ext uri="{FF2B5EF4-FFF2-40B4-BE49-F238E27FC236}">
                <a16:creationId xmlns:a16="http://schemas.microsoft.com/office/drawing/2014/main" id="{9FC320B4-6F75-4477-B2BE-43C24327D215}"/>
              </a:ext>
            </a:extLst>
          </p:cNvPr>
          <p:cNvSpPr>
            <a:spLocks xmlns:a="http://schemas.openxmlformats.org/drawingml/2006/main" noGrp="1"/>
          </p:cNvSpPr>
          <p:nvPr/>
        </p:nvSpPr>
        <p:spPr>
          <a:xfrm xmlns:a="http://schemas.openxmlformats.org/drawingml/2006/main">
            <a:off x="495300" y="400050"/>
            <a:ext cx="11201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850" b="1">
                <a:solidFill>
                  <a:srgbClr val="101827"/>
                </a:solidFill>
                <a:latin typeface="Arial"/>
                <a:ea typeface="Arial"/>
                <a:cs typeface="Arial"/>
              </a:defRPr>
            </a:pPr>
            <a:r>
              <a:rPr sz="2850" b="1">
                <a:solidFill>
                  <a:srgbClr val="101827"/>
                </a:solidFill>
                <a:latin typeface="Arial"/>
                <a:ea typeface="Arial"/>
                <a:cs typeface="Arial"/>
              </a:rPr>
              <a:t>Commercial value is concentrated; retention remains shallow</a:t>
            </a:r>
          </a:p>
        </p:txBody>
      </p:sp>
      <p:sp>
        <p:nvSpPr>
          <p:cNvPr id="2" name="concentration-image-frame">
            <a:extLst xmlns:a="http://schemas.openxmlformats.org/drawingml/2006/main">
              <a:ext uri="{FF2B5EF4-FFF2-40B4-BE49-F238E27FC236}">
                <a16:creationId xmlns:a16="http://schemas.microsoft.com/office/drawing/2014/main" id="{5E89A66C-5BF9-48C7-8056-F5B5984F4E4A}"/>
              </a:ext>
            </a:extLst>
          </p:cNvPr>
          <p:cNvSpPr>
            <a:spLocks xmlns:a="http://schemas.openxmlformats.org/drawingml/2006/main" noGrp="1"/>
          </p:cNvSpPr>
          <p:nvPr/>
        </p:nvSpPr>
        <p:spPr>
          <a:xfrm xmlns:a="http://schemas.openxmlformats.org/drawingml/2006/main">
            <a:off x="495300" y="1428750"/>
            <a:ext cx="6572250" cy="4533900"/>
          </a:xfrm>
          <a:prstGeom xmlns:a="http://schemas.openxmlformats.org/drawingml/2006/main" prst="roundRect">
            <a:avLst>
              <a:gd name="adj" fmla="val 2521"/>
            </a:avLst>
          </a:prstGeom>
          <a:solidFill xmlns:a="http://schemas.openxmlformats.org/drawingml/2006/main">
            <a:srgbClr val="F3F4F6"/>
          </a:solidFill>
          <a:ln xmlns:a="http://schemas.openxmlformats.org/drawingml/2006/main" w="9525">
            <a:solidFill>
              <a:srgbClr val="D0D5DD"/>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3975550329ac4272"/>
          <a:stretch xmlns:a="http://schemas.openxmlformats.org/drawingml/2006/main"/>
        </p:blipFill>
        <p:spPr>
          <a:xfrm xmlns:a="http://schemas.openxmlformats.org/drawingml/2006/main">
            <a:off x="666750" y="1894442"/>
            <a:ext cx="6229350" cy="3602516"/>
          </a:xfrm>
          <a:prstGeom xmlns:a="http://schemas.openxmlformats.org/drawingml/2006/main" prst="rect">
            <a:avLst/>
          </a:prstGeom>
        </p:spPr>
      </p:pic>
      <p:sp>
        <p:nvSpPr>
          <p:cNvPr id="4" name="fact-stat-1">
            <a:extLst xmlns:a="http://schemas.openxmlformats.org/drawingml/2006/main">
              <a:ext uri="{FF2B5EF4-FFF2-40B4-BE49-F238E27FC236}">
                <a16:creationId xmlns:a16="http://schemas.microsoft.com/office/drawing/2014/main" id="{49B22113-D71D-49CF-8439-3256B71E5983}"/>
              </a:ext>
            </a:extLst>
          </p:cNvPr>
          <p:cNvSpPr>
            <a:spLocks xmlns:a="http://schemas.openxmlformats.org/drawingml/2006/main" noGrp="1"/>
          </p:cNvSpPr>
          <p:nvPr/>
        </p:nvSpPr>
        <p:spPr>
          <a:xfrm xmlns:a="http://schemas.openxmlformats.org/drawingml/2006/main">
            <a:off x="7524750" y="1504950"/>
            <a:ext cx="1619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118"/>
          </a:bodyPr>
          <a:lstStyle xmlns:a="http://schemas.openxmlformats.org/drawingml/2006/main"/>
          <a:p xmlns:a="http://schemas.openxmlformats.org/drawingml/2006/main">
            <a:pPr algn="l">
              <a:defRPr sz="2550" b="1">
                <a:solidFill>
                  <a:srgbClr val="101827"/>
                </a:solidFill>
                <a:latin typeface="Arial"/>
                <a:ea typeface="Arial"/>
                <a:cs typeface="Arial"/>
              </a:defRPr>
            </a:pPr>
            <a:r>
              <a:rPr sz="2550" b="1">
                <a:solidFill>
                  <a:srgbClr val="101827"/>
                </a:solidFill>
                <a:latin typeface="Arial"/>
                <a:ea typeface="Arial"/>
                <a:cs typeface="Arial"/>
              </a:rPr>
              <a:t>38.33%</a:t>
            </a:r>
          </a:p>
        </p:txBody>
      </p:sp>
      <p:sp>
        <p:nvSpPr>
          <p:cNvPr id="5" name="fact-detail-1">
            <a:extLst xmlns:a="http://schemas.openxmlformats.org/drawingml/2006/main">
              <a:ext uri="{FF2B5EF4-FFF2-40B4-BE49-F238E27FC236}">
                <a16:creationId xmlns:a16="http://schemas.microsoft.com/office/drawing/2014/main" id="{0EDAB55F-C6EE-42F5-B5D0-7610587CA04E}"/>
              </a:ext>
            </a:extLst>
          </p:cNvPr>
          <p:cNvSpPr>
            <a:spLocks xmlns:a="http://schemas.openxmlformats.org/drawingml/2006/main" noGrp="1"/>
          </p:cNvSpPr>
          <p:nvPr/>
        </p:nvSpPr>
        <p:spPr>
          <a:xfrm xmlns:a="http://schemas.openxmlformats.org/drawingml/2006/main">
            <a:off x="9163050" y="1543050"/>
            <a:ext cx="2381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667085"/>
                </a:solidFill>
                <a:latin typeface="Arial"/>
                <a:ea typeface="Arial"/>
                <a:cs typeface="Arial"/>
              </a:defRPr>
            </a:pPr>
            <a:r>
              <a:rPr sz="1350" b="0">
                <a:solidFill>
                  <a:srgbClr val="667085"/>
                </a:solidFill>
                <a:latin typeface="Arial"/>
                <a:ea typeface="Arial"/>
                <a:cs typeface="Arial"/>
              </a:rPr>
              <a:t>of delivered GMV comes from São Paulo</a:t>
            </a:r>
          </a:p>
        </p:txBody>
      </p:sp>
      <p:sp>
        <p:nvSpPr>
          <p:cNvPr id="6" name="fact-rule-1">
            <a:extLst xmlns:a="http://schemas.openxmlformats.org/drawingml/2006/main">
              <a:ext uri="{FF2B5EF4-FFF2-40B4-BE49-F238E27FC236}">
                <a16:creationId xmlns:a16="http://schemas.microsoft.com/office/drawing/2014/main" id="{45083548-AC91-4F62-B98C-F31FACAA79BD}"/>
              </a:ext>
            </a:extLst>
          </p:cNvPr>
          <p:cNvSpPr>
            <a:spLocks xmlns:a="http://schemas.openxmlformats.org/drawingml/2006/main" noGrp="1"/>
          </p:cNvSpPr>
          <p:nvPr/>
        </p:nvSpPr>
        <p:spPr>
          <a:xfrm xmlns:a="http://schemas.openxmlformats.org/drawingml/2006/main">
            <a:off x="7524750" y="2305050"/>
            <a:ext cx="4019550" cy="19050"/>
          </a:xfrm>
          <a:prstGeom xmlns:a="http://schemas.openxmlformats.org/drawingml/2006/main" prst="rect">
            <a:avLst/>
          </a:prstGeom>
          <a:solidFill xmlns:a="http://schemas.openxmlformats.org/drawingml/2006/main">
            <a:srgbClr val="D0D5DD"/>
          </a:solidFill>
          <a:ln xmlns:a="http://schemas.openxmlformats.org/drawingml/2006/main" w="0">
            <a:solidFill>
              <a:srgbClr val="D0D5DD"/>
            </a:solidFill>
            <a:prstDash val="solid"/>
          </a:ln>
        </p:spPr>
      </p:sp>
      <p:sp>
        <p:nvSpPr>
          <p:cNvPr id="7" name="fact-stat-2">
            <a:extLst xmlns:a="http://schemas.openxmlformats.org/drawingml/2006/main">
              <a:ext uri="{FF2B5EF4-FFF2-40B4-BE49-F238E27FC236}">
                <a16:creationId xmlns:a16="http://schemas.microsoft.com/office/drawing/2014/main" id="{9D1CAE48-A8C7-4E2C-A3A9-D305BED1C82E}"/>
              </a:ext>
            </a:extLst>
          </p:cNvPr>
          <p:cNvSpPr>
            <a:spLocks xmlns:a="http://schemas.openxmlformats.org/drawingml/2006/main" noGrp="1"/>
          </p:cNvSpPr>
          <p:nvPr/>
        </p:nvSpPr>
        <p:spPr>
          <a:xfrm xmlns:a="http://schemas.openxmlformats.org/drawingml/2006/main">
            <a:off x="7524750" y="2571750"/>
            <a:ext cx="1619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118"/>
          </a:bodyPr>
          <a:lstStyle xmlns:a="http://schemas.openxmlformats.org/drawingml/2006/main"/>
          <a:p xmlns:a="http://schemas.openxmlformats.org/drawingml/2006/main">
            <a:pPr algn="l">
              <a:defRPr sz="2550" b="1">
                <a:solidFill>
                  <a:srgbClr val="101827"/>
                </a:solidFill>
                <a:latin typeface="Arial"/>
                <a:ea typeface="Arial"/>
                <a:cs typeface="Arial"/>
              </a:defRPr>
            </a:pPr>
            <a:r>
              <a:rPr sz="2550" b="1">
                <a:solidFill>
                  <a:srgbClr val="101827"/>
                </a:solidFill>
                <a:latin typeface="Arial"/>
                <a:ea typeface="Arial"/>
                <a:cs typeface="Arial"/>
              </a:rPr>
              <a:t>63.38%</a:t>
            </a:r>
          </a:p>
        </p:txBody>
      </p:sp>
      <p:sp>
        <p:nvSpPr>
          <p:cNvPr id="8" name="fact-detail-2">
            <a:extLst xmlns:a="http://schemas.openxmlformats.org/drawingml/2006/main">
              <a:ext uri="{FF2B5EF4-FFF2-40B4-BE49-F238E27FC236}">
                <a16:creationId xmlns:a16="http://schemas.microsoft.com/office/drawing/2014/main" id="{550FE7CA-6D09-4C37-A4E2-AD72FA5E0553}"/>
              </a:ext>
            </a:extLst>
          </p:cNvPr>
          <p:cNvSpPr>
            <a:spLocks xmlns:a="http://schemas.openxmlformats.org/drawingml/2006/main" noGrp="1"/>
          </p:cNvSpPr>
          <p:nvPr/>
        </p:nvSpPr>
        <p:spPr>
          <a:xfrm xmlns:a="http://schemas.openxmlformats.org/drawingml/2006/main">
            <a:off x="9163050" y="2609850"/>
            <a:ext cx="2381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667085"/>
                </a:solidFill>
                <a:latin typeface="Arial"/>
                <a:ea typeface="Arial"/>
                <a:cs typeface="Arial"/>
              </a:defRPr>
            </a:pPr>
            <a:r>
              <a:rPr sz="1350" b="0">
                <a:solidFill>
                  <a:srgbClr val="667085"/>
                </a:solidFill>
                <a:latin typeface="Arial"/>
                <a:ea typeface="Arial"/>
                <a:cs typeface="Arial"/>
              </a:rPr>
              <a:t>comes from SP, RJ, and MG combined</a:t>
            </a:r>
          </a:p>
        </p:txBody>
      </p:sp>
      <p:sp>
        <p:nvSpPr>
          <p:cNvPr id="9" name="fact-rule-2">
            <a:extLst xmlns:a="http://schemas.openxmlformats.org/drawingml/2006/main">
              <a:ext uri="{FF2B5EF4-FFF2-40B4-BE49-F238E27FC236}">
                <a16:creationId xmlns:a16="http://schemas.microsoft.com/office/drawing/2014/main" id="{06B7080F-AAB7-4BC0-9868-2998FF1B0F64}"/>
              </a:ext>
            </a:extLst>
          </p:cNvPr>
          <p:cNvSpPr>
            <a:spLocks xmlns:a="http://schemas.openxmlformats.org/drawingml/2006/main" noGrp="1"/>
          </p:cNvSpPr>
          <p:nvPr/>
        </p:nvSpPr>
        <p:spPr>
          <a:xfrm xmlns:a="http://schemas.openxmlformats.org/drawingml/2006/main">
            <a:off x="7524750" y="3371850"/>
            <a:ext cx="4019550" cy="19050"/>
          </a:xfrm>
          <a:prstGeom xmlns:a="http://schemas.openxmlformats.org/drawingml/2006/main" prst="rect">
            <a:avLst/>
          </a:prstGeom>
          <a:solidFill xmlns:a="http://schemas.openxmlformats.org/drawingml/2006/main">
            <a:srgbClr val="D0D5DD"/>
          </a:solidFill>
          <a:ln xmlns:a="http://schemas.openxmlformats.org/drawingml/2006/main" w="0">
            <a:solidFill>
              <a:srgbClr val="D0D5DD"/>
            </a:solidFill>
            <a:prstDash val="solid"/>
          </a:ln>
        </p:spPr>
      </p:sp>
      <p:sp>
        <p:nvSpPr>
          <p:cNvPr id="10" name="fact-stat-3">
            <a:extLst xmlns:a="http://schemas.openxmlformats.org/drawingml/2006/main">
              <a:ext uri="{FF2B5EF4-FFF2-40B4-BE49-F238E27FC236}">
                <a16:creationId xmlns:a16="http://schemas.microsoft.com/office/drawing/2014/main" id="{834B4F58-0972-4076-9F3B-F8EF02EDC951}"/>
              </a:ext>
            </a:extLst>
          </p:cNvPr>
          <p:cNvSpPr>
            <a:spLocks xmlns:a="http://schemas.openxmlformats.org/drawingml/2006/main" noGrp="1"/>
          </p:cNvSpPr>
          <p:nvPr/>
        </p:nvSpPr>
        <p:spPr>
          <a:xfrm xmlns:a="http://schemas.openxmlformats.org/drawingml/2006/main">
            <a:off x="7524750" y="3638550"/>
            <a:ext cx="1619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118"/>
          </a:bodyPr>
          <a:lstStyle xmlns:a="http://schemas.openxmlformats.org/drawingml/2006/main"/>
          <a:p xmlns:a="http://schemas.openxmlformats.org/drawingml/2006/main">
            <a:pPr algn="l">
              <a:defRPr sz="2550" b="1">
                <a:solidFill>
                  <a:srgbClr val="101827"/>
                </a:solidFill>
                <a:latin typeface="Arial"/>
                <a:ea typeface="Arial"/>
                <a:cs typeface="Arial"/>
              </a:defRPr>
            </a:pPr>
            <a:r>
              <a:rPr sz="2550" b="1">
                <a:solidFill>
                  <a:srgbClr val="101827"/>
                </a:solidFill>
                <a:latin typeface="Arial"/>
                <a:ea typeface="Arial"/>
                <a:cs typeface="Arial"/>
              </a:rPr>
              <a:t>78.34%</a:t>
            </a:r>
          </a:p>
        </p:txBody>
      </p:sp>
      <p:sp>
        <p:nvSpPr>
          <p:cNvPr id="11" name="fact-detail-3">
            <a:extLst xmlns:a="http://schemas.openxmlformats.org/drawingml/2006/main">
              <a:ext uri="{FF2B5EF4-FFF2-40B4-BE49-F238E27FC236}">
                <a16:creationId xmlns:a16="http://schemas.microsoft.com/office/drawing/2014/main" id="{90E5C133-3059-4254-B78C-452820351E3B}"/>
              </a:ext>
            </a:extLst>
          </p:cNvPr>
          <p:cNvSpPr>
            <a:spLocks xmlns:a="http://schemas.openxmlformats.org/drawingml/2006/main" noGrp="1"/>
          </p:cNvSpPr>
          <p:nvPr/>
        </p:nvSpPr>
        <p:spPr>
          <a:xfrm xmlns:a="http://schemas.openxmlformats.org/drawingml/2006/main">
            <a:off x="9163050" y="3676650"/>
            <a:ext cx="2381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667085"/>
                </a:solidFill>
                <a:latin typeface="Arial"/>
                <a:ea typeface="Arial"/>
                <a:cs typeface="Arial"/>
              </a:defRPr>
            </a:pPr>
            <a:r>
              <a:rPr sz="1350" b="0">
                <a:solidFill>
                  <a:srgbClr val="667085"/>
                </a:solidFill>
                <a:latin typeface="Arial"/>
                <a:ea typeface="Arial"/>
                <a:cs typeface="Arial"/>
              </a:rPr>
              <a:t>of payment value uses credit cards</a:t>
            </a:r>
          </a:p>
        </p:txBody>
      </p:sp>
      <p:sp>
        <p:nvSpPr>
          <p:cNvPr id="12" name="fact-rule-3">
            <a:extLst xmlns:a="http://schemas.openxmlformats.org/drawingml/2006/main">
              <a:ext uri="{FF2B5EF4-FFF2-40B4-BE49-F238E27FC236}">
                <a16:creationId xmlns:a16="http://schemas.microsoft.com/office/drawing/2014/main" id="{697F124D-ADC9-4FD8-9553-7E6887C4A870}"/>
              </a:ext>
            </a:extLst>
          </p:cNvPr>
          <p:cNvSpPr>
            <a:spLocks xmlns:a="http://schemas.openxmlformats.org/drawingml/2006/main" noGrp="1"/>
          </p:cNvSpPr>
          <p:nvPr/>
        </p:nvSpPr>
        <p:spPr>
          <a:xfrm xmlns:a="http://schemas.openxmlformats.org/drawingml/2006/main">
            <a:off x="7524750" y="4438650"/>
            <a:ext cx="4019550" cy="19050"/>
          </a:xfrm>
          <a:prstGeom xmlns:a="http://schemas.openxmlformats.org/drawingml/2006/main" prst="rect">
            <a:avLst/>
          </a:prstGeom>
          <a:solidFill xmlns:a="http://schemas.openxmlformats.org/drawingml/2006/main">
            <a:srgbClr val="D0D5DD"/>
          </a:solidFill>
          <a:ln xmlns:a="http://schemas.openxmlformats.org/drawingml/2006/main" w="0">
            <a:solidFill>
              <a:srgbClr val="D0D5DD"/>
            </a:solidFill>
            <a:prstDash val="solid"/>
          </a:ln>
        </p:spPr>
      </p:sp>
      <p:sp>
        <p:nvSpPr>
          <p:cNvPr id="13" name="fact-stat-4">
            <a:extLst xmlns:a="http://schemas.openxmlformats.org/drawingml/2006/main">
              <a:ext uri="{FF2B5EF4-FFF2-40B4-BE49-F238E27FC236}">
                <a16:creationId xmlns:a16="http://schemas.microsoft.com/office/drawing/2014/main" id="{07B1A371-B506-49A2-8CAF-E269EE547668}"/>
              </a:ext>
            </a:extLst>
          </p:cNvPr>
          <p:cNvSpPr>
            <a:spLocks xmlns:a="http://schemas.openxmlformats.org/drawingml/2006/main" noGrp="1"/>
          </p:cNvSpPr>
          <p:nvPr/>
        </p:nvSpPr>
        <p:spPr>
          <a:xfrm xmlns:a="http://schemas.openxmlformats.org/drawingml/2006/main">
            <a:off x="7524750" y="4705350"/>
            <a:ext cx="1619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118"/>
          </a:bodyPr>
          <a:lstStyle xmlns:a="http://schemas.openxmlformats.org/drawingml/2006/main"/>
          <a:p xmlns:a="http://schemas.openxmlformats.org/drawingml/2006/main">
            <a:pPr algn="l">
              <a:defRPr sz="2550" b="1">
                <a:solidFill>
                  <a:srgbClr val="2563EB"/>
                </a:solidFill>
                <a:latin typeface="Arial"/>
                <a:ea typeface="Arial"/>
                <a:cs typeface="Arial"/>
              </a:defRPr>
            </a:pPr>
            <a:r>
              <a:rPr sz="2550" b="1">
                <a:solidFill>
                  <a:srgbClr val="2563EB"/>
                </a:solidFill>
                <a:latin typeface="Arial"/>
                <a:ea typeface="Arial"/>
                <a:cs typeface="Arial"/>
              </a:rPr>
              <a:t>3.00%</a:t>
            </a:r>
          </a:p>
        </p:txBody>
      </p:sp>
      <p:sp>
        <p:nvSpPr>
          <p:cNvPr id="14" name="fact-detail-4">
            <a:extLst xmlns:a="http://schemas.openxmlformats.org/drawingml/2006/main">
              <a:ext uri="{FF2B5EF4-FFF2-40B4-BE49-F238E27FC236}">
                <a16:creationId xmlns:a16="http://schemas.microsoft.com/office/drawing/2014/main" id="{94EB3EE8-E5AE-4293-8F25-0E1DF80F212B}"/>
              </a:ext>
            </a:extLst>
          </p:cNvPr>
          <p:cNvSpPr>
            <a:spLocks xmlns:a="http://schemas.openxmlformats.org/drawingml/2006/main" noGrp="1"/>
          </p:cNvSpPr>
          <p:nvPr/>
        </p:nvSpPr>
        <p:spPr>
          <a:xfrm xmlns:a="http://schemas.openxmlformats.org/drawingml/2006/main">
            <a:off x="9163050" y="4743450"/>
            <a:ext cx="2381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667085"/>
                </a:solidFill>
                <a:latin typeface="Arial"/>
                <a:ea typeface="Arial"/>
                <a:cs typeface="Arial"/>
              </a:defRPr>
            </a:pPr>
            <a:r>
              <a:rPr sz="1350" b="0">
                <a:solidFill>
                  <a:srgbClr val="667085"/>
                </a:solidFill>
                <a:latin typeface="Arial"/>
                <a:ea typeface="Arial"/>
                <a:cs typeface="Arial"/>
              </a:rPr>
              <a:t>of delivered customers repeat in-window</a:t>
            </a:r>
          </a:p>
        </p:txBody>
      </p:sp>
      <p:sp>
        <p:nvSpPr>
          <p:cNvPr id="15" name="concentration-implication">
            <a:extLst xmlns:a="http://schemas.openxmlformats.org/drawingml/2006/main">
              <a:ext uri="{FF2B5EF4-FFF2-40B4-BE49-F238E27FC236}">
                <a16:creationId xmlns:a16="http://schemas.microsoft.com/office/drawing/2014/main" id="{3228BBD8-4AB0-4289-A548-395191776415}"/>
              </a:ext>
            </a:extLst>
          </p:cNvPr>
          <p:cNvSpPr>
            <a:spLocks xmlns:a="http://schemas.openxmlformats.org/drawingml/2006/main" noGrp="1"/>
          </p:cNvSpPr>
          <p:nvPr/>
        </p:nvSpPr>
        <p:spPr>
          <a:xfrm xmlns:a="http://schemas.openxmlformats.org/drawingml/2006/main">
            <a:off x="7524750" y="5772150"/>
            <a:ext cx="4019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549"/>
          </a:bodyPr>
          <a:lstStyle xmlns:a="http://schemas.openxmlformats.org/drawingml/2006/main"/>
          <a:p xmlns:a="http://schemas.openxmlformats.org/drawingml/2006/main">
            <a:pPr algn="l">
              <a:defRPr sz="1275" b="1">
                <a:solidFill>
                  <a:srgbClr val="2563EB"/>
                </a:solidFill>
                <a:latin typeface="Arial"/>
                <a:ea typeface="Arial"/>
                <a:cs typeface="Arial"/>
              </a:defRPr>
            </a:pPr>
            <a:r>
              <a:rPr sz="1275" b="1">
                <a:solidFill>
                  <a:srgbClr val="2563EB"/>
                </a:solidFill>
                <a:latin typeface="Arial"/>
                <a:ea typeface="Arial"/>
                <a:cs typeface="Arial"/>
              </a:rPr>
              <a:t>Implication: start operational controls in the highest-value states, then test retention programs rather than treating national averages as the whole story.</a:t>
            </a:r>
          </a:p>
        </p:txBody>
      </p:sp>
      <p:sp>
        <p:nvSpPr>
          <p:cNvPr id="16" name="footer-rule-5">
            <a:extLst xmlns:a="http://schemas.openxmlformats.org/drawingml/2006/main">
              <a:ext uri="{FF2B5EF4-FFF2-40B4-BE49-F238E27FC236}">
                <a16:creationId xmlns:a16="http://schemas.microsoft.com/office/drawing/2014/main" id="{607C53F1-93C4-4BF8-9C24-BDD63FF676DD}"/>
              </a:ext>
            </a:extLst>
          </p:cNvPr>
          <p:cNvSpPr>
            <a:spLocks xmlns:a="http://schemas.openxmlformats.org/drawingml/2006/main" noGrp="1"/>
          </p:cNvSpPr>
          <p:nvPr/>
        </p:nvSpPr>
        <p:spPr>
          <a:xfrm xmlns:a="http://schemas.openxmlformats.org/drawingml/2006/main">
            <a:off x="495300" y="6419850"/>
            <a:ext cx="11201400" cy="19050"/>
          </a:xfrm>
          <a:prstGeom xmlns:a="http://schemas.openxmlformats.org/drawingml/2006/main" prst="rect">
            <a:avLst/>
          </a:prstGeom>
          <a:solidFill xmlns:a="http://schemas.openxmlformats.org/drawingml/2006/main">
            <a:srgbClr val="D0D5DD"/>
          </a:solidFill>
          <a:ln xmlns:a="http://schemas.openxmlformats.org/drawingml/2006/main" w="0">
            <a:solidFill>
              <a:srgbClr val="D0D5DD"/>
            </a:solidFill>
            <a:prstDash val="solid"/>
          </a:ln>
        </p:spPr>
      </p:sp>
      <p:sp>
        <p:nvSpPr>
          <p:cNvPr id="17" name="footer-label-5">
            <a:extLst xmlns:a="http://schemas.openxmlformats.org/drawingml/2006/main">
              <a:ext uri="{FF2B5EF4-FFF2-40B4-BE49-F238E27FC236}">
                <a16:creationId xmlns:a16="http://schemas.microsoft.com/office/drawing/2014/main" id="{71401CD5-1E5A-4BBB-9549-0B5C0D06DBB8}"/>
              </a:ext>
            </a:extLst>
          </p:cNvPr>
          <p:cNvSpPr>
            <a:spLocks xmlns:a="http://schemas.openxmlformats.org/drawingml/2006/main" noGrp="1"/>
          </p:cNvSpPr>
          <p:nvPr/>
        </p:nvSpPr>
        <p:spPr>
          <a:xfrm xmlns:a="http://schemas.openxmlformats.org/drawingml/2006/main">
            <a:off x="495300" y="650557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defRPr sz="825" b="1">
                <a:solidFill>
                  <a:srgbClr val="667085"/>
                </a:solidFill>
                <a:latin typeface="Arial"/>
                <a:ea typeface="Arial"/>
                <a:cs typeface="Arial"/>
              </a:defRPr>
            </a:pPr>
            <a:r>
              <a:rPr sz="825" b="1">
                <a:solidFill>
                  <a:srgbClr val="667085"/>
                </a:solidFill>
                <a:latin typeface="Arial"/>
                <a:ea typeface="Arial"/>
                <a:cs typeface="Arial"/>
              </a:rPr>
              <a:t>COMMERCEIQ · INTERVIEW CASE STUDY</a:t>
            </a:r>
          </a:p>
        </p:txBody>
      </p:sp>
      <p:sp>
        <p:nvSpPr>
          <p:cNvPr id="18" name="footer-number-5">
            <a:extLst xmlns:a="http://schemas.openxmlformats.org/drawingml/2006/main">
              <a:ext uri="{FF2B5EF4-FFF2-40B4-BE49-F238E27FC236}">
                <a16:creationId xmlns:a16="http://schemas.microsoft.com/office/drawing/2014/main" id="{446C39E7-3F83-49F2-9397-A975BD5E064B}"/>
              </a:ext>
            </a:extLst>
          </p:cNvPr>
          <p:cNvSpPr>
            <a:spLocks xmlns:a="http://schemas.openxmlformats.org/drawingml/2006/main" noGrp="1"/>
          </p:cNvSpPr>
          <p:nvPr/>
        </p:nvSpPr>
        <p:spPr>
          <a:xfrm xmlns:a="http://schemas.openxmlformats.org/drawingml/2006/main">
            <a:off x="11315700" y="65055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r">
              <a:defRPr sz="825" b="0">
                <a:solidFill>
                  <a:srgbClr val="667085"/>
                </a:solidFill>
                <a:latin typeface="Arial"/>
                <a:ea typeface="Arial"/>
                <a:cs typeface="Arial"/>
              </a:defRPr>
            </a:pPr>
            <a:r>
              <a:rPr sz="825" b="0">
                <a:solidFill>
                  <a:srgbClr val="667085"/>
                </a:solidFill>
                <a:latin typeface="Arial"/>
                <a:ea typeface="Arial"/>
                <a:cs typeface="Arial"/>
              </a:rPr>
              <a:t>5</a:t>
            </a:r>
          </a:p>
        </p:txBody>
      </p:sp>
    </p:spTree>
    <p:extLst>
      <p:ext uri="{BB962C8B-B14F-4D97-AF65-F5344CB8AC3E}">
        <p14:creationId xmlns:p14="http://schemas.microsoft.com/office/powerpoint/2010/main" val="81057320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recommendation-title">
            <a:extLst xmlns:a="http://schemas.openxmlformats.org/drawingml/2006/main">
              <a:ext uri="{FF2B5EF4-FFF2-40B4-BE49-F238E27FC236}">
                <a16:creationId xmlns:a16="http://schemas.microsoft.com/office/drawing/2014/main" id="{BE6680E0-ED1F-477B-B92F-306D3FEB7DC1}"/>
              </a:ext>
            </a:extLst>
          </p:cNvPr>
          <p:cNvSpPr>
            <a:spLocks xmlns:a="http://schemas.openxmlformats.org/drawingml/2006/main" noGrp="1"/>
          </p:cNvSpPr>
          <p:nvPr/>
        </p:nvSpPr>
        <p:spPr>
          <a:xfrm xmlns:a="http://schemas.openxmlformats.org/drawingml/2006/main">
            <a:off x="495300" y="400050"/>
            <a:ext cx="11201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985"/>
          </a:bodyPr>
          <a:lstStyle xmlns:a="http://schemas.openxmlformats.org/drawingml/2006/main"/>
          <a:p xmlns:a="http://schemas.openxmlformats.org/drawingml/2006/main">
            <a:pPr algn="l">
              <a:defRPr sz="2850" b="1">
                <a:solidFill>
                  <a:srgbClr val="101827"/>
                </a:solidFill>
                <a:latin typeface="Arial"/>
                <a:ea typeface="Arial"/>
                <a:cs typeface="Arial"/>
              </a:defRPr>
            </a:pPr>
            <a:r>
              <a:rPr sz="2850" b="1">
                <a:solidFill>
                  <a:srgbClr val="101827"/>
                </a:solidFill>
                <a:latin typeface="Arial"/>
                <a:ea typeface="Arial"/>
                <a:cs typeface="Arial"/>
              </a:rPr>
              <a:t>Protect experience while scaling—and test retention deliberately</a:t>
            </a:r>
          </a:p>
        </p:txBody>
      </p:sp>
      <p:sp>
        <p:nvSpPr>
          <p:cNvPr id="2" name="recommendation-subtitle">
            <a:extLst xmlns:a="http://schemas.openxmlformats.org/drawingml/2006/main">
              <a:ext uri="{FF2B5EF4-FFF2-40B4-BE49-F238E27FC236}">
                <a16:creationId xmlns:a16="http://schemas.microsoft.com/office/drawing/2014/main" id="{5C06696A-91EA-4572-9041-5F0B7AC960F0}"/>
              </a:ext>
            </a:extLst>
          </p:cNvPr>
          <p:cNvSpPr>
            <a:spLocks xmlns:a="http://schemas.openxmlformats.org/drawingml/2006/main" noGrp="1"/>
          </p:cNvSpPr>
          <p:nvPr/>
        </p:nvSpPr>
        <p:spPr>
          <a:xfrm xmlns:a="http://schemas.openxmlformats.org/drawingml/2006/main">
            <a:off x="495300" y="1238250"/>
            <a:ext cx="876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0">
                <a:solidFill>
                  <a:srgbClr val="667085"/>
                </a:solidFill>
                <a:latin typeface="Arial"/>
                <a:ea typeface="Arial"/>
                <a:cs typeface="Arial"/>
              </a:defRPr>
            </a:pPr>
            <a:r>
              <a:rPr sz="1575" b="0">
                <a:solidFill>
                  <a:srgbClr val="667085"/>
                </a:solidFill>
                <a:latin typeface="Arial"/>
                <a:ea typeface="Arial"/>
                <a:cs typeface="Arial"/>
              </a:rPr>
              <a:t>The analysis resolves into three practical actions.</a:t>
            </a:r>
          </a:p>
        </p:txBody>
      </p:sp>
      <p:sp>
        <p:nvSpPr>
          <p:cNvPr id="3" name="action-number-01">
            <a:extLst xmlns:a="http://schemas.openxmlformats.org/drawingml/2006/main">
              <a:ext uri="{FF2B5EF4-FFF2-40B4-BE49-F238E27FC236}">
                <a16:creationId xmlns:a16="http://schemas.microsoft.com/office/drawing/2014/main" id="{3CCB07AD-470B-4644-A0C0-A599303C3DE5}"/>
              </a:ext>
            </a:extLst>
          </p:cNvPr>
          <p:cNvSpPr>
            <a:spLocks xmlns:a="http://schemas.openxmlformats.org/drawingml/2006/main" noGrp="1"/>
          </p:cNvSpPr>
          <p:nvPr/>
        </p:nvSpPr>
        <p:spPr>
          <a:xfrm xmlns:a="http://schemas.openxmlformats.org/drawingml/2006/main">
            <a:off x="495300" y="211455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00" b="1">
                <a:solidFill>
                  <a:srgbClr val="2563EB"/>
                </a:solidFill>
                <a:latin typeface="Arial"/>
                <a:ea typeface="Arial"/>
                <a:cs typeface="Arial"/>
              </a:defRPr>
            </a:pPr>
            <a:r>
              <a:rPr sz="1800" b="1">
                <a:solidFill>
                  <a:srgbClr val="2563EB"/>
                </a:solidFill>
                <a:latin typeface="Arial"/>
                <a:ea typeface="Arial"/>
                <a:cs typeface="Arial"/>
              </a:rPr>
              <a:t>01</a:t>
            </a:r>
          </a:p>
        </p:txBody>
      </p:sp>
      <p:sp>
        <p:nvSpPr>
          <p:cNvPr id="4" name="action-rule-01">
            <a:extLst xmlns:a="http://schemas.openxmlformats.org/drawingml/2006/main">
              <a:ext uri="{FF2B5EF4-FFF2-40B4-BE49-F238E27FC236}">
                <a16:creationId xmlns:a16="http://schemas.microsoft.com/office/drawing/2014/main" id="{F3D3B486-2BB7-4632-8A09-534F4F9EF9DE}"/>
              </a:ext>
            </a:extLst>
          </p:cNvPr>
          <p:cNvSpPr>
            <a:spLocks xmlns:a="http://schemas.openxmlformats.org/drawingml/2006/main" noGrp="1"/>
          </p:cNvSpPr>
          <p:nvPr/>
        </p:nvSpPr>
        <p:spPr>
          <a:xfrm xmlns:a="http://schemas.openxmlformats.org/drawingml/2006/main">
            <a:off x="495300" y="2628900"/>
            <a:ext cx="3352800" cy="381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5" name="action-title-01">
            <a:extLst xmlns:a="http://schemas.openxmlformats.org/drawingml/2006/main">
              <a:ext uri="{FF2B5EF4-FFF2-40B4-BE49-F238E27FC236}">
                <a16:creationId xmlns:a16="http://schemas.microsoft.com/office/drawing/2014/main" id="{E7E25AD3-9CF1-48EA-BE33-CA03967241AA}"/>
              </a:ext>
            </a:extLst>
          </p:cNvPr>
          <p:cNvSpPr>
            <a:spLocks xmlns:a="http://schemas.openxmlformats.org/drawingml/2006/main" noGrp="1"/>
          </p:cNvSpPr>
          <p:nvPr/>
        </p:nvSpPr>
        <p:spPr>
          <a:xfrm xmlns:a="http://schemas.openxmlformats.org/drawingml/2006/main">
            <a:off x="495300" y="2914650"/>
            <a:ext cx="335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806"/>
          </a:bodyPr>
          <a:lstStyle xmlns:a="http://schemas.openxmlformats.org/drawingml/2006/main"/>
          <a:p xmlns:a="http://schemas.openxmlformats.org/drawingml/2006/main">
            <a:pPr algn="l">
              <a:defRPr sz="1875" b="1">
                <a:solidFill>
                  <a:srgbClr val="101827"/>
                </a:solidFill>
                <a:latin typeface="Arial"/>
                <a:ea typeface="Arial"/>
                <a:cs typeface="Arial"/>
              </a:defRPr>
            </a:pPr>
            <a:r>
              <a:rPr sz="1875" b="1">
                <a:solidFill>
                  <a:srgbClr val="101827"/>
                </a:solidFill>
                <a:latin typeface="Arial"/>
                <a:ea typeface="Arial"/>
                <a:cs typeface="Arial"/>
              </a:rPr>
              <a:t>Prevent late-order exceptions</a:t>
            </a:r>
          </a:p>
        </p:txBody>
      </p:sp>
      <p:sp>
        <p:nvSpPr>
          <p:cNvPr id="6" name="action-detail-01">
            <a:extLst xmlns:a="http://schemas.openxmlformats.org/drawingml/2006/main">
              <a:ext uri="{FF2B5EF4-FFF2-40B4-BE49-F238E27FC236}">
                <a16:creationId xmlns:a16="http://schemas.microsoft.com/office/drawing/2014/main" id="{3A26B9FC-1717-46C0-B6D2-FB0EB1F8AF00}"/>
              </a:ext>
            </a:extLst>
          </p:cNvPr>
          <p:cNvSpPr>
            <a:spLocks xmlns:a="http://schemas.openxmlformats.org/drawingml/2006/main" noGrp="1"/>
          </p:cNvSpPr>
          <p:nvPr/>
        </p:nvSpPr>
        <p:spPr>
          <a:xfrm xmlns:a="http://schemas.openxmlformats.org/drawingml/2006/main">
            <a:off x="495300" y="3695700"/>
            <a:ext cx="335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667085"/>
                </a:solidFill>
                <a:latin typeface="Arial"/>
                <a:ea typeface="Arial"/>
                <a:cs typeface="Arial"/>
              </a:defRPr>
            </a:pPr>
            <a:r>
              <a:rPr sz="1350" b="0">
                <a:solidFill>
                  <a:srgbClr val="667085"/>
                </a:solidFill>
                <a:latin typeface="Arial"/>
                <a:ea typeface="Arial"/>
                <a:cs typeface="Arial"/>
              </a:rPr>
              <a:t>Build a watchlist using estimated date, seller, carrier handoff, and destination state.</a:t>
            </a:r>
          </a:p>
        </p:txBody>
      </p:sp>
      <p:sp>
        <p:nvSpPr>
          <p:cNvPr id="7" name="action-number-02">
            <a:extLst xmlns:a="http://schemas.openxmlformats.org/drawingml/2006/main">
              <a:ext uri="{FF2B5EF4-FFF2-40B4-BE49-F238E27FC236}">
                <a16:creationId xmlns:a16="http://schemas.microsoft.com/office/drawing/2014/main" id="{9113A4D4-6156-46C8-983F-FA51C5A9342E}"/>
              </a:ext>
            </a:extLst>
          </p:cNvPr>
          <p:cNvSpPr>
            <a:spLocks xmlns:a="http://schemas.openxmlformats.org/drawingml/2006/main" noGrp="1"/>
          </p:cNvSpPr>
          <p:nvPr/>
        </p:nvSpPr>
        <p:spPr>
          <a:xfrm xmlns:a="http://schemas.openxmlformats.org/drawingml/2006/main">
            <a:off x="4324350" y="211455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00" b="1">
                <a:solidFill>
                  <a:srgbClr val="2563EB"/>
                </a:solidFill>
                <a:latin typeface="Arial"/>
                <a:ea typeface="Arial"/>
                <a:cs typeface="Arial"/>
              </a:defRPr>
            </a:pPr>
            <a:r>
              <a:rPr sz="1800" b="1">
                <a:solidFill>
                  <a:srgbClr val="2563EB"/>
                </a:solidFill>
                <a:latin typeface="Arial"/>
                <a:ea typeface="Arial"/>
                <a:cs typeface="Arial"/>
              </a:rPr>
              <a:t>02</a:t>
            </a:r>
          </a:p>
        </p:txBody>
      </p:sp>
      <p:sp>
        <p:nvSpPr>
          <p:cNvPr id="8" name="action-rule-02">
            <a:extLst xmlns:a="http://schemas.openxmlformats.org/drawingml/2006/main">
              <a:ext uri="{FF2B5EF4-FFF2-40B4-BE49-F238E27FC236}">
                <a16:creationId xmlns:a16="http://schemas.microsoft.com/office/drawing/2014/main" id="{87FB264D-8B42-40CD-A50C-A7095C830EDA}"/>
              </a:ext>
            </a:extLst>
          </p:cNvPr>
          <p:cNvSpPr>
            <a:spLocks xmlns:a="http://schemas.openxmlformats.org/drawingml/2006/main" noGrp="1"/>
          </p:cNvSpPr>
          <p:nvPr/>
        </p:nvSpPr>
        <p:spPr>
          <a:xfrm xmlns:a="http://schemas.openxmlformats.org/drawingml/2006/main">
            <a:off x="4324350" y="2628900"/>
            <a:ext cx="3352800" cy="38100"/>
          </a:xfrm>
          <a:prstGeom xmlns:a="http://schemas.openxmlformats.org/drawingml/2006/main" prst="rect">
            <a:avLst/>
          </a:prstGeom>
          <a:solidFill xmlns:a="http://schemas.openxmlformats.org/drawingml/2006/main">
            <a:srgbClr val="60A5FA"/>
          </a:solidFill>
          <a:ln xmlns:a="http://schemas.openxmlformats.org/drawingml/2006/main" w="0">
            <a:solidFill>
              <a:srgbClr val="60A5FA"/>
            </a:solidFill>
            <a:prstDash val="solid"/>
          </a:ln>
        </p:spPr>
      </p:sp>
      <p:sp>
        <p:nvSpPr>
          <p:cNvPr id="9" name="action-title-02">
            <a:extLst xmlns:a="http://schemas.openxmlformats.org/drawingml/2006/main">
              <a:ext uri="{FF2B5EF4-FFF2-40B4-BE49-F238E27FC236}">
                <a16:creationId xmlns:a16="http://schemas.microsoft.com/office/drawing/2014/main" id="{B7AEB490-6AF4-44F6-A1F1-8FB1ECAB2C4E}"/>
              </a:ext>
            </a:extLst>
          </p:cNvPr>
          <p:cNvSpPr>
            <a:spLocks xmlns:a="http://schemas.openxmlformats.org/drawingml/2006/main" noGrp="1"/>
          </p:cNvSpPr>
          <p:nvPr/>
        </p:nvSpPr>
        <p:spPr>
          <a:xfrm xmlns:a="http://schemas.openxmlformats.org/drawingml/2006/main">
            <a:off x="4324350" y="2914650"/>
            <a:ext cx="335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000"/>
          </a:bodyPr>
          <a:lstStyle xmlns:a="http://schemas.openxmlformats.org/drawingml/2006/main"/>
          <a:p xmlns:a="http://schemas.openxmlformats.org/drawingml/2006/main">
            <a:pPr algn="l">
              <a:defRPr sz="1875" b="1">
                <a:solidFill>
                  <a:srgbClr val="101827"/>
                </a:solidFill>
                <a:latin typeface="Arial"/>
                <a:ea typeface="Arial"/>
                <a:cs typeface="Arial"/>
              </a:defRPr>
            </a:pPr>
            <a:r>
              <a:rPr sz="1875" b="1">
                <a:solidFill>
                  <a:srgbClr val="101827"/>
                </a:solidFill>
                <a:latin typeface="Arial"/>
                <a:ea typeface="Arial"/>
                <a:cs typeface="Arial"/>
              </a:rPr>
              <a:t>Prioritize where value is concentrated</a:t>
            </a:r>
          </a:p>
        </p:txBody>
      </p:sp>
      <p:sp>
        <p:nvSpPr>
          <p:cNvPr id="10" name="action-detail-02">
            <a:extLst xmlns:a="http://schemas.openxmlformats.org/drawingml/2006/main">
              <a:ext uri="{FF2B5EF4-FFF2-40B4-BE49-F238E27FC236}">
                <a16:creationId xmlns:a16="http://schemas.microsoft.com/office/drawing/2014/main" id="{9F916C62-EB71-4170-B005-3D2F8DBED7DD}"/>
              </a:ext>
            </a:extLst>
          </p:cNvPr>
          <p:cNvSpPr>
            <a:spLocks xmlns:a="http://schemas.openxmlformats.org/drawingml/2006/main" noGrp="1"/>
          </p:cNvSpPr>
          <p:nvPr/>
        </p:nvSpPr>
        <p:spPr>
          <a:xfrm xmlns:a="http://schemas.openxmlformats.org/drawingml/2006/main">
            <a:off x="4324350" y="3695700"/>
            <a:ext cx="335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667085"/>
                </a:solidFill>
                <a:latin typeface="Arial"/>
                <a:ea typeface="Arial"/>
                <a:cs typeface="Arial"/>
              </a:defRPr>
            </a:pPr>
            <a:r>
              <a:rPr sz="1350" b="0">
                <a:solidFill>
                  <a:srgbClr val="667085"/>
                </a:solidFill>
                <a:latin typeface="Arial"/>
                <a:ea typeface="Arial"/>
                <a:cs typeface="Arial"/>
              </a:rPr>
              <a:t>Monitor service levels first in the highest-GMV states and categories.</a:t>
            </a:r>
          </a:p>
        </p:txBody>
      </p:sp>
      <p:sp>
        <p:nvSpPr>
          <p:cNvPr id="11" name="action-number-03">
            <a:extLst xmlns:a="http://schemas.openxmlformats.org/drawingml/2006/main">
              <a:ext uri="{FF2B5EF4-FFF2-40B4-BE49-F238E27FC236}">
                <a16:creationId xmlns:a16="http://schemas.microsoft.com/office/drawing/2014/main" id="{7B8CC56A-4DE3-4EC1-89A5-67B5F11C206F}"/>
              </a:ext>
            </a:extLst>
          </p:cNvPr>
          <p:cNvSpPr>
            <a:spLocks xmlns:a="http://schemas.openxmlformats.org/drawingml/2006/main" noGrp="1"/>
          </p:cNvSpPr>
          <p:nvPr/>
        </p:nvSpPr>
        <p:spPr>
          <a:xfrm xmlns:a="http://schemas.openxmlformats.org/drawingml/2006/main">
            <a:off x="8153400" y="211455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00" b="1">
                <a:solidFill>
                  <a:srgbClr val="2563EB"/>
                </a:solidFill>
                <a:latin typeface="Arial"/>
                <a:ea typeface="Arial"/>
                <a:cs typeface="Arial"/>
              </a:defRPr>
            </a:pPr>
            <a:r>
              <a:rPr sz="1800" b="1">
                <a:solidFill>
                  <a:srgbClr val="2563EB"/>
                </a:solidFill>
                <a:latin typeface="Arial"/>
                <a:ea typeface="Arial"/>
                <a:cs typeface="Arial"/>
              </a:rPr>
              <a:t>03</a:t>
            </a:r>
          </a:p>
        </p:txBody>
      </p:sp>
      <p:sp>
        <p:nvSpPr>
          <p:cNvPr id="12" name="action-rule-03">
            <a:extLst xmlns:a="http://schemas.openxmlformats.org/drawingml/2006/main">
              <a:ext uri="{FF2B5EF4-FFF2-40B4-BE49-F238E27FC236}">
                <a16:creationId xmlns:a16="http://schemas.microsoft.com/office/drawing/2014/main" id="{221F4CAC-DB72-426D-88BC-938059352334}"/>
              </a:ext>
            </a:extLst>
          </p:cNvPr>
          <p:cNvSpPr>
            <a:spLocks xmlns:a="http://schemas.openxmlformats.org/drawingml/2006/main" noGrp="1"/>
          </p:cNvSpPr>
          <p:nvPr/>
        </p:nvSpPr>
        <p:spPr>
          <a:xfrm xmlns:a="http://schemas.openxmlformats.org/drawingml/2006/main">
            <a:off x="8153400" y="2628900"/>
            <a:ext cx="3352800" cy="38100"/>
          </a:xfrm>
          <a:prstGeom xmlns:a="http://schemas.openxmlformats.org/drawingml/2006/main" prst="rect">
            <a:avLst/>
          </a:prstGeom>
          <a:solidFill xmlns:a="http://schemas.openxmlformats.org/drawingml/2006/main">
            <a:srgbClr val="60A5FA"/>
          </a:solidFill>
          <a:ln xmlns:a="http://schemas.openxmlformats.org/drawingml/2006/main" w="0">
            <a:solidFill>
              <a:srgbClr val="60A5FA"/>
            </a:solidFill>
            <a:prstDash val="solid"/>
          </a:ln>
        </p:spPr>
      </p:sp>
      <p:sp>
        <p:nvSpPr>
          <p:cNvPr id="13" name="action-title-03">
            <a:extLst xmlns:a="http://schemas.openxmlformats.org/drawingml/2006/main">
              <a:ext uri="{FF2B5EF4-FFF2-40B4-BE49-F238E27FC236}">
                <a16:creationId xmlns:a16="http://schemas.microsoft.com/office/drawing/2014/main" id="{93F37687-BE8B-4069-9D8C-CBC2B6E56D42}"/>
              </a:ext>
            </a:extLst>
          </p:cNvPr>
          <p:cNvSpPr>
            <a:spLocks xmlns:a="http://schemas.openxmlformats.org/drawingml/2006/main" noGrp="1"/>
          </p:cNvSpPr>
          <p:nvPr/>
        </p:nvSpPr>
        <p:spPr>
          <a:xfrm xmlns:a="http://schemas.openxmlformats.org/drawingml/2006/main">
            <a:off x="8153400" y="2914650"/>
            <a:ext cx="335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101827"/>
                </a:solidFill>
                <a:latin typeface="Arial"/>
                <a:ea typeface="Arial"/>
                <a:cs typeface="Arial"/>
              </a:defRPr>
            </a:pPr>
            <a:r>
              <a:rPr sz="1875" b="1">
                <a:solidFill>
                  <a:srgbClr val="101827"/>
                </a:solidFill>
                <a:latin typeface="Arial"/>
                <a:ea typeface="Arial"/>
                <a:cs typeface="Arial"/>
              </a:rPr>
              <a:t>Run retention experiments</a:t>
            </a:r>
          </a:p>
        </p:txBody>
      </p:sp>
      <p:sp>
        <p:nvSpPr>
          <p:cNvPr id="14" name="action-detail-03">
            <a:extLst xmlns:a="http://schemas.openxmlformats.org/drawingml/2006/main">
              <a:ext uri="{FF2B5EF4-FFF2-40B4-BE49-F238E27FC236}">
                <a16:creationId xmlns:a16="http://schemas.microsoft.com/office/drawing/2014/main" id="{AF6874F7-02EB-4677-B4FC-FCB07F6F34A6}"/>
              </a:ext>
            </a:extLst>
          </p:cNvPr>
          <p:cNvSpPr>
            <a:spLocks xmlns:a="http://schemas.openxmlformats.org/drawingml/2006/main" noGrp="1"/>
          </p:cNvSpPr>
          <p:nvPr/>
        </p:nvSpPr>
        <p:spPr>
          <a:xfrm xmlns:a="http://schemas.openxmlformats.org/drawingml/2006/main">
            <a:off x="8153400" y="3695700"/>
            <a:ext cx="335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667085"/>
                </a:solidFill>
                <a:latin typeface="Arial"/>
                <a:ea typeface="Arial"/>
                <a:cs typeface="Arial"/>
              </a:defRPr>
            </a:pPr>
            <a:r>
              <a:rPr sz="1350" b="0">
                <a:solidFill>
                  <a:srgbClr val="667085"/>
                </a:solidFill>
                <a:latin typeface="Arial"/>
                <a:ea typeface="Arial"/>
                <a:cs typeface="Arial"/>
              </a:rPr>
              <a:t>Test post-purchase, replenishment, and service-recovery journeys with customer_unique_id.</a:t>
            </a:r>
          </a:p>
        </p:txBody>
      </p:sp>
      <p:sp>
        <p:nvSpPr>
          <p:cNvPr id="15" name="skills-proof">
            <a:extLst xmlns:a="http://schemas.openxmlformats.org/drawingml/2006/main">
              <a:ext uri="{FF2B5EF4-FFF2-40B4-BE49-F238E27FC236}">
                <a16:creationId xmlns:a16="http://schemas.microsoft.com/office/drawing/2014/main" id="{32B582B4-2823-4170-AEC3-F3E1211AFFAE}"/>
              </a:ext>
            </a:extLst>
          </p:cNvPr>
          <p:cNvSpPr>
            <a:spLocks xmlns:a="http://schemas.openxmlformats.org/drawingml/2006/main" noGrp="1"/>
          </p:cNvSpPr>
          <p:nvPr/>
        </p:nvSpPr>
        <p:spPr>
          <a:xfrm xmlns:a="http://schemas.openxmlformats.org/drawingml/2006/main">
            <a:off x="495300" y="5219700"/>
            <a:ext cx="11201400" cy="876300"/>
          </a:xfrm>
          <a:prstGeom xmlns:a="http://schemas.openxmlformats.org/drawingml/2006/main" prst="roundRect">
            <a:avLst>
              <a:gd name="adj" fmla="val 13043"/>
            </a:avLst>
          </a:prstGeom>
          <a:solidFill xmlns:a="http://schemas.openxmlformats.org/drawingml/2006/main">
            <a:srgbClr val="101827"/>
          </a:solidFill>
          <a:ln xmlns:a="http://schemas.openxmlformats.org/drawingml/2006/main" w="9525">
            <a:solidFill>
              <a:srgbClr val="101827"/>
            </a:solidFill>
            <a:prstDash val="solid"/>
          </a:ln>
        </p:spPr>
      </p:sp>
      <p:sp>
        <p:nvSpPr>
          <p:cNvPr id="16" name="skills-proof-text">
            <a:extLst xmlns:a="http://schemas.openxmlformats.org/drawingml/2006/main">
              <a:ext uri="{FF2B5EF4-FFF2-40B4-BE49-F238E27FC236}">
                <a16:creationId xmlns:a16="http://schemas.microsoft.com/office/drawing/2014/main" id="{2A9BEC73-05C6-4888-828D-C9225CA31A6D}"/>
              </a:ext>
            </a:extLst>
          </p:cNvPr>
          <p:cNvSpPr>
            <a:spLocks xmlns:a="http://schemas.openxmlformats.org/drawingml/2006/main" noGrp="1"/>
          </p:cNvSpPr>
          <p:nvPr/>
        </p:nvSpPr>
        <p:spPr>
          <a:xfrm xmlns:a="http://schemas.openxmlformats.org/drawingml/2006/main">
            <a:off x="781050" y="5410200"/>
            <a:ext cx="10629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159"/>
          </a:bodyP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What this project proves: Python engineering · relational modeling · advanced SQL · KPI governance · Power BI · business communication</a:t>
            </a:r>
          </a:p>
        </p:txBody>
      </p:sp>
      <p:sp>
        <p:nvSpPr>
          <p:cNvPr id="17" name="footer-rule-6">
            <a:extLst xmlns:a="http://schemas.openxmlformats.org/drawingml/2006/main">
              <a:ext uri="{FF2B5EF4-FFF2-40B4-BE49-F238E27FC236}">
                <a16:creationId xmlns:a16="http://schemas.microsoft.com/office/drawing/2014/main" id="{E5942D04-6B83-44EA-B781-00754923224A}"/>
              </a:ext>
            </a:extLst>
          </p:cNvPr>
          <p:cNvSpPr>
            <a:spLocks xmlns:a="http://schemas.openxmlformats.org/drawingml/2006/main" noGrp="1"/>
          </p:cNvSpPr>
          <p:nvPr/>
        </p:nvSpPr>
        <p:spPr>
          <a:xfrm xmlns:a="http://schemas.openxmlformats.org/drawingml/2006/main">
            <a:off x="495300" y="6419850"/>
            <a:ext cx="11201400" cy="19050"/>
          </a:xfrm>
          <a:prstGeom xmlns:a="http://schemas.openxmlformats.org/drawingml/2006/main" prst="rect">
            <a:avLst/>
          </a:prstGeom>
          <a:solidFill xmlns:a="http://schemas.openxmlformats.org/drawingml/2006/main">
            <a:srgbClr val="D0D5DD"/>
          </a:solidFill>
          <a:ln xmlns:a="http://schemas.openxmlformats.org/drawingml/2006/main" w="0">
            <a:solidFill>
              <a:srgbClr val="D0D5DD"/>
            </a:solidFill>
            <a:prstDash val="solid"/>
          </a:ln>
        </p:spPr>
      </p:sp>
      <p:sp>
        <p:nvSpPr>
          <p:cNvPr id="18" name="footer-label-6">
            <a:extLst xmlns:a="http://schemas.openxmlformats.org/drawingml/2006/main">
              <a:ext uri="{FF2B5EF4-FFF2-40B4-BE49-F238E27FC236}">
                <a16:creationId xmlns:a16="http://schemas.microsoft.com/office/drawing/2014/main" id="{23825AC2-E5D2-44CF-900B-42C31DBE23C6}"/>
              </a:ext>
            </a:extLst>
          </p:cNvPr>
          <p:cNvSpPr>
            <a:spLocks xmlns:a="http://schemas.openxmlformats.org/drawingml/2006/main" noGrp="1"/>
          </p:cNvSpPr>
          <p:nvPr/>
        </p:nvSpPr>
        <p:spPr>
          <a:xfrm xmlns:a="http://schemas.openxmlformats.org/drawingml/2006/main">
            <a:off x="495300" y="650557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defRPr sz="825" b="1">
                <a:solidFill>
                  <a:srgbClr val="667085"/>
                </a:solidFill>
                <a:latin typeface="Arial"/>
                <a:ea typeface="Arial"/>
                <a:cs typeface="Arial"/>
              </a:defRPr>
            </a:pPr>
            <a:r>
              <a:rPr sz="825" b="1">
                <a:solidFill>
                  <a:srgbClr val="667085"/>
                </a:solidFill>
                <a:latin typeface="Arial"/>
                <a:ea typeface="Arial"/>
                <a:cs typeface="Arial"/>
              </a:rPr>
              <a:t>COMMERCEIQ · END-TO-END ANALYTICS PLATFORM</a:t>
            </a:r>
          </a:p>
        </p:txBody>
      </p:sp>
      <p:sp>
        <p:nvSpPr>
          <p:cNvPr id="19" name="footer-number-6">
            <a:extLst xmlns:a="http://schemas.openxmlformats.org/drawingml/2006/main">
              <a:ext uri="{FF2B5EF4-FFF2-40B4-BE49-F238E27FC236}">
                <a16:creationId xmlns:a16="http://schemas.microsoft.com/office/drawing/2014/main" id="{1C6DC292-191A-42C3-9ACD-6EB02D771ABE}"/>
              </a:ext>
            </a:extLst>
          </p:cNvPr>
          <p:cNvSpPr>
            <a:spLocks xmlns:a="http://schemas.openxmlformats.org/drawingml/2006/main" noGrp="1"/>
          </p:cNvSpPr>
          <p:nvPr/>
        </p:nvSpPr>
        <p:spPr>
          <a:xfrm xmlns:a="http://schemas.openxmlformats.org/drawingml/2006/main">
            <a:off x="11315700" y="65055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r">
              <a:defRPr sz="825" b="0">
                <a:solidFill>
                  <a:srgbClr val="667085"/>
                </a:solidFill>
                <a:latin typeface="Arial"/>
                <a:ea typeface="Arial"/>
                <a:cs typeface="Arial"/>
              </a:defRPr>
            </a:pPr>
            <a:r>
              <a:rPr sz="825" b="0">
                <a:solidFill>
                  <a:srgbClr val="667085"/>
                </a:solidFill>
                <a:latin typeface="Arial"/>
                <a:ea typeface="Arial"/>
                <a:cs typeface="Arial"/>
              </a:rPr>
              <a:t>6</a:t>
            </a:r>
          </a:p>
        </p:txBody>
      </p:sp>
    </p:spTree>
    <p:extLst>
      <p:ext uri="{BB962C8B-B14F-4D97-AF65-F5344CB8AC3E}">
        <p14:creationId xmlns:p14="http://schemas.microsoft.com/office/powerpoint/2010/main" val="196807615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2026-09-01T15:59:13.1270000Z</dcterms:created>
  <dcterms:modified xsi:type="dcterms:W3CDTF">2026-09-01T15:59:13.1270000Z</dcterms:modified>
</coreProperties>
</file>