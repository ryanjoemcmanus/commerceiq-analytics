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0d2e1cf62b484c" /><Relationship Type="http://schemas.openxmlformats.org/officeDocument/2006/relationships/extended-properties" Target="/docProps/app.xml" Id="Rb0df06d8007e45dd" /><Relationship Type="http://schemas.openxmlformats.org/officeDocument/2006/relationships/officeDocument" Target="/ppt/presentation.xml" Id="Rf023f9c5a9b14afd" /></Relationships>
</file>

<file path=ppt/presentation.xml><?xml version="1.0" encoding="utf-8"?>
<p:presentation xmlns:p="http://schemas.openxmlformats.org/presentationml/2006/main">
  <p:sldMasterIdLst>
    <p:sldMasterId xmlns:r="http://schemas.openxmlformats.org/officeDocument/2006/relationships" id="2147483648" r:id="R17d2429fc5bd42f4"/>
  </p:sldMasterIdLst>
  <p:notesMasterIdLst>
    <p:notesMasterId xmlns:r="http://schemas.openxmlformats.org/officeDocument/2006/relationships" r:id="R9149a9a56cb441a0"/>
  </p:notesMasterIdLst>
  <p:sldIdLst>
    <p:sldId xmlns:r="http://schemas.openxmlformats.org/officeDocument/2006/relationships" id="256" r:id="R3920b2be45484a68"/>
    <p:sldId xmlns:r="http://schemas.openxmlformats.org/officeDocument/2006/relationships" id="257" r:id="R5dccbc52d29e446d"/>
    <p:sldId xmlns:r="http://schemas.openxmlformats.org/officeDocument/2006/relationships" id="258" r:id="R5d99f66d02ba472f"/>
    <p:sldId xmlns:r="http://schemas.openxmlformats.org/officeDocument/2006/relationships" id="259" r:id="R2e849f6b02d440f7"/>
    <p:sldId xmlns:r="http://schemas.openxmlformats.org/officeDocument/2006/relationships" id="260" r:id="Ra1ad215e10984e59"/>
    <p:sldId xmlns:r="http://schemas.openxmlformats.org/officeDocument/2006/relationships" id="261" r:id="R10edea6caa9e41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e8555e0731477b" /><Relationship Type="http://schemas.openxmlformats.org/officeDocument/2006/relationships/slideMaster" Target="/ppt/slideMasters/slideMaster1.xml" Id="R17d2429fc5bd42f4" /><Relationship Type="http://schemas.openxmlformats.org/officeDocument/2006/relationships/notesMaster" Target="/ppt/notesMasters/notesMaster1.xml" Id="R9149a9a56cb441a0" /><Relationship Type="http://schemas.openxmlformats.org/officeDocument/2006/relationships/presProps" Target="/ppt/presProps.xml" Id="R40e16ee77ad8454f" /><Relationship Type="http://schemas.openxmlformats.org/officeDocument/2006/relationships/tableStyles" Target="/ppt/tableStyles.xml" Id="R38cab63628f4405f" /><Relationship Type="http://schemas.openxmlformats.org/officeDocument/2006/relationships/slide" Target="/ppt/slides/slide1.xml" Id="R3920b2be45484a68" /><Relationship Type="http://schemas.openxmlformats.org/officeDocument/2006/relationships/slide" Target="/ppt/slides/slide2.xml" Id="R5dccbc52d29e446d" /><Relationship Type="http://schemas.openxmlformats.org/officeDocument/2006/relationships/slide" Target="/ppt/slides/slide3.xml" Id="R5d99f66d02ba472f" /><Relationship Type="http://schemas.openxmlformats.org/officeDocument/2006/relationships/slide" Target="/ppt/slides/slide4.xml" Id="R2e849f6b02d440f7" /><Relationship Type="http://schemas.openxmlformats.org/officeDocument/2006/relationships/slide" Target="/ppt/slides/slide5.xml" Id="Ra1ad215e10984e59" /><Relationship Type="http://schemas.openxmlformats.org/officeDocument/2006/relationships/slide" Target="/ppt/slides/slide6.xml" Id="R10edea6caa9e41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c6bf57a73654d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732606d57a64a63" /><Relationship Type="http://schemas.openxmlformats.org/officeDocument/2006/relationships/notesMaster" Target="/ppt/notesMasters/notesMaster1.xml" Id="R0c809fff13fc477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d56acefa054292" /><Relationship Type="http://schemas.openxmlformats.org/officeDocument/2006/relationships/notesMaster" Target="/ppt/notesMasters/notesMaster1.xml" Id="R253e2562cc0f49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ab1e9049ef473d" /><Relationship Type="http://schemas.openxmlformats.org/officeDocument/2006/relationships/notesMaster" Target="/ppt/notesMasters/notesMaster1.xml" Id="Rce152b581c1d43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9ea3f3817347dd" /><Relationship Type="http://schemas.openxmlformats.org/officeDocument/2006/relationships/notesMaster" Target="/ppt/notesMasters/notesMaster1.xml" Id="Rcbb7b273332c46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6f12de236f490d" /><Relationship Type="http://schemas.openxmlformats.org/officeDocument/2006/relationships/notesMaster" Target="/ppt/notesMasters/notesMaster1.xml" Id="Rfbbee7d7a6b04742" /></Relationships>
</file>

<file path=ppt/notesSlides/_rels/notesSlide6.xml.rels>&#65279;<?xml version="1.0" encoding="utf-8"?><Relationships xmlns="http://schemas.openxmlformats.org/package/2006/relationships"><Relationship Type="http://schemas.openxmlformats.org/officeDocument/2006/relationships/slide" Target="/ppt/slides/slide6.xml" Id="Rf6ace1313b774f7f" /><Relationship Type="http://schemas.openxmlformats.org/officeDocument/2006/relationships/notesMaster" Target="/ppt/notesMasters/notesMaster1.xml" Id="Raa60c3dc8a874e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used the public Olist dataset because it behaves like a real marketplace: multiple related files, inconsistent grains, and enough operational detail to make the business questions interesting. This walkthrough follows the data from ingestion to the dashboard.</a:t>
            </a:r>
          </a:p>
          <a:p xmlns:a="http://schemas.openxmlformats.org/drawingml/2006/main">
            <a:r>
              <a:t/>
            </a:r>
          </a:p>
          <a:p xmlns:a="http://schemas.openxmlformats.org/drawingml/2006/main">
            <a:r>
              <a:t>[Sources]</a:t>
            </a:r>
          </a:p>
          <a:p xmlns:a="http://schemas.openxmlformats.org/drawingml/2006/main">
            <a:r>
              <a:t>- Local asset: images/commerceiq-dashboard-1.png</a:t>
            </a:r>
          </a:p>
          <a:p xmlns:a="http://schemas.openxmlformats.org/drawingml/2006/main">
            <a:r>
              <a:t>- Local project: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CSVs are never modified. The audit runs first, then reusable cleaning rules create processed tables. PostgreSQL enforces the relational model, SQL defines the metrics, and Power BI reads validated extracts rather than raw files.</a:t>
            </a:r>
          </a:p>
          <a:p xmlns:a="http://schemas.openxmlformats.org/drawingml/2006/main">
            <a:r>
              <a:t/>
            </a:r>
          </a:p>
          <a:p xmlns:a="http://schemas.openxmlformats.org/drawingml/2006/main">
            <a:r>
              <a:t>[Sources]</a:t>
            </a:r>
          </a:p>
          <a:p xmlns:a="http://schemas.openxmlformats.org/drawingml/2006/main">
            <a:r>
              <a:t>- Local project: docs/architecture.md</a:t>
            </a:r>
          </a:p>
          <a:p xmlns:a="http://schemas.openxmlformats.org/drawingml/2006/main">
            <a:r>
              <a:t>- Local code: src/data_quality.py, src/cleaning_pipeline.py, src/database_loader.py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audit found nine source files and 1,550,922 source rows. It checks shape, missingness, duplicates, likely keys, timestamps, relationships, and business rules. The original files stay untouched, and 23 tests protect the reusable logic.</a:t>
            </a:r>
          </a:p>
          <a:p xmlns:a="http://schemas.openxmlformats.org/drawingml/2006/main">
            <a:r>
              <a:t/>
            </a:r>
          </a:p>
          <a:p xmlns:a="http://schemas.openxmlformats.org/drawingml/2006/main">
            <a:r>
              <a:t>[Sources]</a:t>
            </a:r>
          </a:p>
          <a:p xmlns:a="http://schemas.openxmlformats.org/drawingml/2006/main">
            <a:r>
              <a:t>- Local output: reports/data_quality/audit_summary.json</a:t>
            </a:r>
          </a:p>
          <a:p xmlns:a="http://schemas.openxmlformats.org/drawingml/2006/main">
            <a:r>
              <a:t>- Local tests: tests/</a:t>
            </a:r>
          </a:p>
          <a:p xmlns:a="http://schemas.openxmlformats.org/drawingml/2006/main">
            <a:r>
              <a:t>- Local notebooks: notebooks/01_data_quality_audit.ipynb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clearest analytical pattern is the relationship between delivery timing and low reviews. I would use this as an operational prioritization signal, not claim that lateness caused every poor review.</a:t>
            </a:r>
          </a:p>
          <a:p xmlns:a="http://schemas.openxmlformats.org/drawingml/2006/main">
            <a:r>
              <a:t/>
            </a:r>
          </a:p>
          <a:p xmlns:a="http://schemas.openxmlformats.org/drawingml/2006/main">
            <a:r>
              <a:t>[Sources]</a:t>
            </a:r>
          </a:p>
          <a:p xmlns:a="http://schemas.openxmlformats.org/drawingml/2006/main">
            <a:r>
              <a:t>- Local output: reports/analytics/delivery_review_relationship.csv</a:t>
            </a:r>
          </a:p>
          <a:p xmlns:a="http://schemas.openxmlformats.org/drawingml/2006/main">
            <a:r>
              <a:t>- Local SQL: sql/advanced_analysis.sql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makes concentration easy to see. SP, RJ, and MG account for most delivered GMV, while credit cards dominate payment value. The state selector supports focused market comparison.</a:t>
            </a:r>
          </a:p>
          <a:p xmlns:a="http://schemas.openxmlformats.org/drawingml/2006/main">
            <a:r>
              <a:t/>
            </a:r>
          </a:p>
          <a:p xmlns:a="http://schemas.openxmlformats.org/drawingml/2006/main">
            <a:r>
              <a:t>[Sources]</a:t>
            </a:r>
          </a:p>
          <a:p xmlns:a="http://schemas.openxmlformats.org/drawingml/2006/main">
            <a:r>
              <a:t>- Local asset: images/commerceiq-dashboard-3.png</a:t>
            </a:r>
          </a:p>
          <a:p xmlns:a="http://schemas.openxmlformats.org/drawingml/2006/main">
            <a:r>
              <a:t>- Local outputs: reports/analytics/state_performance.csv, reports/analytics/payment_method_performance.csv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not a machine-learning model. It is better operational follow-up and richer economics. Product cost and marketing spend would allow contribution-margin and acquisition analyses that the public data cannot support today.</a:t>
            </a:r>
          </a:p>
          <a:p xmlns:a="http://schemas.openxmlformats.org/drawingml/2006/main">
            <a:r>
              <a:t/>
            </a:r>
          </a:p>
          <a:p xmlns:a="http://schemas.openxmlformats.org/drawingml/2006/main">
            <a:r>
              <a:t>[Sources]</a:t>
            </a:r>
          </a:p>
          <a:p xmlns:a="http://schemas.openxmlformats.org/drawingml/2006/main">
            <a:r>
              <a:t>- Local project: docs/conclusion.md</a:t>
            </a:r>
          </a:p>
          <a:p xmlns:a="http://schemas.openxmlformats.org/drawingml/2006/main">
            <a:r>
              <a:t>- Local project: docs/kpi_definitions.md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aeac666add4a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6a85a3434c480a" /><Relationship Type="http://schemas.openxmlformats.org/officeDocument/2006/relationships/slideLayout" Target="/ppt/slideLayouts/slideLayout1.xml" Id="Rdc6e56c8d86d42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6e56c8d86d42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52b72b462c4039" /><Relationship Type="http://schemas.openxmlformats.org/officeDocument/2006/relationships/image" Target="/ppt/media/image.png" Id="R6905216dda764373" /><Relationship Type="http://schemas.openxmlformats.org/officeDocument/2006/relationships/notesSlide" Target="/ppt/notesSlides/notesSlide1.xml" Id="R95e08dfb8ef64ee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ca873fa49548bf" /><Relationship Type="http://schemas.openxmlformats.org/officeDocument/2006/relationships/notesSlide" Target="/ppt/notesSlides/notesSlide2.xml" Id="Rcea893e81ac849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93b9b41cb1434c" /><Relationship Type="http://schemas.openxmlformats.org/officeDocument/2006/relationships/notesSlide" Target="/ppt/notesSlides/notesSlide3.xml" Id="Rd818f5563717473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d9724649fd47c5" /><Relationship Type="http://schemas.openxmlformats.org/officeDocument/2006/relationships/chart" Target="/ppt/slides/charts/chart1.xml" Id="Ra185c4863c684ae0" /><Relationship Type="http://schemas.openxmlformats.org/officeDocument/2006/relationships/notesSlide" Target="/ppt/notesSlides/notesSlide4.xml" Id="R4a4627cd1c0d42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5ece3aefed049d0" /><Relationship Type="http://schemas.openxmlformats.org/officeDocument/2006/relationships/image" Target="/ppt/media/image2.png" Id="R033a825be9e941a4" /><Relationship Type="http://schemas.openxmlformats.org/officeDocument/2006/relationships/notesSlide" Target="/ppt/notesSlides/notesSlide5.xml" Id="R4642f57c859645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11437576964ea7" /><Relationship Type="http://schemas.openxmlformats.org/officeDocument/2006/relationships/notesSlide" Target="/ppt/notesSlides/notesSlide6.xml" Id="Rd5ca48b3f25d45d2" /></Relationships>
</file>

<file path=ppt/slides/charts/chart1.xml><?xml version="1.0" encoding="utf-8"?>
<c:chartSpace xmlns:c="http://schemas.openxmlformats.org/drawingml/2006/chart">
  <c:lang val="en-US"/>
  <c:chart>
    <c:plotArea>
      <c:barChart>
        <c:barDir val="col"/>
        <c:grouping val="clustered"/>
        <c:varyColors val="0"/>
        <c:ser>
          <c:idx val="0"/>
          <c:order val="0"/>
          <c:tx>
            <c:v>Low-review rate</c:v>
          </c:tx>
          <c:spPr>
            <a:solidFill xmlns:a="http://schemas.openxmlformats.org/drawingml/2006/main">
              <a:srgbClr val="2563EB"/>
            </a:solidFill>
          </c:spPr>
          <c:cat>
            <c:strLit>
              <c:ptCount val="5"/>
              <c:pt idx="0">
                <c:v>2+ days early</c:v>
              </c:pt>
              <c:pt idx="1">
                <c:v>On time / 1 early</c:v>
              </c:pt>
              <c:pt idx="2">
                <c:v>1-3 days late</c:v>
              </c:pt>
              <c:pt idx="3">
                <c:v>4-7 days late</c:v>
              </c:pt>
              <c:pt idx="4">
                <c:v>8+ days late</c:v>
              </c:pt>
            </c:strLit>
          </c:cat>
          <c:val>
            <c:numLit>
              <c:formatCode>General</c:formatCode>
              <c:ptCount val="5"/>
              <c:pt idx="0">
                <c:v>9.16</c:v>
              </c:pt>
              <c:pt idx="1">
                <c:v>11.61</c:v>
              </c:pt>
              <c:pt idx="2">
                <c:v>32.18</c:v>
              </c:pt>
              <c:pt idx="3">
                <c:v>67.56</c:v>
              </c:pt>
              <c:pt idx="4">
                <c:v>79.18</c:v>
              </c:pt>
            </c:numLit>
          </c:val>
        </c:ser>
        <c:dLbls>
          <c:txPr>
            <a:bodyPr xmlns:a="http://schemas.openxmlformats.org/drawingml/2006/main" anchorCtr="1"/>
            <a:lstStyle xmlns:a="http://schemas.openxmlformats.org/drawingml/2006/main"/>
            <a:p xmlns:a="http://schemas.openxmlformats.org/drawingml/2006/main">
              <a:pPr>
                <a:defRPr sz="1050" b="1">
                  <a:solidFill>
                    <a:srgbClr val="101827"/>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0D5DD"/>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085"/>
                </a:solidFill>
              </a:defRPr>
            </a:pPr>
          </a:p>
        </c:txPr>
        <c:crossAx val="48672768"/>
      </c:catAx>
      <c:valAx>
        <c:axId val="48672768"/>
        <c:scaling>
          <c:orientation val="minMax"/>
          <c:max val="90"/>
          <c:min val="0"/>
        </c:scaling>
        <c:delete val="0"/>
        <c:axPos val="l"/>
        <c:majorGridlines>
          <c:spPr>
            <a:ln xmlns:a="http://schemas.openxmlformats.org/drawingml/2006/main" w="9525">
              <a:solidFill>
                <a:srgbClr val="D0D5DD"/>
              </a:solidFill>
              <a:prstDash val="solid"/>
            </a:ln>
          </c:spPr>
        </c:majorGridlines>
        <c:title>
          <c:tx>
            <c:rich>
              <a:bodyPr xmlns:a="http://schemas.openxmlformats.org/drawingml/2006/main"/>
              <a:lstStyle xmlns:a="http://schemas.openxmlformats.org/drawingml/2006/main"/>
              <a:p xmlns:a="http://schemas.openxmlformats.org/drawingml/2006/main">
                <a:r>
                  <a:rPr sz="1050" b="1">
                    <a:solidFill>
                      <a:srgbClr val="667085"/>
                    </a:solidFill>
                  </a:rPr>
                  <a:t>Low-review rate (%)</a:t>
                </a:r>
              </a:p>
            </c:rich>
          </c:tx>
          <c:overlay val="0"/>
          <c:txPr>
            <a:bodyPr xmlns:a="http://schemas.openxmlformats.org/drawingml/2006/main" anchorCtr="1"/>
            <a:lstStyle xmlns:a="http://schemas.openxmlformats.org/drawingml/2006/main"/>
            <a:p xmlns:a="http://schemas.openxmlformats.org/drawingml/2006/main">
              <a:pPr>
                <a:defRPr sz="1050" b="1">
                  <a:solidFill>
                    <a:srgbClr val="667085"/>
                  </a:solidFill>
                </a:defRPr>
              </a:pPr>
            </a:p>
          </c:txPr>
        </c:title>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75">
                <a:solidFill>
                  <a:srgbClr val="667085"/>
                </a:solidFill>
              </a:defRPr>
            </a:pPr>
          </a:p>
        </c:txPr>
        <c:crossAx val="48650112"/>
        <c:crossBetween val="between"/>
        <c:majorUnit val="3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ver-eyebrow">
            <a:extLst xmlns:a="http://schemas.openxmlformats.org/drawingml/2006/main">
              <a:ext uri="{FF2B5EF4-FFF2-40B4-BE49-F238E27FC236}">
                <a16:creationId xmlns:a16="http://schemas.microsoft.com/office/drawing/2014/main" id="{AA53789A-4EA6-4983-A9DD-49705FED4BC5}"/>
              </a:ext>
            </a:extLst>
          </p:cNvPr>
          <p:cNvSpPr>
            <a:spLocks xmlns:a="http://schemas.openxmlformats.org/drawingml/2006/main" noGrp="1"/>
          </p:cNvSpPr>
          <p:nvPr/>
        </p:nvSpPr>
        <p:spPr>
          <a:xfrm xmlns:a="http://schemas.openxmlformats.org/drawingml/2006/main">
            <a:off x="495300" y="4953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050" b="1">
                <a:solidFill>
                  <a:srgbClr val="2563EB"/>
                </a:solidFill>
                <a:latin typeface="Arial"/>
                <a:ea typeface="Arial"/>
                <a:cs typeface="Arial"/>
              </a:defRPr>
            </a:pPr>
            <a:r>
              <a:rPr sz="1050" b="1">
                <a:solidFill>
                  <a:srgbClr val="2563EB"/>
                </a:solidFill>
                <a:latin typeface="Arial"/>
                <a:ea typeface="Arial"/>
                <a:cs typeface="Arial"/>
              </a:rPr>
              <a:t>OLIST E-COMMERCE · PROJECT WALKTHROUGH</a:t>
            </a:r>
          </a:p>
        </p:txBody>
      </p:sp>
      <p:sp>
        <p:nvSpPr>
          <p:cNvPr id="2" name="cover-title">
            <a:extLst xmlns:a="http://schemas.openxmlformats.org/drawingml/2006/main">
              <a:ext uri="{FF2B5EF4-FFF2-40B4-BE49-F238E27FC236}">
                <a16:creationId xmlns:a16="http://schemas.microsoft.com/office/drawing/2014/main" id="{07EF5134-C7E6-49B8-882B-E43F41FFF25F}"/>
              </a:ext>
            </a:extLst>
          </p:cNvPr>
          <p:cNvSpPr>
            <a:spLocks xmlns:a="http://schemas.openxmlformats.org/drawingml/2006/main" noGrp="1"/>
          </p:cNvSpPr>
          <p:nvPr/>
        </p:nvSpPr>
        <p:spPr>
          <a:xfrm xmlns:a="http://schemas.openxmlformats.org/drawingml/2006/main">
            <a:off x="495300" y="1600200"/>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4500" b="1">
                <a:solidFill>
                  <a:srgbClr val="101827"/>
                </a:solidFill>
                <a:latin typeface="Arial"/>
                <a:ea typeface="Arial"/>
                <a:cs typeface="Arial"/>
              </a:defRPr>
            </a:pPr>
            <a:r>
              <a:rPr sz="4500" b="1">
                <a:solidFill>
                  <a:srgbClr val="101827"/>
                </a:solidFill>
                <a:latin typeface="Arial"/>
                <a:ea typeface="Arial"/>
                <a:cs typeface="Arial"/>
              </a:rPr>
              <a:t>CommerceIQ</a:t>
            </a:r>
          </a:p>
        </p:txBody>
      </p:sp>
      <p:sp>
        <p:nvSpPr>
          <p:cNvPr id="3" name="cover-subtitle">
            <a:extLst xmlns:a="http://schemas.openxmlformats.org/drawingml/2006/main">
              <a:ext uri="{FF2B5EF4-FFF2-40B4-BE49-F238E27FC236}">
                <a16:creationId xmlns:a16="http://schemas.microsoft.com/office/drawing/2014/main" id="{A46D6E4D-0C17-40BB-968E-02BBFE5FDF64}"/>
              </a:ext>
            </a:extLst>
          </p:cNvPr>
          <p:cNvSpPr>
            <a:spLocks xmlns:a="http://schemas.openxmlformats.org/drawingml/2006/main" noGrp="1"/>
          </p:cNvSpPr>
          <p:nvPr/>
        </p:nvSpPr>
        <p:spPr>
          <a:xfrm xmlns:a="http://schemas.openxmlformats.org/drawingml/2006/main">
            <a:off x="495300" y="2495550"/>
            <a:ext cx="4953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150" b="1">
                <a:solidFill>
                  <a:srgbClr val="101827"/>
                </a:solidFill>
                <a:latin typeface="Arial"/>
                <a:ea typeface="Arial"/>
                <a:cs typeface="Arial"/>
              </a:defRPr>
            </a:pPr>
            <a:r>
              <a:rPr sz="3150" b="1">
                <a:solidFill>
                  <a:srgbClr val="101827"/>
                </a:solidFill>
                <a:latin typeface="Arial"/>
                <a:ea typeface="Arial"/>
                <a:cs typeface="Arial"/>
              </a:rPr>
              <a:t>From Raw Files to</a:t>
            </a:r>
          </a:p>
          <a:p xmlns:a="http://schemas.openxmlformats.org/drawingml/2006/main">
            <a:pPr algn="l">
              <a:buNone/>
              <a:defRPr sz="3150" b="1">
                <a:solidFill>
                  <a:srgbClr val="101827"/>
                </a:solidFill>
                <a:latin typeface="Arial"/>
                <a:ea typeface="Arial"/>
                <a:cs typeface="Arial"/>
              </a:defRPr>
            </a:pPr>
            <a:r>
              <a:rPr sz="3150" b="1">
                <a:solidFill>
                  <a:srgbClr val="101827"/>
                </a:solidFill>
                <a:latin typeface="Arial"/>
                <a:ea typeface="Arial"/>
                <a:cs typeface="Arial"/>
              </a:rPr>
              <a:t>Business Decisions</a:t>
            </a:r>
          </a:p>
        </p:txBody>
      </p:sp>
      <p:sp>
        <p:nvSpPr>
          <p:cNvPr id="4" name="cover-description">
            <a:extLst xmlns:a="http://schemas.openxmlformats.org/drawingml/2006/main">
              <a:ext uri="{FF2B5EF4-FFF2-40B4-BE49-F238E27FC236}">
                <a16:creationId xmlns:a16="http://schemas.microsoft.com/office/drawing/2014/main" id="{5C0A6691-A33D-4DFF-83E0-1E9F2C351BB6}"/>
              </a:ext>
            </a:extLst>
          </p:cNvPr>
          <p:cNvSpPr>
            <a:spLocks xmlns:a="http://schemas.openxmlformats.org/drawingml/2006/main" noGrp="1"/>
          </p:cNvSpPr>
          <p:nvPr/>
        </p:nvSpPr>
        <p:spPr>
          <a:xfrm xmlns:a="http://schemas.openxmlformats.org/drawingml/2006/main">
            <a:off x="495300" y="443865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667085"/>
                </a:solidFill>
                <a:latin typeface="Arial"/>
                <a:ea typeface="Arial"/>
                <a:cs typeface="Arial"/>
              </a:defRPr>
            </a:pPr>
            <a:r>
              <a:rPr sz="1575" b="0">
                <a:solidFill>
                  <a:srgbClr val="667085"/>
                </a:solidFill>
                <a:latin typeface="Arial"/>
                <a:ea typeface="Arial"/>
                <a:cs typeface="Arial"/>
              </a:rPr>
              <a:t>Python · PostgreSQL · SQL · Power BI</a:t>
            </a:r>
          </a:p>
          <a:p xmlns:a="http://schemas.openxmlformats.org/drawingml/2006/main">
            <a:pPr algn="l">
              <a:buNone/>
              <a:defRPr sz="1575" b="0">
                <a:solidFill>
                  <a:srgbClr val="667085"/>
                </a:solidFill>
                <a:latin typeface="Arial"/>
                <a:ea typeface="Arial"/>
                <a:cs typeface="Arial"/>
              </a:defRPr>
            </a:pPr>
            <a:r>
              <a:rPr sz="1575" b="0">
                <a:solidFill>
                  <a:srgbClr val="667085"/>
                </a:solidFill>
                <a:latin typeface="Arial"/>
                <a:ea typeface="Arial"/>
                <a:cs typeface="Arial"/>
              </a:rPr>
              <a:t>Nine source files, one traceable analytics workflow.</a:t>
            </a:r>
          </a:p>
        </p:txBody>
      </p:sp>
      <p:sp>
        <p:nvSpPr>
          <p:cNvPr id="5" name="cover-image-frame">
            <a:extLst xmlns:a="http://schemas.openxmlformats.org/drawingml/2006/main">
              <a:ext uri="{FF2B5EF4-FFF2-40B4-BE49-F238E27FC236}">
                <a16:creationId xmlns:a16="http://schemas.microsoft.com/office/drawing/2014/main" id="{451E9837-29D5-42B0-BDFE-333842508A86}"/>
              </a:ext>
            </a:extLst>
          </p:cNvPr>
          <p:cNvSpPr>
            <a:spLocks xmlns:a="http://schemas.openxmlformats.org/drawingml/2006/main" noGrp="1"/>
          </p:cNvSpPr>
          <p:nvPr/>
        </p:nvSpPr>
        <p:spPr>
          <a:xfrm xmlns:a="http://schemas.openxmlformats.org/drawingml/2006/main">
            <a:off x="5905500" y="495300"/>
            <a:ext cx="5791200" cy="5410200"/>
          </a:xfrm>
          <a:prstGeom xmlns:a="http://schemas.openxmlformats.org/drawingml/2006/main" prst="roundRect">
            <a:avLst>
              <a:gd name="adj" fmla="val 2113"/>
            </a:avLst>
          </a:prstGeom>
          <a:solidFill xmlns:a="http://schemas.openxmlformats.org/drawingml/2006/main">
            <a:srgbClr val="EFF6FF"/>
          </a:solidFill>
          <a:ln xmlns:a="http://schemas.openxmlformats.org/drawingml/2006/main" w="9525">
            <a:solidFill>
              <a:srgbClr val="D0D5DD"/>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905216dda764373"/>
          <a:stretch xmlns:a="http://schemas.openxmlformats.org/drawingml/2006/main"/>
        </p:blipFill>
        <p:spPr>
          <a:xfrm xmlns:a="http://schemas.openxmlformats.org/drawingml/2006/main">
            <a:off x="6096000" y="1636005"/>
            <a:ext cx="5410200" cy="3128790"/>
          </a:xfrm>
          <a:prstGeom xmlns:a="http://schemas.openxmlformats.org/drawingml/2006/main" prst="rect">
            <a:avLst/>
          </a:prstGeom>
        </p:spPr>
      </p:pic>
      <p:sp>
        <p:nvSpPr>
          <p:cNvPr id="7" name="cover-footer">
            <a:extLst xmlns:a="http://schemas.openxmlformats.org/drawingml/2006/main">
              <a:ext uri="{FF2B5EF4-FFF2-40B4-BE49-F238E27FC236}">
                <a16:creationId xmlns:a16="http://schemas.microsoft.com/office/drawing/2014/main" id="{4A352993-E0DA-487E-AD50-B2B4CBC409FC}"/>
              </a:ext>
            </a:extLst>
          </p:cNvPr>
          <p:cNvSpPr>
            <a:spLocks xmlns:a="http://schemas.openxmlformats.org/drawingml/2006/main" noGrp="1"/>
          </p:cNvSpPr>
          <p:nvPr/>
        </p:nvSpPr>
        <p:spPr>
          <a:xfrm xmlns:a="http://schemas.openxmlformats.org/drawingml/2006/main">
            <a:off x="495300" y="60960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67085"/>
                </a:solidFill>
                <a:latin typeface="Arial"/>
                <a:ea typeface="Arial"/>
                <a:cs typeface="Arial"/>
              </a:defRPr>
            </a:pPr>
            <a:r>
              <a:rPr sz="1200" b="0">
                <a:solidFill>
                  <a:srgbClr val="667085"/>
                </a:solidFill>
                <a:latin typeface="Arial"/>
                <a:ea typeface="Arial"/>
                <a:cs typeface="Arial"/>
              </a:rPr>
              <a:t>Brazilian Olist public e-commerce dataset</a:t>
            </a:r>
          </a:p>
        </p:txBody>
      </p:sp>
    </p:spTree>
    <p:extLst>
      <p:ext uri="{BB962C8B-B14F-4D97-AF65-F5344CB8AC3E}">
        <p14:creationId xmlns:p14="http://schemas.microsoft.com/office/powerpoint/2010/main" val="5009935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architecture-title">
            <a:extLst xmlns:a="http://schemas.openxmlformats.org/drawingml/2006/main">
              <a:ext uri="{FF2B5EF4-FFF2-40B4-BE49-F238E27FC236}">
                <a16:creationId xmlns:a16="http://schemas.microsoft.com/office/drawing/2014/main" id="{9FF7D580-88BA-45B6-9E6B-9D15F87321BC}"/>
              </a:ext>
            </a:extLst>
          </p:cNvPr>
          <p:cNvSpPr>
            <a:spLocks xmlns:a="http://schemas.openxmlformats.org/drawingml/2006/main" noGrp="1"/>
          </p:cNvSpPr>
          <p:nvPr/>
        </p:nvSpPr>
        <p:spPr>
          <a:xfrm xmlns:a="http://schemas.openxmlformats.org/drawingml/2006/main">
            <a:off x="495300" y="400050"/>
            <a:ext cx="11201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01827"/>
                </a:solidFill>
                <a:latin typeface="Arial"/>
                <a:ea typeface="Arial"/>
                <a:cs typeface="Arial"/>
              </a:defRPr>
            </a:pPr>
            <a:r>
              <a:rPr sz="2850" b="1">
                <a:solidFill>
                  <a:srgbClr val="101827"/>
                </a:solidFill>
                <a:latin typeface="Arial"/>
                <a:ea typeface="Arial"/>
                <a:cs typeface="Arial"/>
              </a:rPr>
              <a:t>I built the project in layers so every number can be traced back</a:t>
            </a:r>
          </a:p>
        </p:txBody>
      </p:sp>
      <p:sp>
        <p:nvSpPr>
          <p:cNvPr id="2" name="architecture-subtitle">
            <a:extLst xmlns:a="http://schemas.openxmlformats.org/drawingml/2006/main">
              <a:ext uri="{FF2B5EF4-FFF2-40B4-BE49-F238E27FC236}">
                <a16:creationId xmlns:a16="http://schemas.microsoft.com/office/drawing/2014/main" id="{3E6B7C4D-B414-4FE7-B039-6F2F71071AC9}"/>
              </a:ext>
            </a:extLst>
          </p:cNvPr>
          <p:cNvSpPr>
            <a:spLocks xmlns:a="http://schemas.openxmlformats.org/drawingml/2006/main" noGrp="1"/>
          </p:cNvSpPr>
          <p:nvPr/>
        </p:nvSpPr>
        <p:spPr>
          <a:xfrm xmlns:a="http://schemas.openxmlformats.org/drawingml/2006/main">
            <a:off x="495300" y="12001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0">
                <a:solidFill>
                  <a:srgbClr val="667085"/>
                </a:solidFill>
                <a:latin typeface="Arial"/>
                <a:ea typeface="Arial"/>
                <a:cs typeface="Arial"/>
              </a:defRPr>
            </a:pPr>
            <a:r>
              <a:rPr sz="1500" b="0">
                <a:solidFill>
                  <a:srgbClr val="667085"/>
                </a:solidFill>
                <a:latin typeface="Arial"/>
                <a:ea typeface="Arial"/>
                <a:cs typeface="Arial"/>
              </a:rPr>
              <a:t>Raw files stay untouched, and each step has a check before the next one begins.</a:t>
            </a:r>
          </a:p>
        </p:txBody>
      </p:sp>
      <p:sp>
        <p:nvSpPr>
          <p:cNvPr id="3" name="process-connector-1">
            <a:extLst xmlns:a="http://schemas.openxmlformats.org/drawingml/2006/main">
              <a:ext uri="{FF2B5EF4-FFF2-40B4-BE49-F238E27FC236}">
                <a16:creationId xmlns:a16="http://schemas.microsoft.com/office/drawing/2014/main" id="{ADF1B501-CB40-482C-87B8-F442BD6D0BC8}"/>
              </a:ext>
            </a:extLst>
          </p:cNvPr>
          <p:cNvSpPr>
            <a:spLocks xmlns:a="http://schemas.openxmlformats.org/drawingml/2006/main" noGrp="1"/>
          </p:cNvSpPr>
          <p:nvPr/>
        </p:nvSpPr>
        <p:spPr>
          <a:xfrm xmlns:a="http://schemas.openxmlformats.org/drawingml/2006/main">
            <a:off x="1676400" y="3076575"/>
            <a:ext cx="8763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4" name="process-connector-2">
            <a:extLst xmlns:a="http://schemas.openxmlformats.org/drawingml/2006/main">
              <a:ext uri="{FF2B5EF4-FFF2-40B4-BE49-F238E27FC236}">
                <a16:creationId xmlns:a16="http://schemas.microsoft.com/office/drawing/2014/main" id="{165B324A-365F-4193-839E-733B806470B3}"/>
              </a:ext>
            </a:extLst>
          </p:cNvPr>
          <p:cNvSpPr>
            <a:spLocks xmlns:a="http://schemas.openxmlformats.org/drawingml/2006/main" noGrp="1"/>
          </p:cNvSpPr>
          <p:nvPr/>
        </p:nvSpPr>
        <p:spPr>
          <a:xfrm xmlns:a="http://schemas.openxmlformats.org/drawingml/2006/main">
            <a:off x="3581400" y="3076575"/>
            <a:ext cx="8763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5" name="process-connector-3">
            <a:extLst xmlns:a="http://schemas.openxmlformats.org/drawingml/2006/main">
              <a:ext uri="{FF2B5EF4-FFF2-40B4-BE49-F238E27FC236}">
                <a16:creationId xmlns:a16="http://schemas.microsoft.com/office/drawing/2014/main" id="{4A19E6B5-7A5A-496C-AF4C-17B31BF7E185}"/>
              </a:ext>
            </a:extLst>
          </p:cNvPr>
          <p:cNvSpPr>
            <a:spLocks xmlns:a="http://schemas.openxmlformats.org/drawingml/2006/main" noGrp="1"/>
          </p:cNvSpPr>
          <p:nvPr/>
        </p:nvSpPr>
        <p:spPr>
          <a:xfrm xmlns:a="http://schemas.openxmlformats.org/drawingml/2006/main">
            <a:off x="5486400" y="3076575"/>
            <a:ext cx="8763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6" name="process-connector-4">
            <a:extLst xmlns:a="http://schemas.openxmlformats.org/drawingml/2006/main">
              <a:ext uri="{FF2B5EF4-FFF2-40B4-BE49-F238E27FC236}">
                <a16:creationId xmlns:a16="http://schemas.microsoft.com/office/drawing/2014/main" id="{08B09400-297A-4C09-B24C-7C35FD967BCD}"/>
              </a:ext>
            </a:extLst>
          </p:cNvPr>
          <p:cNvSpPr>
            <a:spLocks xmlns:a="http://schemas.openxmlformats.org/drawingml/2006/main" noGrp="1"/>
          </p:cNvSpPr>
          <p:nvPr/>
        </p:nvSpPr>
        <p:spPr>
          <a:xfrm xmlns:a="http://schemas.openxmlformats.org/drawingml/2006/main">
            <a:off x="7391400" y="3076575"/>
            <a:ext cx="8763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7" name="process-connector-5">
            <a:extLst xmlns:a="http://schemas.openxmlformats.org/drawingml/2006/main">
              <a:ext uri="{FF2B5EF4-FFF2-40B4-BE49-F238E27FC236}">
                <a16:creationId xmlns:a16="http://schemas.microsoft.com/office/drawing/2014/main" id="{8B9F22BA-6C32-4A5D-B3D3-D79D8D17329F}"/>
              </a:ext>
            </a:extLst>
          </p:cNvPr>
          <p:cNvSpPr>
            <a:spLocks xmlns:a="http://schemas.openxmlformats.org/drawingml/2006/main" noGrp="1"/>
          </p:cNvSpPr>
          <p:nvPr/>
        </p:nvSpPr>
        <p:spPr>
          <a:xfrm xmlns:a="http://schemas.openxmlformats.org/drawingml/2006/main">
            <a:off x="9296400" y="3076575"/>
            <a:ext cx="8763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8" name="process-node-01">
            <a:extLst xmlns:a="http://schemas.openxmlformats.org/drawingml/2006/main">
              <a:ext uri="{FF2B5EF4-FFF2-40B4-BE49-F238E27FC236}">
                <a16:creationId xmlns:a16="http://schemas.microsoft.com/office/drawing/2014/main" id="{7AC31C60-6D68-41B7-BE96-B5F2AB5164C0}"/>
              </a:ext>
            </a:extLst>
          </p:cNvPr>
          <p:cNvSpPr>
            <a:spLocks xmlns:a="http://schemas.openxmlformats.org/drawingml/2006/main" noGrp="1"/>
          </p:cNvSpPr>
          <p:nvPr/>
        </p:nvSpPr>
        <p:spPr>
          <a:xfrm xmlns:a="http://schemas.openxmlformats.org/drawingml/2006/main">
            <a:off x="762000" y="2695575"/>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2563EB"/>
            </a:solidFill>
            <a:prstDash val="solid"/>
          </a:ln>
        </p:spPr>
      </p:sp>
      <p:sp>
        <p:nvSpPr>
          <p:cNvPr id="9" name="process-number-01">
            <a:extLst xmlns:a="http://schemas.openxmlformats.org/drawingml/2006/main">
              <a:ext uri="{FF2B5EF4-FFF2-40B4-BE49-F238E27FC236}">
                <a16:creationId xmlns:a16="http://schemas.microsoft.com/office/drawing/2014/main" id="{43691439-A0F1-41DA-8397-D4D16255FBB0}"/>
              </a:ext>
            </a:extLst>
          </p:cNvPr>
          <p:cNvSpPr>
            <a:spLocks xmlns:a="http://schemas.openxmlformats.org/drawingml/2006/main" noGrp="1"/>
          </p:cNvSpPr>
          <p:nvPr/>
        </p:nvSpPr>
        <p:spPr>
          <a:xfrm xmlns:a="http://schemas.openxmlformats.org/drawingml/2006/main">
            <a:off x="933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buNone/>
              <a:defRPr sz="1650" b="1">
                <a:solidFill>
                  <a:srgbClr val="2563EB"/>
                </a:solidFill>
                <a:latin typeface="Arial"/>
                <a:ea typeface="Arial"/>
                <a:cs typeface="Arial"/>
              </a:defRPr>
            </a:pPr>
            <a:r>
              <a:rPr sz="1650" b="1">
                <a:solidFill>
                  <a:srgbClr val="2563EB"/>
                </a:solidFill>
                <a:latin typeface="Arial"/>
                <a:ea typeface="Arial"/>
                <a:cs typeface="Arial"/>
              </a:rPr>
              <a:t>01</a:t>
            </a:r>
          </a:p>
        </p:txBody>
      </p:sp>
      <p:sp>
        <p:nvSpPr>
          <p:cNvPr id="10" name="process-title-01">
            <a:extLst xmlns:a="http://schemas.openxmlformats.org/drawingml/2006/main">
              <a:ext uri="{FF2B5EF4-FFF2-40B4-BE49-F238E27FC236}">
                <a16:creationId xmlns:a16="http://schemas.microsoft.com/office/drawing/2014/main" id="{1D89D446-2300-4779-9BC6-B0814604A356}"/>
              </a:ext>
            </a:extLst>
          </p:cNvPr>
          <p:cNvSpPr>
            <a:spLocks xmlns:a="http://schemas.openxmlformats.org/drawingml/2006/main" noGrp="1"/>
          </p:cNvSpPr>
          <p:nvPr/>
        </p:nvSpPr>
        <p:spPr>
          <a:xfrm xmlns:a="http://schemas.openxmlformats.org/drawingml/2006/main">
            <a:off x="552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75" b="1">
                <a:solidFill>
                  <a:srgbClr val="101827"/>
                </a:solidFill>
                <a:latin typeface="Arial"/>
                <a:ea typeface="Arial"/>
                <a:cs typeface="Arial"/>
              </a:defRPr>
            </a:pPr>
            <a:r>
              <a:rPr sz="1575" b="1">
                <a:solidFill>
                  <a:srgbClr val="101827"/>
                </a:solidFill>
                <a:latin typeface="Arial"/>
                <a:ea typeface="Arial"/>
                <a:cs typeface="Arial"/>
              </a:rPr>
              <a:t>Raw CSVs</a:t>
            </a:r>
          </a:p>
        </p:txBody>
      </p:sp>
      <p:sp>
        <p:nvSpPr>
          <p:cNvPr id="11" name="process-detail-01">
            <a:extLst xmlns:a="http://schemas.openxmlformats.org/drawingml/2006/main">
              <a:ext uri="{FF2B5EF4-FFF2-40B4-BE49-F238E27FC236}">
                <a16:creationId xmlns:a16="http://schemas.microsoft.com/office/drawing/2014/main" id="{47BA1525-A34B-46ED-BBBF-D2A75281EBA2}"/>
              </a:ext>
            </a:extLst>
          </p:cNvPr>
          <p:cNvSpPr>
            <a:spLocks xmlns:a="http://schemas.openxmlformats.org/drawingml/2006/main" noGrp="1"/>
          </p:cNvSpPr>
          <p:nvPr/>
        </p:nvSpPr>
        <p:spPr>
          <a:xfrm xmlns:a="http://schemas.openxmlformats.org/drawingml/2006/main">
            <a:off x="476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667085"/>
                </a:solidFill>
                <a:latin typeface="Arial"/>
                <a:ea typeface="Arial"/>
                <a:cs typeface="Arial"/>
              </a:defRPr>
            </a:pPr>
            <a:r>
              <a:rPr sz="1200" b="0">
                <a:solidFill>
                  <a:srgbClr val="667085"/>
                </a:solidFill>
                <a:latin typeface="Arial"/>
                <a:ea typeface="Arial"/>
                <a:cs typeface="Arial"/>
              </a:rPr>
              <a:t>9 source files</a:t>
            </a:r>
          </a:p>
        </p:txBody>
      </p:sp>
      <p:sp>
        <p:nvSpPr>
          <p:cNvPr id="12" name="process-node-02">
            <a:extLst xmlns:a="http://schemas.openxmlformats.org/drawingml/2006/main">
              <a:ext uri="{FF2B5EF4-FFF2-40B4-BE49-F238E27FC236}">
                <a16:creationId xmlns:a16="http://schemas.microsoft.com/office/drawing/2014/main" id="{CC2D5B16-B884-4C51-81B7-3B727F2CE37F}"/>
              </a:ext>
            </a:extLst>
          </p:cNvPr>
          <p:cNvSpPr>
            <a:spLocks xmlns:a="http://schemas.openxmlformats.org/drawingml/2006/main" noGrp="1"/>
          </p:cNvSpPr>
          <p:nvPr/>
        </p:nvSpPr>
        <p:spPr>
          <a:xfrm xmlns:a="http://schemas.openxmlformats.org/drawingml/2006/main">
            <a:off x="2667000" y="2695575"/>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2563EB"/>
            </a:solidFill>
            <a:prstDash val="solid"/>
          </a:ln>
        </p:spPr>
      </p:sp>
      <p:sp>
        <p:nvSpPr>
          <p:cNvPr id="13" name="process-number-02">
            <a:extLst xmlns:a="http://schemas.openxmlformats.org/drawingml/2006/main">
              <a:ext uri="{FF2B5EF4-FFF2-40B4-BE49-F238E27FC236}">
                <a16:creationId xmlns:a16="http://schemas.microsoft.com/office/drawing/2014/main" id="{98B56680-CB46-4980-8818-4A7678843AB4}"/>
              </a:ext>
            </a:extLst>
          </p:cNvPr>
          <p:cNvSpPr>
            <a:spLocks xmlns:a="http://schemas.openxmlformats.org/drawingml/2006/main" noGrp="1"/>
          </p:cNvSpPr>
          <p:nvPr/>
        </p:nvSpPr>
        <p:spPr>
          <a:xfrm xmlns:a="http://schemas.openxmlformats.org/drawingml/2006/main">
            <a:off x="2838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buNone/>
              <a:defRPr sz="1650" b="1">
                <a:solidFill>
                  <a:srgbClr val="2563EB"/>
                </a:solidFill>
                <a:latin typeface="Arial"/>
                <a:ea typeface="Arial"/>
                <a:cs typeface="Arial"/>
              </a:defRPr>
            </a:pPr>
            <a:r>
              <a:rPr sz="1650" b="1">
                <a:solidFill>
                  <a:srgbClr val="2563EB"/>
                </a:solidFill>
                <a:latin typeface="Arial"/>
                <a:ea typeface="Arial"/>
                <a:cs typeface="Arial"/>
              </a:rPr>
              <a:t>02</a:t>
            </a:r>
          </a:p>
        </p:txBody>
      </p:sp>
      <p:sp>
        <p:nvSpPr>
          <p:cNvPr id="14" name="process-title-02">
            <a:extLst xmlns:a="http://schemas.openxmlformats.org/drawingml/2006/main">
              <a:ext uri="{FF2B5EF4-FFF2-40B4-BE49-F238E27FC236}">
                <a16:creationId xmlns:a16="http://schemas.microsoft.com/office/drawing/2014/main" id="{8C084D3F-4E44-4CB5-AC95-B4929EA23CB3}"/>
              </a:ext>
            </a:extLst>
          </p:cNvPr>
          <p:cNvSpPr>
            <a:spLocks xmlns:a="http://schemas.openxmlformats.org/drawingml/2006/main" noGrp="1"/>
          </p:cNvSpPr>
          <p:nvPr/>
        </p:nvSpPr>
        <p:spPr>
          <a:xfrm xmlns:a="http://schemas.openxmlformats.org/drawingml/2006/main">
            <a:off x="2457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75" b="1">
                <a:solidFill>
                  <a:srgbClr val="101827"/>
                </a:solidFill>
                <a:latin typeface="Arial"/>
                <a:ea typeface="Arial"/>
                <a:cs typeface="Arial"/>
              </a:defRPr>
            </a:pPr>
            <a:r>
              <a:rPr sz="1575" b="1">
                <a:solidFill>
                  <a:srgbClr val="101827"/>
                </a:solidFill>
                <a:latin typeface="Arial"/>
                <a:ea typeface="Arial"/>
                <a:cs typeface="Arial"/>
              </a:rPr>
              <a:t>Audit</a:t>
            </a:r>
          </a:p>
        </p:txBody>
      </p:sp>
      <p:sp>
        <p:nvSpPr>
          <p:cNvPr id="15" name="process-detail-02">
            <a:extLst xmlns:a="http://schemas.openxmlformats.org/drawingml/2006/main">
              <a:ext uri="{FF2B5EF4-FFF2-40B4-BE49-F238E27FC236}">
                <a16:creationId xmlns:a16="http://schemas.microsoft.com/office/drawing/2014/main" id="{447CC1AD-4609-467B-B1D6-6ABD4DFBF146}"/>
              </a:ext>
            </a:extLst>
          </p:cNvPr>
          <p:cNvSpPr>
            <a:spLocks xmlns:a="http://schemas.openxmlformats.org/drawingml/2006/main" noGrp="1"/>
          </p:cNvSpPr>
          <p:nvPr/>
        </p:nvSpPr>
        <p:spPr>
          <a:xfrm xmlns:a="http://schemas.openxmlformats.org/drawingml/2006/main">
            <a:off x="2381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667085"/>
                </a:solidFill>
                <a:latin typeface="Arial"/>
                <a:ea typeface="Arial"/>
                <a:cs typeface="Arial"/>
              </a:defRPr>
            </a:pPr>
            <a:r>
              <a:rPr sz="1200" b="0">
                <a:solidFill>
                  <a:srgbClr val="667085"/>
                </a:solidFill>
                <a:latin typeface="Arial"/>
                <a:ea typeface="Arial"/>
                <a:cs typeface="Arial"/>
              </a:rPr>
              <a:t>Schema + types</a:t>
            </a:r>
          </a:p>
        </p:txBody>
      </p:sp>
      <p:sp>
        <p:nvSpPr>
          <p:cNvPr id="16" name="process-node-03">
            <a:extLst xmlns:a="http://schemas.openxmlformats.org/drawingml/2006/main">
              <a:ext uri="{FF2B5EF4-FFF2-40B4-BE49-F238E27FC236}">
                <a16:creationId xmlns:a16="http://schemas.microsoft.com/office/drawing/2014/main" id="{6F2C584A-3FD9-4E3B-9019-E0BA1AC02ABF}"/>
              </a:ext>
            </a:extLst>
          </p:cNvPr>
          <p:cNvSpPr>
            <a:spLocks xmlns:a="http://schemas.openxmlformats.org/drawingml/2006/main" noGrp="1"/>
          </p:cNvSpPr>
          <p:nvPr/>
        </p:nvSpPr>
        <p:spPr>
          <a:xfrm xmlns:a="http://schemas.openxmlformats.org/drawingml/2006/main">
            <a:off x="4572000" y="2695575"/>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2563EB"/>
            </a:solidFill>
            <a:prstDash val="solid"/>
          </a:ln>
        </p:spPr>
      </p:sp>
      <p:sp>
        <p:nvSpPr>
          <p:cNvPr id="17" name="process-number-03">
            <a:extLst xmlns:a="http://schemas.openxmlformats.org/drawingml/2006/main">
              <a:ext uri="{FF2B5EF4-FFF2-40B4-BE49-F238E27FC236}">
                <a16:creationId xmlns:a16="http://schemas.microsoft.com/office/drawing/2014/main" id="{9A1D301D-C72E-4D69-83C7-2F86A257E913}"/>
              </a:ext>
            </a:extLst>
          </p:cNvPr>
          <p:cNvSpPr>
            <a:spLocks xmlns:a="http://schemas.openxmlformats.org/drawingml/2006/main" noGrp="1"/>
          </p:cNvSpPr>
          <p:nvPr/>
        </p:nvSpPr>
        <p:spPr>
          <a:xfrm xmlns:a="http://schemas.openxmlformats.org/drawingml/2006/main">
            <a:off x="4743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buNone/>
              <a:defRPr sz="1650" b="1">
                <a:solidFill>
                  <a:srgbClr val="2563EB"/>
                </a:solidFill>
                <a:latin typeface="Arial"/>
                <a:ea typeface="Arial"/>
                <a:cs typeface="Arial"/>
              </a:defRPr>
            </a:pPr>
            <a:r>
              <a:rPr sz="1650" b="1">
                <a:solidFill>
                  <a:srgbClr val="2563EB"/>
                </a:solidFill>
                <a:latin typeface="Arial"/>
                <a:ea typeface="Arial"/>
                <a:cs typeface="Arial"/>
              </a:rPr>
              <a:t>03</a:t>
            </a:r>
          </a:p>
        </p:txBody>
      </p:sp>
      <p:sp>
        <p:nvSpPr>
          <p:cNvPr id="18" name="process-title-03">
            <a:extLst xmlns:a="http://schemas.openxmlformats.org/drawingml/2006/main">
              <a:ext uri="{FF2B5EF4-FFF2-40B4-BE49-F238E27FC236}">
                <a16:creationId xmlns:a16="http://schemas.microsoft.com/office/drawing/2014/main" id="{8097A83A-A806-4DCE-AE42-6AE79961A6CA}"/>
              </a:ext>
            </a:extLst>
          </p:cNvPr>
          <p:cNvSpPr>
            <a:spLocks xmlns:a="http://schemas.openxmlformats.org/drawingml/2006/main" noGrp="1"/>
          </p:cNvSpPr>
          <p:nvPr/>
        </p:nvSpPr>
        <p:spPr>
          <a:xfrm xmlns:a="http://schemas.openxmlformats.org/drawingml/2006/main">
            <a:off x="4362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75" b="1">
                <a:solidFill>
                  <a:srgbClr val="101827"/>
                </a:solidFill>
                <a:latin typeface="Arial"/>
                <a:ea typeface="Arial"/>
                <a:cs typeface="Arial"/>
              </a:defRPr>
            </a:pPr>
            <a:r>
              <a:rPr sz="1575" b="1">
                <a:solidFill>
                  <a:srgbClr val="101827"/>
                </a:solidFill>
                <a:latin typeface="Arial"/>
                <a:ea typeface="Arial"/>
                <a:cs typeface="Arial"/>
              </a:rPr>
              <a:t>Clean</a:t>
            </a:r>
          </a:p>
        </p:txBody>
      </p:sp>
      <p:sp>
        <p:nvSpPr>
          <p:cNvPr id="19" name="process-detail-03">
            <a:extLst xmlns:a="http://schemas.openxmlformats.org/drawingml/2006/main">
              <a:ext uri="{FF2B5EF4-FFF2-40B4-BE49-F238E27FC236}">
                <a16:creationId xmlns:a16="http://schemas.microsoft.com/office/drawing/2014/main" id="{FB5D5B70-EFE0-4F1A-927F-AC51ACD4C8ED}"/>
              </a:ext>
            </a:extLst>
          </p:cNvPr>
          <p:cNvSpPr>
            <a:spLocks xmlns:a="http://schemas.openxmlformats.org/drawingml/2006/main" noGrp="1"/>
          </p:cNvSpPr>
          <p:nvPr/>
        </p:nvSpPr>
        <p:spPr>
          <a:xfrm xmlns:a="http://schemas.openxmlformats.org/drawingml/2006/main">
            <a:off x="4286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667085"/>
                </a:solidFill>
                <a:latin typeface="Arial"/>
                <a:ea typeface="Arial"/>
                <a:cs typeface="Arial"/>
              </a:defRPr>
            </a:pPr>
            <a:r>
              <a:rPr sz="1200" b="0">
                <a:solidFill>
                  <a:srgbClr val="667085"/>
                </a:solidFill>
                <a:latin typeface="Arial"/>
                <a:ea typeface="Arial"/>
                <a:cs typeface="Arial"/>
              </a:rPr>
              <a:t>Rules in Python</a:t>
            </a:r>
          </a:p>
        </p:txBody>
      </p:sp>
      <p:sp>
        <p:nvSpPr>
          <p:cNvPr id="20" name="process-node-04">
            <a:extLst xmlns:a="http://schemas.openxmlformats.org/drawingml/2006/main">
              <a:ext uri="{FF2B5EF4-FFF2-40B4-BE49-F238E27FC236}">
                <a16:creationId xmlns:a16="http://schemas.microsoft.com/office/drawing/2014/main" id="{6212B702-A0CB-4FE5-BEB0-E7107C6B5DCA}"/>
              </a:ext>
            </a:extLst>
          </p:cNvPr>
          <p:cNvSpPr>
            <a:spLocks xmlns:a="http://schemas.openxmlformats.org/drawingml/2006/main" noGrp="1"/>
          </p:cNvSpPr>
          <p:nvPr/>
        </p:nvSpPr>
        <p:spPr>
          <a:xfrm xmlns:a="http://schemas.openxmlformats.org/drawingml/2006/main">
            <a:off x="6477000" y="2695575"/>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2563EB"/>
            </a:solidFill>
            <a:prstDash val="solid"/>
          </a:ln>
        </p:spPr>
      </p:sp>
      <p:sp>
        <p:nvSpPr>
          <p:cNvPr id="21" name="process-number-04">
            <a:extLst xmlns:a="http://schemas.openxmlformats.org/drawingml/2006/main">
              <a:ext uri="{FF2B5EF4-FFF2-40B4-BE49-F238E27FC236}">
                <a16:creationId xmlns:a16="http://schemas.microsoft.com/office/drawing/2014/main" id="{54B83FD2-E236-456A-A2AF-0BB44B7529A3}"/>
              </a:ext>
            </a:extLst>
          </p:cNvPr>
          <p:cNvSpPr>
            <a:spLocks xmlns:a="http://schemas.openxmlformats.org/drawingml/2006/main" noGrp="1"/>
          </p:cNvSpPr>
          <p:nvPr/>
        </p:nvSpPr>
        <p:spPr>
          <a:xfrm xmlns:a="http://schemas.openxmlformats.org/drawingml/2006/main">
            <a:off x="6648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buNone/>
              <a:defRPr sz="1650" b="1">
                <a:solidFill>
                  <a:srgbClr val="2563EB"/>
                </a:solidFill>
                <a:latin typeface="Arial"/>
                <a:ea typeface="Arial"/>
                <a:cs typeface="Arial"/>
              </a:defRPr>
            </a:pPr>
            <a:r>
              <a:rPr sz="1650" b="1">
                <a:solidFill>
                  <a:srgbClr val="2563EB"/>
                </a:solidFill>
                <a:latin typeface="Arial"/>
                <a:ea typeface="Arial"/>
                <a:cs typeface="Arial"/>
              </a:rPr>
              <a:t>04</a:t>
            </a:r>
          </a:p>
        </p:txBody>
      </p:sp>
      <p:sp>
        <p:nvSpPr>
          <p:cNvPr id="22" name="process-title-04">
            <a:extLst xmlns:a="http://schemas.openxmlformats.org/drawingml/2006/main">
              <a:ext uri="{FF2B5EF4-FFF2-40B4-BE49-F238E27FC236}">
                <a16:creationId xmlns:a16="http://schemas.microsoft.com/office/drawing/2014/main" id="{320D0F21-6D13-42FA-BDD6-CC8813376191}"/>
              </a:ext>
            </a:extLst>
          </p:cNvPr>
          <p:cNvSpPr>
            <a:spLocks xmlns:a="http://schemas.openxmlformats.org/drawingml/2006/main" noGrp="1"/>
          </p:cNvSpPr>
          <p:nvPr/>
        </p:nvSpPr>
        <p:spPr>
          <a:xfrm xmlns:a="http://schemas.openxmlformats.org/drawingml/2006/main">
            <a:off x="6267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74"/>
          </a:bodyPr>
          <a:lstStyle xmlns:a="http://schemas.openxmlformats.org/drawingml/2006/main"/>
          <a:p xmlns:a="http://schemas.openxmlformats.org/drawingml/2006/main">
            <a:pPr algn="ctr">
              <a:buNone/>
              <a:defRPr sz="1575" b="1">
                <a:solidFill>
                  <a:srgbClr val="101827"/>
                </a:solidFill>
                <a:latin typeface="Arial"/>
                <a:ea typeface="Arial"/>
                <a:cs typeface="Arial"/>
              </a:defRPr>
            </a:pPr>
            <a:r>
              <a:rPr sz="1575" b="1">
                <a:solidFill>
                  <a:srgbClr val="101827"/>
                </a:solidFill>
                <a:latin typeface="Arial"/>
                <a:ea typeface="Arial"/>
                <a:cs typeface="Arial"/>
              </a:rPr>
              <a:t>PostgreSQL</a:t>
            </a:r>
          </a:p>
        </p:txBody>
      </p:sp>
      <p:sp>
        <p:nvSpPr>
          <p:cNvPr id="23" name="process-detail-04">
            <a:extLst xmlns:a="http://schemas.openxmlformats.org/drawingml/2006/main">
              <a:ext uri="{FF2B5EF4-FFF2-40B4-BE49-F238E27FC236}">
                <a16:creationId xmlns:a16="http://schemas.microsoft.com/office/drawing/2014/main" id="{0F92C59B-75A1-4C72-B5F4-242F86B837DD}"/>
              </a:ext>
            </a:extLst>
          </p:cNvPr>
          <p:cNvSpPr>
            <a:spLocks xmlns:a="http://schemas.openxmlformats.org/drawingml/2006/main" noGrp="1"/>
          </p:cNvSpPr>
          <p:nvPr/>
        </p:nvSpPr>
        <p:spPr>
          <a:xfrm xmlns:a="http://schemas.openxmlformats.org/drawingml/2006/main">
            <a:off x="6191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667085"/>
                </a:solidFill>
                <a:latin typeface="Arial"/>
                <a:ea typeface="Arial"/>
                <a:cs typeface="Arial"/>
              </a:defRPr>
            </a:pPr>
            <a:r>
              <a:rPr sz="1200" b="0">
                <a:solidFill>
                  <a:srgbClr val="667085"/>
                </a:solidFill>
                <a:latin typeface="Arial"/>
                <a:ea typeface="Arial"/>
                <a:cs typeface="Arial"/>
              </a:rPr>
              <a:t>Relational tables</a:t>
            </a:r>
          </a:p>
        </p:txBody>
      </p:sp>
      <p:sp>
        <p:nvSpPr>
          <p:cNvPr id="24" name="process-node-05">
            <a:extLst xmlns:a="http://schemas.openxmlformats.org/drawingml/2006/main">
              <a:ext uri="{FF2B5EF4-FFF2-40B4-BE49-F238E27FC236}">
                <a16:creationId xmlns:a16="http://schemas.microsoft.com/office/drawing/2014/main" id="{8CC1EED1-2B01-40B9-A344-E339EC8852B0}"/>
              </a:ext>
            </a:extLst>
          </p:cNvPr>
          <p:cNvSpPr>
            <a:spLocks xmlns:a="http://schemas.openxmlformats.org/drawingml/2006/main" noGrp="1"/>
          </p:cNvSpPr>
          <p:nvPr/>
        </p:nvSpPr>
        <p:spPr>
          <a:xfrm xmlns:a="http://schemas.openxmlformats.org/drawingml/2006/main">
            <a:off x="8382000" y="2695575"/>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2563EB"/>
            </a:solidFill>
            <a:prstDash val="solid"/>
          </a:ln>
        </p:spPr>
      </p:sp>
      <p:sp>
        <p:nvSpPr>
          <p:cNvPr id="25" name="process-number-05">
            <a:extLst xmlns:a="http://schemas.openxmlformats.org/drawingml/2006/main">
              <a:ext uri="{FF2B5EF4-FFF2-40B4-BE49-F238E27FC236}">
                <a16:creationId xmlns:a16="http://schemas.microsoft.com/office/drawing/2014/main" id="{78CE6ED6-C800-4429-B601-C13AB0900019}"/>
              </a:ext>
            </a:extLst>
          </p:cNvPr>
          <p:cNvSpPr>
            <a:spLocks xmlns:a="http://schemas.openxmlformats.org/drawingml/2006/main" noGrp="1"/>
          </p:cNvSpPr>
          <p:nvPr/>
        </p:nvSpPr>
        <p:spPr>
          <a:xfrm xmlns:a="http://schemas.openxmlformats.org/drawingml/2006/main">
            <a:off x="8553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buNone/>
              <a:defRPr sz="1650" b="1">
                <a:solidFill>
                  <a:srgbClr val="2563EB"/>
                </a:solidFill>
                <a:latin typeface="Arial"/>
                <a:ea typeface="Arial"/>
                <a:cs typeface="Arial"/>
              </a:defRPr>
            </a:pPr>
            <a:r>
              <a:rPr sz="1650" b="1">
                <a:solidFill>
                  <a:srgbClr val="2563EB"/>
                </a:solidFill>
                <a:latin typeface="Arial"/>
                <a:ea typeface="Arial"/>
                <a:cs typeface="Arial"/>
              </a:rPr>
              <a:t>05</a:t>
            </a:r>
          </a:p>
        </p:txBody>
      </p:sp>
      <p:sp>
        <p:nvSpPr>
          <p:cNvPr id="26" name="process-title-05">
            <a:extLst xmlns:a="http://schemas.openxmlformats.org/drawingml/2006/main">
              <a:ext uri="{FF2B5EF4-FFF2-40B4-BE49-F238E27FC236}">
                <a16:creationId xmlns:a16="http://schemas.microsoft.com/office/drawing/2014/main" id="{0FC73D30-F3CD-47D4-8BE9-A5A7F6EDF06E}"/>
              </a:ext>
            </a:extLst>
          </p:cNvPr>
          <p:cNvSpPr>
            <a:spLocks xmlns:a="http://schemas.openxmlformats.org/drawingml/2006/main" noGrp="1"/>
          </p:cNvSpPr>
          <p:nvPr/>
        </p:nvSpPr>
        <p:spPr>
          <a:xfrm xmlns:a="http://schemas.openxmlformats.org/drawingml/2006/main">
            <a:off x="8172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75" b="1">
                <a:solidFill>
                  <a:srgbClr val="101827"/>
                </a:solidFill>
                <a:latin typeface="Arial"/>
                <a:ea typeface="Arial"/>
                <a:cs typeface="Arial"/>
              </a:defRPr>
            </a:pPr>
            <a:r>
              <a:rPr sz="1575" b="1">
                <a:solidFill>
                  <a:srgbClr val="101827"/>
                </a:solidFill>
                <a:latin typeface="Arial"/>
                <a:ea typeface="Arial"/>
                <a:cs typeface="Arial"/>
              </a:rPr>
              <a:t>SQL</a:t>
            </a:r>
          </a:p>
        </p:txBody>
      </p:sp>
      <p:sp>
        <p:nvSpPr>
          <p:cNvPr id="27" name="process-detail-05">
            <a:extLst xmlns:a="http://schemas.openxmlformats.org/drawingml/2006/main">
              <a:ext uri="{FF2B5EF4-FFF2-40B4-BE49-F238E27FC236}">
                <a16:creationId xmlns:a16="http://schemas.microsoft.com/office/drawing/2014/main" id="{4DD2AF14-CCBF-4458-8489-AF938A2B3E06}"/>
              </a:ext>
            </a:extLst>
          </p:cNvPr>
          <p:cNvSpPr>
            <a:spLocks xmlns:a="http://schemas.openxmlformats.org/drawingml/2006/main" noGrp="1"/>
          </p:cNvSpPr>
          <p:nvPr/>
        </p:nvSpPr>
        <p:spPr>
          <a:xfrm xmlns:a="http://schemas.openxmlformats.org/drawingml/2006/main">
            <a:off x="8096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667085"/>
                </a:solidFill>
                <a:latin typeface="Arial"/>
                <a:ea typeface="Arial"/>
                <a:cs typeface="Arial"/>
              </a:defRPr>
            </a:pPr>
            <a:r>
              <a:rPr sz="1200" b="0">
                <a:solidFill>
                  <a:srgbClr val="667085"/>
                </a:solidFill>
                <a:latin typeface="Arial"/>
                <a:ea typeface="Arial"/>
                <a:cs typeface="Arial"/>
              </a:rPr>
              <a:t>Reusable KPIs</a:t>
            </a:r>
          </a:p>
        </p:txBody>
      </p:sp>
      <p:sp>
        <p:nvSpPr>
          <p:cNvPr id="28" name="process-node-06">
            <a:extLst xmlns:a="http://schemas.openxmlformats.org/drawingml/2006/main">
              <a:ext uri="{FF2B5EF4-FFF2-40B4-BE49-F238E27FC236}">
                <a16:creationId xmlns:a16="http://schemas.microsoft.com/office/drawing/2014/main" id="{99FD8822-3E81-4781-A0FD-67A86B147F8A}"/>
              </a:ext>
            </a:extLst>
          </p:cNvPr>
          <p:cNvSpPr>
            <a:spLocks xmlns:a="http://schemas.openxmlformats.org/drawingml/2006/main" noGrp="1"/>
          </p:cNvSpPr>
          <p:nvPr/>
        </p:nvSpPr>
        <p:spPr>
          <a:xfrm xmlns:a="http://schemas.openxmlformats.org/drawingml/2006/main">
            <a:off x="10287000" y="2695575"/>
            <a:ext cx="800100" cy="800100"/>
          </a:xfrm>
          <a:prstGeom xmlns:a="http://schemas.openxmlformats.org/drawingml/2006/main" prst="ellipse">
            <a:avLst/>
          </a:prstGeom>
          <a:solidFill xmlns:a="http://schemas.openxmlformats.org/drawingml/2006/main">
            <a:srgbClr val="2563EB"/>
          </a:solidFill>
          <a:ln xmlns:a="http://schemas.openxmlformats.org/drawingml/2006/main" w="28575">
            <a:solidFill>
              <a:srgbClr val="2563EB"/>
            </a:solidFill>
            <a:prstDash val="solid"/>
          </a:ln>
        </p:spPr>
      </p:sp>
      <p:sp>
        <p:nvSpPr>
          <p:cNvPr id="29" name="process-number-06">
            <a:extLst xmlns:a="http://schemas.openxmlformats.org/drawingml/2006/main">
              <a:ext uri="{FF2B5EF4-FFF2-40B4-BE49-F238E27FC236}">
                <a16:creationId xmlns:a16="http://schemas.microsoft.com/office/drawing/2014/main" id="{8CC49222-E741-462A-AEC1-08C155009FD5}"/>
              </a:ext>
            </a:extLst>
          </p:cNvPr>
          <p:cNvSpPr>
            <a:spLocks xmlns:a="http://schemas.openxmlformats.org/drawingml/2006/main" noGrp="1"/>
          </p:cNvSpPr>
          <p:nvPr/>
        </p:nvSpPr>
        <p:spPr>
          <a:xfrm xmlns:a="http://schemas.openxmlformats.org/drawingml/2006/main">
            <a:off x="10458450" y="2914650"/>
            <a:ext cx="45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2424"/>
          </a:bodyPr>
          <a:lstStyle xmlns:a="http://schemas.openxmlformats.org/drawingml/2006/main"/>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06</a:t>
            </a:r>
          </a:p>
        </p:txBody>
      </p:sp>
      <p:sp>
        <p:nvSpPr>
          <p:cNvPr id="30" name="process-title-06">
            <a:extLst xmlns:a="http://schemas.openxmlformats.org/drawingml/2006/main">
              <a:ext uri="{FF2B5EF4-FFF2-40B4-BE49-F238E27FC236}">
                <a16:creationId xmlns:a16="http://schemas.microsoft.com/office/drawing/2014/main" id="{4BE8938C-FC17-4665-8903-7E27748FA4E8}"/>
              </a:ext>
            </a:extLst>
          </p:cNvPr>
          <p:cNvSpPr>
            <a:spLocks xmlns:a="http://schemas.openxmlformats.org/drawingml/2006/main" noGrp="1"/>
          </p:cNvSpPr>
          <p:nvPr/>
        </p:nvSpPr>
        <p:spPr>
          <a:xfrm xmlns:a="http://schemas.openxmlformats.org/drawingml/2006/main">
            <a:off x="10077450" y="3714750"/>
            <a:ext cx="1219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575" b="1">
                <a:solidFill>
                  <a:srgbClr val="101827"/>
                </a:solidFill>
                <a:latin typeface="Arial"/>
                <a:ea typeface="Arial"/>
                <a:cs typeface="Arial"/>
              </a:defRPr>
            </a:pPr>
            <a:r>
              <a:rPr sz="1575" b="1">
                <a:solidFill>
                  <a:srgbClr val="101827"/>
                </a:solidFill>
                <a:latin typeface="Arial"/>
                <a:ea typeface="Arial"/>
                <a:cs typeface="Arial"/>
              </a:rPr>
              <a:t>Power BI</a:t>
            </a:r>
          </a:p>
        </p:txBody>
      </p:sp>
      <p:sp>
        <p:nvSpPr>
          <p:cNvPr id="31" name="process-detail-06">
            <a:extLst xmlns:a="http://schemas.openxmlformats.org/drawingml/2006/main">
              <a:ext uri="{FF2B5EF4-FFF2-40B4-BE49-F238E27FC236}">
                <a16:creationId xmlns:a16="http://schemas.microsoft.com/office/drawing/2014/main" id="{5A2A6A5E-4E2A-4C99-B905-75CE09669E6D}"/>
              </a:ext>
            </a:extLst>
          </p:cNvPr>
          <p:cNvSpPr>
            <a:spLocks xmlns:a="http://schemas.openxmlformats.org/drawingml/2006/main" noGrp="1"/>
          </p:cNvSpPr>
          <p:nvPr/>
        </p:nvSpPr>
        <p:spPr>
          <a:xfrm xmlns:a="http://schemas.openxmlformats.org/drawingml/2006/main">
            <a:off x="10001250" y="4124325"/>
            <a:ext cx="1371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buNone/>
              <a:defRPr sz="1200" b="0">
                <a:solidFill>
                  <a:srgbClr val="667085"/>
                </a:solidFill>
                <a:latin typeface="Arial"/>
                <a:ea typeface="Arial"/>
                <a:cs typeface="Arial"/>
              </a:defRPr>
            </a:pPr>
            <a:r>
              <a:rPr sz="1200" b="0">
                <a:solidFill>
                  <a:srgbClr val="667085"/>
                </a:solidFill>
                <a:latin typeface="Arial"/>
                <a:ea typeface="Arial"/>
                <a:cs typeface="Arial"/>
              </a:rPr>
              <a:t>Interactive report</a:t>
            </a:r>
          </a:p>
        </p:txBody>
      </p:sp>
      <p:sp>
        <p:nvSpPr>
          <p:cNvPr id="32" name="architecture-proof">
            <a:extLst xmlns:a="http://schemas.openxmlformats.org/drawingml/2006/main">
              <a:ext uri="{FF2B5EF4-FFF2-40B4-BE49-F238E27FC236}">
                <a16:creationId xmlns:a16="http://schemas.microsoft.com/office/drawing/2014/main" id="{2BCFB65B-DD48-404D-9F23-E65D79B9DB82}"/>
              </a:ext>
            </a:extLst>
          </p:cNvPr>
          <p:cNvSpPr>
            <a:spLocks xmlns:a="http://schemas.openxmlformats.org/drawingml/2006/main" noGrp="1"/>
          </p:cNvSpPr>
          <p:nvPr/>
        </p:nvSpPr>
        <p:spPr>
          <a:xfrm xmlns:a="http://schemas.openxmlformats.org/drawingml/2006/main">
            <a:off x="495300" y="5095875"/>
            <a:ext cx="11201400" cy="876300"/>
          </a:xfrm>
          <a:prstGeom xmlns:a="http://schemas.openxmlformats.org/drawingml/2006/main" prst="roundRect">
            <a:avLst>
              <a:gd name="adj" fmla="val 13043"/>
            </a:avLst>
          </a:prstGeom>
          <a:solidFill xmlns:a="http://schemas.openxmlformats.org/drawingml/2006/main">
            <a:srgbClr val="F3F4F6"/>
          </a:solidFill>
          <a:ln xmlns:a="http://schemas.openxmlformats.org/drawingml/2006/main" w="9525">
            <a:solidFill>
              <a:srgbClr val="F3F4F6"/>
            </a:solidFill>
            <a:prstDash val="solid"/>
          </a:ln>
        </p:spPr>
      </p:sp>
      <p:sp>
        <p:nvSpPr>
          <p:cNvPr id="33" name="architecture-proof-text">
            <a:extLst xmlns:a="http://schemas.openxmlformats.org/drawingml/2006/main">
              <a:ext uri="{FF2B5EF4-FFF2-40B4-BE49-F238E27FC236}">
                <a16:creationId xmlns:a16="http://schemas.microsoft.com/office/drawing/2014/main" id="{C6D38F7A-4D0A-4E22-B113-68653E5B729D}"/>
              </a:ext>
            </a:extLst>
          </p:cNvPr>
          <p:cNvSpPr>
            <a:spLocks xmlns:a="http://schemas.openxmlformats.org/drawingml/2006/main" noGrp="1"/>
          </p:cNvSpPr>
          <p:nvPr/>
        </p:nvSpPr>
        <p:spPr>
          <a:xfrm xmlns:a="http://schemas.openxmlformats.org/drawingml/2006/main">
            <a:off x="762000" y="5286375"/>
            <a:ext cx="1066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a:solidFill>
                  <a:srgbClr val="101827"/>
                </a:solidFill>
                <a:latin typeface="Arial"/>
                <a:ea typeface="Arial"/>
                <a:cs typeface="Arial"/>
              </a:defRPr>
            </a:pPr>
            <a:r>
              <a:rPr sz="1500" b="1">
                <a:solidFill>
                  <a:srgbClr val="101827"/>
                </a:solidFill>
                <a:latin typeface="Arial"/>
                <a:ea typeface="Arial"/>
                <a:cs typeface="Arial"/>
              </a:rPr>
              <a:t>If a schema, key, relationship, row-count, or SQL check fails, the pipeline stops before the dashboard is refreshed.</a:t>
            </a:r>
          </a:p>
        </p:txBody>
      </p:sp>
      <p:sp>
        <p:nvSpPr>
          <p:cNvPr id="34" name="footer-rule-2">
            <a:extLst xmlns:a="http://schemas.openxmlformats.org/drawingml/2006/main">
              <a:ext uri="{FF2B5EF4-FFF2-40B4-BE49-F238E27FC236}">
                <a16:creationId xmlns:a16="http://schemas.microsoft.com/office/drawing/2014/main" id="{9E9CDE58-EA15-49CB-A344-81B8E671A122}"/>
              </a:ext>
            </a:extLst>
          </p:cNvPr>
          <p:cNvSpPr>
            <a:spLocks xmlns:a="http://schemas.openxmlformats.org/drawingml/2006/main" noGrp="1"/>
          </p:cNvSpPr>
          <p:nvPr/>
        </p:nvSpPr>
        <p:spPr>
          <a:xfrm xmlns:a="http://schemas.openxmlformats.org/drawingml/2006/main">
            <a:off x="495300" y="6419850"/>
            <a:ext cx="112014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35" name="footer-label-2">
            <a:extLst xmlns:a="http://schemas.openxmlformats.org/drawingml/2006/main">
              <a:ext uri="{FF2B5EF4-FFF2-40B4-BE49-F238E27FC236}">
                <a16:creationId xmlns:a16="http://schemas.microsoft.com/office/drawing/2014/main" id="{ACE2A487-E909-4BF3-B2B8-91B3E1FD6D8E}"/>
              </a:ext>
            </a:extLst>
          </p:cNvPr>
          <p:cNvSpPr>
            <a:spLocks xmlns:a="http://schemas.openxmlformats.org/drawingml/2006/main" noGrp="1"/>
          </p:cNvSpPr>
          <p:nvPr/>
        </p:nvSpPr>
        <p:spPr>
          <a:xfrm xmlns:a="http://schemas.openxmlformats.org/drawingml/2006/main">
            <a:off x="495300" y="650557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667085"/>
                </a:solidFill>
                <a:latin typeface="Arial"/>
                <a:ea typeface="Arial"/>
                <a:cs typeface="Arial"/>
              </a:defRPr>
            </a:pPr>
            <a:r>
              <a:rPr sz="825" b="1">
                <a:solidFill>
                  <a:srgbClr val="667085"/>
                </a:solidFill>
                <a:latin typeface="Arial"/>
                <a:ea typeface="Arial"/>
                <a:cs typeface="Arial"/>
              </a:rPr>
              <a:t>COMMERCEIQ · PROJECT WALKTHROUGH</a:t>
            </a:r>
          </a:p>
        </p:txBody>
      </p:sp>
      <p:sp>
        <p:nvSpPr>
          <p:cNvPr id="36" name="footer-number-2">
            <a:extLst xmlns:a="http://schemas.openxmlformats.org/drawingml/2006/main">
              <a:ext uri="{FF2B5EF4-FFF2-40B4-BE49-F238E27FC236}">
                <a16:creationId xmlns:a16="http://schemas.microsoft.com/office/drawing/2014/main" id="{FAD6C8BA-0100-43A1-AD71-A3FD6EB5C2A6}"/>
              </a:ext>
            </a:extLst>
          </p:cNvPr>
          <p:cNvSpPr>
            <a:spLocks xmlns:a="http://schemas.openxmlformats.org/drawingml/2006/main" noGrp="1"/>
          </p:cNvSpPr>
          <p:nvPr/>
        </p:nvSpPr>
        <p:spPr>
          <a:xfrm xmlns:a="http://schemas.openxmlformats.org/drawingml/2006/main">
            <a:off x="11315700" y="6505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r">
              <a:buNone/>
              <a:defRPr sz="825" b="0">
                <a:solidFill>
                  <a:srgbClr val="667085"/>
                </a:solidFill>
                <a:latin typeface="Arial"/>
                <a:ea typeface="Arial"/>
                <a:cs typeface="Arial"/>
              </a:defRPr>
            </a:pPr>
            <a:r>
              <a:rPr sz="825" b="0">
                <a:solidFill>
                  <a:srgbClr val="667085"/>
                </a:solidFill>
                <a:latin typeface="Arial"/>
                <a:ea typeface="Arial"/>
                <a:cs typeface="Arial"/>
              </a:rPr>
              <a:t>2</a:t>
            </a:r>
          </a:p>
        </p:txBody>
      </p:sp>
    </p:spTree>
    <p:extLst>
      <p:ext uri="{BB962C8B-B14F-4D97-AF65-F5344CB8AC3E}">
        <p14:creationId xmlns:p14="http://schemas.microsoft.com/office/powerpoint/2010/main" val="8618402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metrics-title">
            <a:extLst xmlns:a="http://schemas.openxmlformats.org/drawingml/2006/main">
              <a:ext uri="{FF2B5EF4-FFF2-40B4-BE49-F238E27FC236}">
                <a16:creationId xmlns:a16="http://schemas.microsoft.com/office/drawing/2014/main" id="{6652F3A6-420E-4AF7-9B92-DE681EBA7DDB}"/>
              </a:ext>
            </a:extLst>
          </p:cNvPr>
          <p:cNvSpPr>
            <a:spLocks xmlns:a="http://schemas.openxmlformats.org/drawingml/2006/main" noGrp="1"/>
          </p:cNvSpPr>
          <p:nvPr/>
        </p:nvSpPr>
        <p:spPr>
          <a:xfrm xmlns:a="http://schemas.openxmlformats.org/drawingml/2006/main">
            <a:off x="495300" y="400050"/>
            <a:ext cx="112014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01827"/>
                </a:solidFill>
                <a:latin typeface="Arial"/>
                <a:ea typeface="Arial"/>
                <a:cs typeface="Arial"/>
              </a:defRPr>
            </a:pPr>
            <a:r>
              <a:rPr sz="2850" b="1">
                <a:solidFill>
                  <a:srgbClr val="101827"/>
                </a:solidFill>
                <a:latin typeface="Arial"/>
                <a:ea typeface="Arial"/>
                <a:cs typeface="Arial"/>
              </a:rPr>
              <a:t>Preprocessing makes the later analysis trustworthy</a:t>
            </a:r>
          </a:p>
        </p:txBody>
      </p:sp>
      <p:sp>
        <p:nvSpPr>
          <p:cNvPr id="2" name="metrics-narrative">
            <a:extLst xmlns:a="http://schemas.openxmlformats.org/drawingml/2006/main">
              <a:ext uri="{FF2B5EF4-FFF2-40B4-BE49-F238E27FC236}">
                <a16:creationId xmlns:a16="http://schemas.microsoft.com/office/drawing/2014/main" id="{B79A46BA-0DA1-44C5-981B-B39DED6D4544}"/>
              </a:ext>
            </a:extLst>
          </p:cNvPr>
          <p:cNvSpPr>
            <a:spLocks xmlns:a="http://schemas.openxmlformats.org/drawingml/2006/main" noGrp="1"/>
          </p:cNvSpPr>
          <p:nvPr/>
        </p:nvSpPr>
        <p:spPr>
          <a:xfrm xmlns:a="http://schemas.openxmlformats.org/drawingml/2006/main">
            <a:off x="495300" y="1257300"/>
            <a:ext cx="112014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650" b="0">
                <a:solidFill>
                  <a:srgbClr val="667085"/>
                </a:solidFill>
                <a:latin typeface="Arial"/>
                <a:ea typeface="Arial"/>
                <a:cs typeface="Arial"/>
              </a:defRPr>
            </a:pPr>
            <a:r>
              <a:rPr sz="1650" b="0">
                <a:solidFill>
                  <a:srgbClr val="667085"/>
                </a:solidFill>
                <a:latin typeface="Arial"/>
                <a:ea typeface="Arial"/>
                <a:cs typeface="Arial"/>
              </a:rPr>
              <a:t>The audit discovers each file, checks its grain, and records problems without touching the original data. Cleaning and validation then run from reusable Python functions.</a:t>
            </a:r>
          </a:p>
        </p:txBody>
      </p:sp>
      <p:sp>
        <p:nvSpPr>
          <p:cNvPr id="3" name="metric-card-1">
            <a:extLst xmlns:a="http://schemas.openxmlformats.org/drawingml/2006/main">
              <a:ext uri="{FF2B5EF4-FFF2-40B4-BE49-F238E27FC236}">
                <a16:creationId xmlns:a16="http://schemas.microsoft.com/office/drawing/2014/main" id="{B643ECBC-821A-43AB-889F-440684C96C1D}"/>
              </a:ext>
            </a:extLst>
          </p:cNvPr>
          <p:cNvSpPr>
            <a:spLocks xmlns:a="http://schemas.openxmlformats.org/drawingml/2006/main" noGrp="1"/>
          </p:cNvSpPr>
          <p:nvPr/>
        </p:nvSpPr>
        <p:spPr>
          <a:xfrm xmlns:a="http://schemas.openxmlformats.org/drawingml/2006/main">
            <a:off x="495300" y="2762250"/>
            <a:ext cx="3543300" cy="2857500"/>
          </a:xfrm>
          <a:prstGeom xmlns:a="http://schemas.openxmlformats.org/drawingml/2006/main" prst="roundRect">
            <a:avLst>
              <a:gd name="adj" fmla="val 4000"/>
            </a:avLst>
          </a:prstGeom>
          <a:solidFill xmlns:a="http://schemas.openxmlformats.org/drawingml/2006/main">
            <a:srgbClr val="F3F4F6"/>
          </a:solidFill>
          <a:ln xmlns:a="http://schemas.openxmlformats.org/drawingml/2006/main" w="9525">
            <a:solidFill>
              <a:srgbClr val="F3F4F6"/>
            </a:solidFill>
            <a:prstDash val="solid"/>
          </a:ln>
        </p:spPr>
      </p:sp>
      <p:sp>
        <p:nvSpPr>
          <p:cNvPr id="4" name="metric-stat-1">
            <a:extLst xmlns:a="http://schemas.openxmlformats.org/drawingml/2006/main">
              <a:ext uri="{FF2B5EF4-FFF2-40B4-BE49-F238E27FC236}">
                <a16:creationId xmlns:a16="http://schemas.microsoft.com/office/drawing/2014/main" id="{223901A9-1609-4F0B-BC25-003106C47BA4}"/>
              </a:ext>
            </a:extLst>
          </p:cNvPr>
          <p:cNvSpPr>
            <a:spLocks xmlns:a="http://schemas.openxmlformats.org/drawingml/2006/main" noGrp="1"/>
          </p:cNvSpPr>
          <p:nvPr/>
        </p:nvSpPr>
        <p:spPr>
          <a:xfrm xmlns:a="http://schemas.openxmlformats.org/drawingml/2006/main">
            <a:off x="781050" y="3143250"/>
            <a:ext cx="2971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101827"/>
                </a:solidFill>
                <a:latin typeface="Arial"/>
                <a:ea typeface="Arial"/>
                <a:cs typeface="Arial"/>
              </a:defRPr>
            </a:pPr>
            <a:r>
              <a:rPr sz="3600" b="1">
                <a:solidFill>
                  <a:srgbClr val="101827"/>
                </a:solidFill>
                <a:latin typeface="Arial"/>
                <a:ea typeface="Arial"/>
                <a:cs typeface="Arial"/>
              </a:rPr>
              <a:t>9 files</a:t>
            </a:r>
          </a:p>
        </p:txBody>
      </p:sp>
      <p:sp>
        <p:nvSpPr>
          <p:cNvPr id="5" name="metric-title-1">
            <a:extLst xmlns:a="http://schemas.openxmlformats.org/drawingml/2006/main">
              <a:ext uri="{FF2B5EF4-FFF2-40B4-BE49-F238E27FC236}">
                <a16:creationId xmlns:a16="http://schemas.microsoft.com/office/drawing/2014/main" id="{56DFC5F2-5D64-4221-8741-51BDDDAB5C13}"/>
              </a:ext>
            </a:extLst>
          </p:cNvPr>
          <p:cNvSpPr>
            <a:spLocks xmlns:a="http://schemas.openxmlformats.org/drawingml/2006/main" noGrp="1"/>
          </p:cNvSpPr>
          <p:nvPr/>
        </p:nvSpPr>
        <p:spPr>
          <a:xfrm xmlns:a="http://schemas.openxmlformats.org/drawingml/2006/main">
            <a:off x="781050" y="4152900"/>
            <a:ext cx="2971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01827"/>
                </a:solidFill>
                <a:latin typeface="Arial"/>
                <a:ea typeface="Arial"/>
                <a:cs typeface="Arial"/>
              </a:defRPr>
            </a:pPr>
            <a:r>
              <a:rPr sz="1725" b="1">
                <a:solidFill>
                  <a:srgbClr val="101827"/>
                </a:solidFill>
                <a:latin typeface="Arial"/>
                <a:ea typeface="Arial"/>
                <a:cs typeface="Arial"/>
              </a:rPr>
              <a:t>Audit the source</a:t>
            </a:r>
          </a:p>
        </p:txBody>
      </p:sp>
      <p:sp>
        <p:nvSpPr>
          <p:cNvPr id="6" name="metric-detail-1">
            <a:extLst xmlns:a="http://schemas.openxmlformats.org/drawingml/2006/main">
              <a:ext uri="{FF2B5EF4-FFF2-40B4-BE49-F238E27FC236}">
                <a16:creationId xmlns:a16="http://schemas.microsoft.com/office/drawing/2014/main" id="{C919C93A-A890-409E-93DE-8F989B6E0656}"/>
              </a:ext>
            </a:extLst>
          </p:cNvPr>
          <p:cNvSpPr>
            <a:spLocks xmlns:a="http://schemas.openxmlformats.org/drawingml/2006/main" noGrp="1"/>
          </p:cNvSpPr>
          <p:nvPr/>
        </p:nvSpPr>
        <p:spPr>
          <a:xfrm xmlns:a="http://schemas.openxmlformats.org/drawingml/2006/main">
            <a:off x="781050" y="47244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667085"/>
                </a:solidFill>
                <a:latin typeface="Arial"/>
                <a:ea typeface="Arial"/>
                <a:cs typeface="Arial"/>
              </a:defRPr>
            </a:pPr>
            <a:r>
              <a:rPr sz="1275" b="0">
                <a:solidFill>
                  <a:srgbClr val="667085"/>
                </a:solidFill>
                <a:latin typeface="Arial"/>
                <a:ea typeface="Arial"/>
                <a:cs typeface="Arial"/>
              </a:rPr>
              <a:t>Rows, columns, missing values,</a:t>
            </a:r>
          </a:p>
          <a:p xmlns:a="http://schemas.openxmlformats.org/drawingml/2006/main">
            <a:pPr algn="l">
              <a:buNone/>
              <a:defRPr sz="1275" b="0">
                <a:solidFill>
                  <a:srgbClr val="667085"/>
                </a:solidFill>
                <a:latin typeface="Arial"/>
                <a:ea typeface="Arial"/>
                <a:cs typeface="Arial"/>
              </a:defRPr>
            </a:pPr>
            <a:r>
              <a:rPr sz="1275" b="0">
                <a:solidFill>
                  <a:srgbClr val="667085"/>
                </a:solidFill>
                <a:latin typeface="Arial"/>
                <a:ea typeface="Arial"/>
                <a:cs typeface="Arial"/>
              </a:rPr>
              <a:t>duplicates, keys, timestamps</a:t>
            </a:r>
          </a:p>
        </p:txBody>
      </p:sp>
      <p:sp>
        <p:nvSpPr>
          <p:cNvPr id="7" name="metric-card-2">
            <a:extLst xmlns:a="http://schemas.openxmlformats.org/drawingml/2006/main">
              <a:ext uri="{FF2B5EF4-FFF2-40B4-BE49-F238E27FC236}">
                <a16:creationId xmlns:a16="http://schemas.microsoft.com/office/drawing/2014/main" id="{39193206-B4ED-4C2C-8CD5-5DAA15D5E04A}"/>
              </a:ext>
            </a:extLst>
          </p:cNvPr>
          <p:cNvSpPr>
            <a:spLocks xmlns:a="http://schemas.openxmlformats.org/drawingml/2006/main" noGrp="1"/>
          </p:cNvSpPr>
          <p:nvPr/>
        </p:nvSpPr>
        <p:spPr>
          <a:xfrm xmlns:a="http://schemas.openxmlformats.org/drawingml/2006/main">
            <a:off x="4324350" y="2762250"/>
            <a:ext cx="3543300" cy="2857500"/>
          </a:xfrm>
          <a:prstGeom xmlns:a="http://schemas.openxmlformats.org/drawingml/2006/main" prst="roundRect">
            <a:avLst>
              <a:gd name="adj" fmla="val 4000"/>
            </a:avLst>
          </a:prstGeom>
          <a:solidFill xmlns:a="http://schemas.openxmlformats.org/drawingml/2006/main">
            <a:srgbClr val="EFF6FF"/>
          </a:solidFill>
          <a:ln xmlns:a="http://schemas.openxmlformats.org/drawingml/2006/main" w="9525">
            <a:solidFill>
              <a:srgbClr val="60A5FA"/>
            </a:solidFill>
            <a:prstDash val="solid"/>
          </a:ln>
        </p:spPr>
      </p:sp>
      <p:sp>
        <p:nvSpPr>
          <p:cNvPr id="8" name="metric-stat-2">
            <a:extLst xmlns:a="http://schemas.openxmlformats.org/drawingml/2006/main">
              <a:ext uri="{FF2B5EF4-FFF2-40B4-BE49-F238E27FC236}">
                <a16:creationId xmlns:a16="http://schemas.microsoft.com/office/drawing/2014/main" id="{5079CD7F-31BD-44FF-9C8C-780943275E9A}"/>
              </a:ext>
            </a:extLst>
          </p:cNvPr>
          <p:cNvSpPr>
            <a:spLocks xmlns:a="http://schemas.openxmlformats.org/drawingml/2006/main" noGrp="1"/>
          </p:cNvSpPr>
          <p:nvPr/>
        </p:nvSpPr>
        <p:spPr>
          <a:xfrm xmlns:a="http://schemas.openxmlformats.org/drawingml/2006/main">
            <a:off x="4610100" y="3143250"/>
            <a:ext cx="2971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2563EB"/>
                </a:solidFill>
                <a:latin typeface="Arial"/>
                <a:ea typeface="Arial"/>
                <a:cs typeface="Arial"/>
              </a:defRPr>
            </a:pPr>
            <a:r>
              <a:rPr sz="3600" b="1">
                <a:solidFill>
                  <a:srgbClr val="2563EB"/>
                </a:solidFill>
                <a:latin typeface="Arial"/>
                <a:ea typeface="Arial"/>
                <a:cs typeface="Arial"/>
              </a:rPr>
              <a:t>1.55M rows</a:t>
            </a:r>
          </a:p>
        </p:txBody>
      </p:sp>
      <p:sp>
        <p:nvSpPr>
          <p:cNvPr id="9" name="metric-title-2">
            <a:extLst xmlns:a="http://schemas.openxmlformats.org/drawingml/2006/main">
              <a:ext uri="{FF2B5EF4-FFF2-40B4-BE49-F238E27FC236}">
                <a16:creationId xmlns:a16="http://schemas.microsoft.com/office/drawing/2014/main" id="{063CFF7B-D68F-4F4A-83C5-9D3CE734ECED}"/>
              </a:ext>
            </a:extLst>
          </p:cNvPr>
          <p:cNvSpPr>
            <a:spLocks xmlns:a="http://schemas.openxmlformats.org/drawingml/2006/main" noGrp="1"/>
          </p:cNvSpPr>
          <p:nvPr/>
        </p:nvSpPr>
        <p:spPr>
          <a:xfrm xmlns:a="http://schemas.openxmlformats.org/drawingml/2006/main">
            <a:off x="4610100" y="4152900"/>
            <a:ext cx="2971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01827"/>
                </a:solidFill>
                <a:latin typeface="Arial"/>
                <a:ea typeface="Arial"/>
                <a:cs typeface="Arial"/>
              </a:defRPr>
            </a:pPr>
            <a:r>
              <a:rPr sz="1725" b="1">
                <a:solidFill>
                  <a:srgbClr val="101827"/>
                </a:solidFill>
                <a:latin typeface="Arial"/>
                <a:ea typeface="Arial"/>
                <a:cs typeface="Arial"/>
              </a:rPr>
              <a:t>Clean consistently</a:t>
            </a:r>
          </a:p>
        </p:txBody>
      </p:sp>
      <p:sp>
        <p:nvSpPr>
          <p:cNvPr id="10" name="metric-detail-2">
            <a:extLst xmlns:a="http://schemas.openxmlformats.org/drawingml/2006/main">
              <a:ext uri="{FF2B5EF4-FFF2-40B4-BE49-F238E27FC236}">
                <a16:creationId xmlns:a16="http://schemas.microsoft.com/office/drawing/2014/main" id="{5CCCD6F2-4CDD-446F-A9BB-554C7DD49F21}"/>
              </a:ext>
            </a:extLst>
          </p:cNvPr>
          <p:cNvSpPr>
            <a:spLocks xmlns:a="http://schemas.openxmlformats.org/drawingml/2006/main" noGrp="1"/>
          </p:cNvSpPr>
          <p:nvPr/>
        </p:nvSpPr>
        <p:spPr>
          <a:xfrm xmlns:a="http://schemas.openxmlformats.org/drawingml/2006/main">
            <a:off x="4610100" y="47244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667085"/>
                </a:solidFill>
                <a:latin typeface="Arial"/>
                <a:ea typeface="Arial"/>
                <a:cs typeface="Arial"/>
              </a:defRPr>
            </a:pPr>
            <a:r>
              <a:rPr sz="1275" b="0">
                <a:solidFill>
                  <a:srgbClr val="667085"/>
                </a:solidFill>
                <a:latin typeface="Arial"/>
                <a:ea typeface="Arial"/>
                <a:cs typeface="Arial"/>
              </a:rPr>
              <a:t>Types and text standardized;</a:t>
            </a:r>
          </a:p>
          <a:p xmlns:a="http://schemas.openxmlformats.org/drawingml/2006/main">
            <a:pPr algn="l">
              <a:buNone/>
              <a:defRPr sz="1275" b="0">
                <a:solidFill>
                  <a:srgbClr val="667085"/>
                </a:solidFill>
                <a:latin typeface="Arial"/>
                <a:ea typeface="Arial"/>
                <a:cs typeface="Arial"/>
              </a:defRPr>
            </a:pPr>
            <a:r>
              <a:rPr sz="1275" b="0">
                <a:solidFill>
                  <a:srgbClr val="667085"/>
                </a:solidFill>
                <a:latin typeface="Arial"/>
                <a:ea typeface="Arial"/>
                <a:cs typeface="Arial"/>
              </a:rPr>
              <a:t>raw files stay immutable</a:t>
            </a:r>
          </a:p>
        </p:txBody>
      </p:sp>
      <p:sp>
        <p:nvSpPr>
          <p:cNvPr id="11" name="metric-card-3">
            <a:extLst xmlns:a="http://schemas.openxmlformats.org/drawingml/2006/main">
              <a:ext uri="{FF2B5EF4-FFF2-40B4-BE49-F238E27FC236}">
                <a16:creationId xmlns:a16="http://schemas.microsoft.com/office/drawing/2014/main" id="{A878E6EF-0C7B-41C0-8B26-A6269605F16F}"/>
              </a:ext>
            </a:extLst>
          </p:cNvPr>
          <p:cNvSpPr>
            <a:spLocks xmlns:a="http://schemas.openxmlformats.org/drawingml/2006/main" noGrp="1"/>
          </p:cNvSpPr>
          <p:nvPr/>
        </p:nvSpPr>
        <p:spPr>
          <a:xfrm xmlns:a="http://schemas.openxmlformats.org/drawingml/2006/main">
            <a:off x="8153400" y="2762250"/>
            <a:ext cx="3543300" cy="2857500"/>
          </a:xfrm>
          <a:prstGeom xmlns:a="http://schemas.openxmlformats.org/drawingml/2006/main" prst="roundRect">
            <a:avLst>
              <a:gd name="adj" fmla="val 4000"/>
            </a:avLst>
          </a:prstGeom>
          <a:solidFill xmlns:a="http://schemas.openxmlformats.org/drawingml/2006/main">
            <a:srgbClr val="F3F4F6"/>
          </a:solidFill>
          <a:ln xmlns:a="http://schemas.openxmlformats.org/drawingml/2006/main" w="9525">
            <a:solidFill>
              <a:srgbClr val="F3F4F6"/>
            </a:solidFill>
            <a:prstDash val="solid"/>
          </a:ln>
        </p:spPr>
      </p:sp>
      <p:sp>
        <p:nvSpPr>
          <p:cNvPr id="12" name="metric-stat-3">
            <a:extLst xmlns:a="http://schemas.openxmlformats.org/drawingml/2006/main">
              <a:ext uri="{FF2B5EF4-FFF2-40B4-BE49-F238E27FC236}">
                <a16:creationId xmlns:a16="http://schemas.microsoft.com/office/drawing/2014/main" id="{B697B396-A48D-462F-BD23-DDFDC5B20528}"/>
              </a:ext>
            </a:extLst>
          </p:cNvPr>
          <p:cNvSpPr>
            <a:spLocks xmlns:a="http://schemas.openxmlformats.org/drawingml/2006/main" noGrp="1"/>
          </p:cNvSpPr>
          <p:nvPr/>
        </p:nvSpPr>
        <p:spPr>
          <a:xfrm xmlns:a="http://schemas.openxmlformats.org/drawingml/2006/main">
            <a:off x="8439150" y="3143250"/>
            <a:ext cx="2971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3600" b="1">
                <a:solidFill>
                  <a:srgbClr val="101827"/>
                </a:solidFill>
                <a:latin typeface="Arial"/>
                <a:ea typeface="Arial"/>
                <a:cs typeface="Arial"/>
              </a:defRPr>
            </a:pPr>
            <a:r>
              <a:rPr sz="3600" b="1">
                <a:solidFill>
                  <a:srgbClr val="101827"/>
                </a:solidFill>
                <a:latin typeface="Arial"/>
                <a:ea typeface="Arial"/>
                <a:cs typeface="Arial"/>
              </a:rPr>
              <a:t>23 tests</a:t>
            </a:r>
          </a:p>
        </p:txBody>
      </p:sp>
      <p:sp>
        <p:nvSpPr>
          <p:cNvPr id="13" name="metric-title-3">
            <a:extLst xmlns:a="http://schemas.openxmlformats.org/drawingml/2006/main">
              <a:ext uri="{FF2B5EF4-FFF2-40B4-BE49-F238E27FC236}">
                <a16:creationId xmlns:a16="http://schemas.microsoft.com/office/drawing/2014/main" id="{808F4E31-4818-4FB2-B45F-1B3420F6B8C4}"/>
              </a:ext>
            </a:extLst>
          </p:cNvPr>
          <p:cNvSpPr>
            <a:spLocks xmlns:a="http://schemas.openxmlformats.org/drawingml/2006/main" noGrp="1"/>
          </p:cNvSpPr>
          <p:nvPr/>
        </p:nvSpPr>
        <p:spPr>
          <a:xfrm xmlns:a="http://schemas.openxmlformats.org/drawingml/2006/main">
            <a:off x="8439150" y="4152900"/>
            <a:ext cx="2971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725" b="1">
                <a:solidFill>
                  <a:srgbClr val="101827"/>
                </a:solidFill>
                <a:latin typeface="Arial"/>
                <a:ea typeface="Arial"/>
                <a:cs typeface="Arial"/>
              </a:defRPr>
            </a:pPr>
            <a:r>
              <a:rPr sz="1725" b="1">
                <a:solidFill>
                  <a:srgbClr val="101827"/>
                </a:solidFill>
                <a:latin typeface="Arial"/>
                <a:ea typeface="Arial"/>
                <a:cs typeface="Arial"/>
              </a:rPr>
              <a:t>Validate relationships</a:t>
            </a:r>
          </a:p>
        </p:txBody>
      </p:sp>
      <p:sp>
        <p:nvSpPr>
          <p:cNvPr id="14" name="metric-detail-3">
            <a:extLst xmlns:a="http://schemas.openxmlformats.org/drawingml/2006/main">
              <a:ext uri="{FF2B5EF4-FFF2-40B4-BE49-F238E27FC236}">
                <a16:creationId xmlns:a16="http://schemas.microsoft.com/office/drawing/2014/main" id="{F2CF6C10-2593-4C14-B10B-2B45F264FB59}"/>
              </a:ext>
            </a:extLst>
          </p:cNvPr>
          <p:cNvSpPr>
            <a:spLocks xmlns:a="http://schemas.openxmlformats.org/drawingml/2006/main" noGrp="1"/>
          </p:cNvSpPr>
          <p:nvPr/>
        </p:nvSpPr>
        <p:spPr>
          <a:xfrm xmlns:a="http://schemas.openxmlformats.org/drawingml/2006/main">
            <a:off x="8439150" y="4724400"/>
            <a:ext cx="2971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0">
                <a:solidFill>
                  <a:srgbClr val="667085"/>
                </a:solidFill>
                <a:latin typeface="Arial"/>
                <a:ea typeface="Arial"/>
                <a:cs typeface="Arial"/>
              </a:defRPr>
            </a:pPr>
            <a:r>
              <a:rPr sz="1275" b="0">
                <a:solidFill>
                  <a:srgbClr val="667085"/>
                </a:solidFill>
                <a:latin typeface="Arial"/>
                <a:ea typeface="Arial"/>
                <a:cs typeface="Arial"/>
              </a:rPr>
              <a:t>Primary keys, foreign keys,</a:t>
            </a:r>
          </a:p>
          <a:p xmlns:a="http://schemas.openxmlformats.org/drawingml/2006/main">
            <a:pPr algn="l">
              <a:buNone/>
              <a:defRPr sz="1275" b="0">
                <a:solidFill>
                  <a:srgbClr val="667085"/>
                </a:solidFill>
                <a:latin typeface="Arial"/>
                <a:ea typeface="Arial"/>
                <a:cs typeface="Arial"/>
              </a:defRPr>
            </a:pPr>
            <a:r>
              <a:rPr sz="1275" b="0">
                <a:solidFill>
                  <a:srgbClr val="667085"/>
                </a:solidFill>
                <a:latin typeface="Arial"/>
                <a:ea typeface="Arial"/>
                <a:cs typeface="Arial"/>
              </a:rPr>
              <a:t>row counts, and checksums</a:t>
            </a:r>
          </a:p>
        </p:txBody>
      </p:sp>
      <p:sp>
        <p:nvSpPr>
          <p:cNvPr id="15" name="footer-rule-3">
            <a:extLst xmlns:a="http://schemas.openxmlformats.org/drawingml/2006/main">
              <a:ext uri="{FF2B5EF4-FFF2-40B4-BE49-F238E27FC236}">
                <a16:creationId xmlns:a16="http://schemas.microsoft.com/office/drawing/2014/main" id="{36815DDF-DEDE-401A-B644-5B3EABF1575A}"/>
              </a:ext>
            </a:extLst>
          </p:cNvPr>
          <p:cNvSpPr>
            <a:spLocks xmlns:a="http://schemas.openxmlformats.org/drawingml/2006/main" noGrp="1"/>
          </p:cNvSpPr>
          <p:nvPr/>
        </p:nvSpPr>
        <p:spPr>
          <a:xfrm xmlns:a="http://schemas.openxmlformats.org/drawingml/2006/main">
            <a:off x="495300" y="6419850"/>
            <a:ext cx="112014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6" name="footer-label-3">
            <a:extLst xmlns:a="http://schemas.openxmlformats.org/drawingml/2006/main">
              <a:ext uri="{FF2B5EF4-FFF2-40B4-BE49-F238E27FC236}">
                <a16:creationId xmlns:a16="http://schemas.microsoft.com/office/drawing/2014/main" id="{A5ADDE40-3763-406D-A686-CE981DC67CAA}"/>
              </a:ext>
            </a:extLst>
          </p:cNvPr>
          <p:cNvSpPr>
            <a:spLocks xmlns:a="http://schemas.openxmlformats.org/drawingml/2006/main" noGrp="1"/>
          </p:cNvSpPr>
          <p:nvPr/>
        </p:nvSpPr>
        <p:spPr>
          <a:xfrm xmlns:a="http://schemas.openxmlformats.org/drawingml/2006/main">
            <a:off x="495300" y="650557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667085"/>
                </a:solidFill>
                <a:latin typeface="Arial"/>
                <a:ea typeface="Arial"/>
                <a:cs typeface="Arial"/>
              </a:defRPr>
            </a:pPr>
            <a:r>
              <a:rPr sz="825" b="1">
                <a:solidFill>
                  <a:srgbClr val="667085"/>
                </a:solidFill>
                <a:latin typeface="Arial"/>
                <a:ea typeface="Arial"/>
                <a:cs typeface="Arial"/>
              </a:rPr>
              <a:t>COMMERCEIQ · PROJECT WALKTHROUGH</a:t>
            </a:r>
          </a:p>
        </p:txBody>
      </p:sp>
      <p:sp>
        <p:nvSpPr>
          <p:cNvPr id="17" name="footer-number-3">
            <a:extLst xmlns:a="http://schemas.openxmlformats.org/drawingml/2006/main">
              <a:ext uri="{FF2B5EF4-FFF2-40B4-BE49-F238E27FC236}">
                <a16:creationId xmlns:a16="http://schemas.microsoft.com/office/drawing/2014/main" id="{186FEF7E-5E03-43D7-B032-0266A115DFDB}"/>
              </a:ext>
            </a:extLst>
          </p:cNvPr>
          <p:cNvSpPr>
            <a:spLocks xmlns:a="http://schemas.openxmlformats.org/drawingml/2006/main" noGrp="1"/>
          </p:cNvSpPr>
          <p:nvPr/>
        </p:nvSpPr>
        <p:spPr>
          <a:xfrm xmlns:a="http://schemas.openxmlformats.org/drawingml/2006/main">
            <a:off x="11315700" y="6505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r">
              <a:buNone/>
              <a:defRPr sz="825" b="0">
                <a:solidFill>
                  <a:srgbClr val="667085"/>
                </a:solidFill>
                <a:latin typeface="Arial"/>
                <a:ea typeface="Arial"/>
                <a:cs typeface="Arial"/>
              </a:defRPr>
            </a:pPr>
            <a:r>
              <a:rPr sz="825" b="0">
                <a:solidFill>
                  <a:srgbClr val="667085"/>
                </a:solidFill>
                <a:latin typeface="Arial"/>
                <a:ea typeface="Arial"/>
                <a:cs typeface="Arial"/>
              </a:rPr>
              <a:t>3</a:t>
            </a:r>
          </a:p>
        </p:txBody>
      </p:sp>
    </p:spTree>
    <p:extLst>
      <p:ext uri="{BB962C8B-B14F-4D97-AF65-F5344CB8AC3E}">
        <p14:creationId xmlns:p14="http://schemas.microsoft.com/office/powerpoint/2010/main" val="20388837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delivery-title">
            <a:extLst xmlns:a="http://schemas.openxmlformats.org/drawingml/2006/main">
              <a:ext uri="{FF2B5EF4-FFF2-40B4-BE49-F238E27FC236}">
                <a16:creationId xmlns:a16="http://schemas.microsoft.com/office/drawing/2014/main" id="{BF9FDD1F-11C8-41DC-B4BD-1D98794D6182}"/>
              </a:ext>
            </a:extLst>
          </p:cNvPr>
          <p:cNvSpPr>
            <a:spLocks xmlns:a="http://schemas.openxmlformats.org/drawingml/2006/main" noGrp="1"/>
          </p:cNvSpPr>
          <p:nvPr/>
        </p:nvSpPr>
        <p:spPr>
          <a:xfrm xmlns:a="http://schemas.openxmlformats.org/drawingml/2006/main">
            <a:off x="495300" y="400050"/>
            <a:ext cx="11201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01827"/>
                </a:solidFill>
                <a:latin typeface="Arial"/>
                <a:ea typeface="Arial"/>
                <a:cs typeface="Arial"/>
              </a:defRPr>
            </a:pPr>
            <a:r>
              <a:rPr sz="2850" b="1">
                <a:solidFill>
                  <a:srgbClr val="101827"/>
                </a:solidFill>
                <a:latin typeface="Arial"/>
                <a:ea typeface="Arial"/>
                <a:cs typeface="Arial"/>
              </a:rPr>
              <a:t>The strongest pattern appears when delivery slips</a:t>
            </a:r>
          </a:p>
        </p:txBody>
      </p:sp>
      <p:graphicFrame>
        <p:nvGraphicFramePr>
          <p:cNvPr id="22" name="Chart"/>
          <p:cNvGraphicFramePr/>
          <p:nvPr/>
        </p:nvGraphicFramePr>
        <p:xfrm>
          <a:off xmlns:a="http://schemas.openxmlformats.org/drawingml/2006/main" x="495300" y="1352550"/>
          <a:ext xmlns:a="http://schemas.openxmlformats.org/drawingml/2006/main" cx="6191250" cy="4495800"/>
        </p:xfrm>
        <a:graphic xmlns:a="http://schemas.openxmlformats.org/drawingml/2006/main">
          <a:graphicData uri="http://schemas.openxmlformats.org/drawingml/2006/chart">
            <c:chart xmlns:r="http://schemas.openxmlformats.org/officeDocument/2006/relationships" xmlns:c="http://schemas.openxmlformats.org/drawingml/2006/chart" r:id="Ra185c4863c684ae0"/>
          </a:graphicData>
        </a:graphic>
      </p:graphicFrame>
      <p:sp>
        <p:nvSpPr>
          <p:cNvPr id="3" name="delivery-callout-1">
            <a:extLst xmlns:a="http://schemas.openxmlformats.org/drawingml/2006/main">
              <a:ext uri="{FF2B5EF4-FFF2-40B4-BE49-F238E27FC236}">
                <a16:creationId xmlns:a16="http://schemas.microsoft.com/office/drawing/2014/main" id="{33A3108C-1C1F-43DC-A97D-05D5C000ACB2}"/>
              </a:ext>
            </a:extLst>
          </p:cNvPr>
          <p:cNvSpPr>
            <a:spLocks xmlns:a="http://schemas.openxmlformats.org/drawingml/2006/main" noGrp="1"/>
          </p:cNvSpPr>
          <p:nvPr/>
        </p:nvSpPr>
        <p:spPr>
          <a:xfrm xmlns:a="http://schemas.openxmlformats.org/drawingml/2006/main">
            <a:off x="7086600" y="1352550"/>
            <a:ext cx="4610100" cy="1257300"/>
          </a:xfrm>
          <a:prstGeom xmlns:a="http://schemas.openxmlformats.org/drawingml/2006/main" prst="roundRect">
            <a:avLst>
              <a:gd name="adj" fmla="val 9091"/>
            </a:avLst>
          </a:prstGeom>
          <a:solidFill xmlns:a="http://schemas.openxmlformats.org/drawingml/2006/main">
            <a:srgbClr val="EFF6FF"/>
          </a:solidFill>
          <a:ln xmlns:a="http://schemas.openxmlformats.org/drawingml/2006/main" w="9525">
            <a:solidFill>
              <a:srgbClr val="60A5FA"/>
            </a:solidFill>
            <a:prstDash val="solid"/>
          </a:ln>
        </p:spPr>
      </p:sp>
      <p:sp>
        <p:nvSpPr>
          <p:cNvPr id="4" name="delivery-callout-stat-1">
            <a:extLst xmlns:a="http://schemas.openxmlformats.org/drawingml/2006/main">
              <a:ext uri="{FF2B5EF4-FFF2-40B4-BE49-F238E27FC236}">
                <a16:creationId xmlns:a16="http://schemas.microsoft.com/office/drawing/2014/main" id="{A40D09A6-0E9B-4D93-BB56-B403ACC0129C}"/>
              </a:ext>
            </a:extLst>
          </p:cNvPr>
          <p:cNvSpPr>
            <a:spLocks xmlns:a="http://schemas.openxmlformats.org/drawingml/2006/main" noGrp="1"/>
          </p:cNvSpPr>
          <p:nvPr/>
        </p:nvSpPr>
        <p:spPr>
          <a:xfrm xmlns:a="http://schemas.openxmlformats.org/drawingml/2006/main">
            <a:off x="7353300" y="15430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556"/>
          </a:bodyPr>
          <a:lstStyle xmlns:a="http://schemas.openxmlformats.org/drawingml/2006/main"/>
          <a:p xmlns:a="http://schemas.openxmlformats.org/drawingml/2006/main">
            <a:pPr algn="l">
              <a:buNone/>
              <a:defRPr sz="2250" b="1">
                <a:solidFill>
                  <a:srgbClr val="2563EB"/>
                </a:solidFill>
                <a:latin typeface="Arial"/>
                <a:ea typeface="Arial"/>
                <a:cs typeface="Arial"/>
              </a:defRPr>
            </a:pPr>
            <a:r>
              <a:rPr sz="2250" b="1">
                <a:solidFill>
                  <a:srgbClr val="2563EB"/>
                </a:solidFill>
                <a:latin typeface="Arial"/>
                <a:ea typeface="Arial"/>
                <a:cs typeface="Arial"/>
              </a:rPr>
              <a:t>8.6×</a:t>
            </a:r>
          </a:p>
        </p:txBody>
      </p:sp>
      <p:sp>
        <p:nvSpPr>
          <p:cNvPr id="5" name="delivery-callout-title-1">
            <a:extLst xmlns:a="http://schemas.openxmlformats.org/drawingml/2006/main">
              <a:ext uri="{FF2B5EF4-FFF2-40B4-BE49-F238E27FC236}">
                <a16:creationId xmlns:a16="http://schemas.microsoft.com/office/drawing/2014/main" id="{3BF23BB8-E573-4B8A-BD1C-4FF3466FD007}"/>
              </a:ext>
            </a:extLst>
          </p:cNvPr>
          <p:cNvSpPr>
            <a:spLocks xmlns:a="http://schemas.openxmlformats.org/drawingml/2006/main" noGrp="1"/>
          </p:cNvSpPr>
          <p:nvPr/>
        </p:nvSpPr>
        <p:spPr>
          <a:xfrm xmlns:a="http://schemas.openxmlformats.org/drawingml/2006/main">
            <a:off x="8896350" y="1543050"/>
            <a:ext cx="2533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01827"/>
                </a:solidFill>
                <a:latin typeface="Arial"/>
                <a:ea typeface="Arial"/>
                <a:cs typeface="Arial"/>
              </a:defRPr>
            </a:pPr>
            <a:r>
              <a:rPr sz="1500" b="1">
                <a:solidFill>
                  <a:srgbClr val="101827"/>
                </a:solidFill>
                <a:latin typeface="Arial"/>
                <a:ea typeface="Arial"/>
                <a:cs typeface="Arial"/>
              </a:rPr>
              <a:t>Higher low-review rate</a:t>
            </a:r>
          </a:p>
        </p:txBody>
      </p:sp>
      <p:sp>
        <p:nvSpPr>
          <p:cNvPr id="6" name="delivery-callout-detail-1">
            <a:extLst xmlns:a="http://schemas.openxmlformats.org/drawingml/2006/main">
              <a:ext uri="{FF2B5EF4-FFF2-40B4-BE49-F238E27FC236}">
                <a16:creationId xmlns:a16="http://schemas.microsoft.com/office/drawing/2014/main" id="{009CE1FF-AA08-4698-A39A-39D65116315A}"/>
              </a:ext>
            </a:extLst>
          </p:cNvPr>
          <p:cNvSpPr>
            <a:spLocks xmlns:a="http://schemas.openxmlformats.org/drawingml/2006/main" noGrp="1"/>
          </p:cNvSpPr>
          <p:nvPr/>
        </p:nvSpPr>
        <p:spPr>
          <a:xfrm xmlns:a="http://schemas.openxmlformats.org/drawingml/2006/main">
            <a:off x="7353300" y="2057400"/>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67085"/>
                </a:solidFill>
                <a:latin typeface="Arial"/>
                <a:ea typeface="Arial"/>
                <a:cs typeface="Arial"/>
              </a:defRPr>
            </a:pPr>
            <a:r>
              <a:rPr sz="1200" b="0">
                <a:solidFill>
                  <a:srgbClr val="667085"/>
                </a:solidFill>
                <a:latin typeface="Arial"/>
                <a:ea typeface="Arial"/>
                <a:cs typeface="Arial"/>
              </a:rPr>
              <a:t>8+ days late vs. 2+ days early</a:t>
            </a:r>
          </a:p>
        </p:txBody>
      </p:sp>
      <p:sp>
        <p:nvSpPr>
          <p:cNvPr id="7" name="delivery-callout-2">
            <a:extLst xmlns:a="http://schemas.openxmlformats.org/drawingml/2006/main">
              <a:ext uri="{FF2B5EF4-FFF2-40B4-BE49-F238E27FC236}">
                <a16:creationId xmlns:a16="http://schemas.microsoft.com/office/drawing/2014/main" id="{A512AD81-C4DA-41C8-A327-60A10A64C569}"/>
              </a:ext>
            </a:extLst>
          </p:cNvPr>
          <p:cNvSpPr>
            <a:spLocks xmlns:a="http://schemas.openxmlformats.org/drawingml/2006/main" noGrp="1"/>
          </p:cNvSpPr>
          <p:nvPr/>
        </p:nvSpPr>
        <p:spPr>
          <a:xfrm xmlns:a="http://schemas.openxmlformats.org/drawingml/2006/main">
            <a:off x="7086600" y="2857500"/>
            <a:ext cx="4610100" cy="1257300"/>
          </a:xfrm>
          <a:prstGeom xmlns:a="http://schemas.openxmlformats.org/drawingml/2006/main" prst="roundRect">
            <a:avLst>
              <a:gd name="adj" fmla="val 9091"/>
            </a:avLst>
          </a:prstGeom>
          <a:solidFill xmlns:a="http://schemas.openxmlformats.org/drawingml/2006/main">
            <a:srgbClr val="F3F4F6"/>
          </a:solidFill>
          <a:ln xmlns:a="http://schemas.openxmlformats.org/drawingml/2006/main" w="9525">
            <a:solidFill>
              <a:srgbClr val="F3F4F6"/>
            </a:solidFill>
            <a:prstDash val="solid"/>
          </a:ln>
        </p:spPr>
      </p:sp>
      <p:sp>
        <p:nvSpPr>
          <p:cNvPr id="8" name="delivery-callout-stat-2">
            <a:extLst xmlns:a="http://schemas.openxmlformats.org/drawingml/2006/main">
              <a:ext uri="{FF2B5EF4-FFF2-40B4-BE49-F238E27FC236}">
                <a16:creationId xmlns:a16="http://schemas.microsoft.com/office/drawing/2014/main" id="{E2DF0AAE-10C7-4693-9B3C-AA399C5F2618}"/>
              </a:ext>
            </a:extLst>
          </p:cNvPr>
          <p:cNvSpPr>
            <a:spLocks xmlns:a="http://schemas.openxmlformats.org/drawingml/2006/main" noGrp="1"/>
          </p:cNvSpPr>
          <p:nvPr/>
        </p:nvSpPr>
        <p:spPr>
          <a:xfrm xmlns:a="http://schemas.openxmlformats.org/drawingml/2006/main">
            <a:off x="7353300" y="304800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285"/>
          </a:bodyPr>
          <a:lstStyle xmlns:a="http://schemas.openxmlformats.org/drawingml/2006/main"/>
          <a:p xmlns:a="http://schemas.openxmlformats.org/drawingml/2006/main">
            <a:pPr algn="l">
              <a:buNone/>
              <a:defRPr sz="2250" b="1">
                <a:solidFill>
                  <a:srgbClr val="101827"/>
                </a:solidFill>
                <a:latin typeface="Arial"/>
                <a:ea typeface="Arial"/>
                <a:cs typeface="Arial"/>
              </a:defRPr>
            </a:pPr>
            <a:r>
              <a:rPr sz="2250" b="1">
                <a:solidFill>
                  <a:srgbClr val="101827"/>
                </a:solidFill>
                <a:latin typeface="Arial"/>
                <a:ea typeface="Arial"/>
                <a:cs typeface="Arial"/>
              </a:rPr>
              <a:t>4.30 → 1.70</a:t>
            </a:r>
          </a:p>
        </p:txBody>
      </p:sp>
      <p:sp>
        <p:nvSpPr>
          <p:cNvPr id="9" name="delivery-callout-title-2">
            <a:extLst xmlns:a="http://schemas.openxmlformats.org/drawingml/2006/main">
              <a:ext uri="{FF2B5EF4-FFF2-40B4-BE49-F238E27FC236}">
                <a16:creationId xmlns:a16="http://schemas.microsoft.com/office/drawing/2014/main" id="{526D82C3-DCF8-4888-A97E-5A50F43C17E8}"/>
              </a:ext>
            </a:extLst>
          </p:cNvPr>
          <p:cNvSpPr>
            <a:spLocks xmlns:a="http://schemas.openxmlformats.org/drawingml/2006/main" noGrp="1"/>
          </p:cNvSpPr>
          <p:nvPr/>
        </p:nvSpPr>
        <p:spPr>
          <a:xfrm xmlns:a="http://schemas.openxmlformats.org/drawingml/2006/main">
            <a:off x="8896350" y="3048000"/>
            <a:ext cx="2533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01827"/>
                </a:solidFill>
                <a:latin typeface="Arial"/>
                <a:ea typeface="Arial"/>
                <a:cs typeface="Arial"/>
              </a:defRPr>
            </a:pPr>
            <a:r>
              <a:rPr sz="1500" b="1">
                <a:solidFill>
                  <a:srgbClr val="101827"/>
                </a:solidFill>
                <a:latin typeface="Arial"/>
                <a:ea typeface="Arial"/>
                <a:cs typeface="Arial"/>
              </a:rPr>
              <a:t>Average review score</a:t>
            </a:r>
          </a:p>
        </p:txBody>
      </p:sp>
      <p:sp>
        <p:nvSpPr>
          <p:cNvPr id="10" name="delivery-callout-detail-2">
            <a:extLst xmlns:a="http://schemas.openxmlformats.org/drawingml/2006/main">
              <a:ext uri="{FF2B5EF4-FFF2-40B4-BE49-F238E27FC236}">
                <a16:creationId xmlns:a16="http://schemas.microsoft.com/office/drawing/2014/main" id="{2E6E3752-CBD4-45C4-959B-955755B9B881}"/>
              </a:ext>
            </a:extLst>
          </p:cNvPr>
          <p:cNvSpPr>
            <a:spLocks xmlns:a="http://schemas.openxmlformats.org/drawingml/2006/main" noGrp="1"/>
          </p:cNvSpPr>
          <p:nvPr/>
        </p:nvSpPr>
        <p:spPr>
          <a:xfrm xmlns:a="http://schemas.openxmlformats.org/drawingml/2006/main">
            <a:off x="7353300" y="3562350"/>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67085"/>
                </a:solidFill>
                <a:latin typeface="Arial"/>
                <a:ea typeface="Arial"/>
                <a:cs typeface="Arial"/>
              </a:defRPr>
            </a:pPr>
            <a:r>
              <a:rPr sz="1200" b="0">
                <a:solidFill>
                  <a:srgbClr val="667085"/>
                </a:solidFill>
                <a:latin typeface="Arial"/>
                <a:ea typeface="Arial"/>
                <a:cs typeface="Arial"/>
              </a:rPr>
              <a:t>Early delivery vs. 8+ days late</a:t>
            </a:r>
          </a:p>
        </p:txBody>
      </p:sp>
      <p:sp>
        <p:nvSpPr>
          <p:cNvPr id="11" name="delivery-callout-3">
            <a:extLst xmlns:a="http://schemas.openxmlformats.org/drawingml/2006/main">
              <a:ext uri="{FF2B5EF4-FFF2-40B4-BE49-F238E27FC236}">
                <a16:creationId xmlns:a16="http://schemas.microsoft.com/office/drawing/2014/main" id="{C4932737-1971-41AB-BE3F-80EA43026BEA}"/>
              </a:ext>
            </a:extLst>
          </p:cNvPr>
          <p:cNvSpPr>
            <a:spLocks xmlns:a="http://schemas.openxmlformats.org/drawingml/2006/main" noGrp="1"/>
          </p:cNvSpPr>
          <p:nvPr/>
        </p:nvSpPr>
        <p:spPr>
          <a:xfrm xmlns:a="http://schemas.openxmlformats.org/drawingml/2006/main">
            <a:off x="7086600" y="4362450"/>
            <a:ext cx="4610100" cy="1257300"/>
          </a:xfrm>
          <a:prstGeom xmlns:a="http://schemas.openxmlformats.org/drawingml/2006/main" prst="roundRect">
            <a:avLst>
              <a:gd name="adj" fmla="val 9091"/>
            </a:avLst>
          </a:prstGeom>
          <a:solidFill xmlns:a="http://schemas.openxmlformats.org/drawingml/2006/main">
            <a:srgbClr val="F3F4F6"/>
          </a:solidFill>
          <a:ln xmlns:a="http://schemas.openxmlformats.org/drawingml/2006/main" w="9525">
            <a:solidFill>
              <a:srgbClr val="F3F4F6"/>
            </a:solidFill>
            <a:prstDash val="solid"/>
          </a:ln>
        </p:spPr>
      </p:sp>
      <p:sp>
        <p:nvSpPr>
          <p:cNvPr id="12" name="delivery-callout-stat-3">
            <a:extLst xmlns:a="http://schemas.openxmlformats.org/drawingml/2006/main">
              <a:ext uri="{FF2B5EF4-FFF2-40B4-BE49-F238E27FC236}">
                <a16:creationId xmlns:a16="http://schemas.microsoft.com/office/drawing/2014/main" id="{5FABBCCB-6814-4316-B6B7-4438E8777413}"/>
              </a:ext>
            </a:extLst>
          </p:cNvPr>
          <p:cNvSpPr>
            <a:spLocks xmlns:a="http://schemas.openxmlformats.org/drawingml/2006/main" noGrp="1"/>
          </p:cNvSpPr>
          <p:nvPr/>
        </p:nvSpPr>
        <p:spPr>
          <a:xfrm xmlns:a="http://schemas.openxmlformats.org/drawingml/2006/main">
            <a:off x="7353300" y="4552950"/>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860"/>
          </a:bodyPr>
          <a:lstStyle xmlns:a="http://schemas.openxmlformats.org/drawingml/2006/main"/>
          <a:p xmlns:a="http://schemas.openxmlformats.org/drawingml/2006/main">
            <a:pPr algn="l">
              <a:buNone/>
              <a:defRPr sz="1800" b="1">
                <a:solidFill>
                  <a:srgbClr val="101827"/>
                </a:solidFill>
                <a:latin typeface="Arial"/>
                <a:ea typeface="Arial"/>
                <a:cs typeface="Arial"/>
              </a:defRPr>
            </a:pPr>
            <a:r>
              <a:rPr sz="1800" b="1">
                <a:solidFill>
                  <a:srgbClr val="101827"/>
                </a:solidFill>
                <a:latin typeface="Arial"/>
                <a:ea typeface="Arial"/>
                <a:cs typeface="Arial"/>
              </a:rPr>
              <a:t>Operational use</a:t>
            </a:r>
          </a:p>
        </p:txBody>
      </p:sp>
      <p:sp>
        <p:nvSpPr>
          <p:cNvPr id="13" name="delivery-callout-title-3">
            <a:extLst xmlns:a="http://schemas.openxmlformats.org/drawingml/2006/main">
              <a:ext uri="{FF2B5EF4-FFF2-40B4-BE49-F238E27FC236}">
                <a16:creationId xmlns:a16="http://schemas.microsoft.com/office/drawing/2014/main" id="{09BE5839-12D4-459C-8F06-00B3F56F98F9}"/>
              </a:ext>
            </a:extLst>
          </p:cNvPr>
          <p:cNvSpPr>
            <a:spLocks xmlns:a="http://schemas.openxmlformats.org/drawingml/2006/main" noGrp="1"/>
          </p:cNvSpPr>
          <p:nvPr/>
        </p:nvSpPr>
        <p:spPr>
          <a:xfrm xmlns:a="http://schemas.openxmlformats.org/drawingml/2006/main">
            <a:off x="8896350" y="4552950"/>
            <a:ext cx="2533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00" b="1">
                <a:solidFill>
                  <a:srgbClr val="101827"/>
                </a:solidFill>
                <a:latin typeface="Arial"/>
                <a:ea typeface="Arial"/>
                <a:cs typeface="Arial"/>
              </a:defRPr>
            </a:pPr>
            <a:r>
              <a:rPr sz="1500" b="1">
                <a:solidFill>
                  <a:srgbClr val="101827"/>
                </a:solidFill>
                <a:latin typeface="Arial"/>
                <a:ea typeface="Arial"/>
                <a:cs typeface="Arial"/>
              </a:rPr>
              <a:t>Catch exceptions early</a:t>
            </a:r>
          </a:p>
        </p:txBody>
      </p:sp>
      <p:sp>
        <p:nvSpPr>
          <p:cNvPr id="14" name="delivery-callout-detail-3">
            <a:extLst xmlns:a="http://schemas.openxmlformats.org/drawingml/2006/main">
              <a:ext uri="{FF2B5EF4-FFF2-40B4-BE49-F238E27FC236}">
                <a16:creationId xmlns:a16="http://schemas.microsoft.com/office/drawing/2014/main" id="{E1CFA1AD-9E93-45BF-9686-2005C9CFDF62}"/>
              </a:ext>
            </a:extLst>
          </p:cNvPr>
          <p:cNvSpPr>
            <a:spLocks xmlns:a="http://schemas.openxmlformats.org/drawingml/2006/main" noGrp="1"/>
          </p:cNvSpPr>
          <p:nvPr/>
        </p:nvSpPr>
        <p:spPr>
          <a:xfrm xmlns:a="http://schemas.openxmlformats.org/drawingml/2006/main">
            <a:off x="7353300" y="5067300"/>
            <a:ext cx="4076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00" b="0">
                <a:solidFill>
                  <a:srgbClr val="667085"/>
                </a:solidFill>
                <a:latin typeface="Arial"/>
                <a:ea typeface="Arial"/>
                <a:cs typeface="Arial"/>
              </a:defRPr>
            </a:pPr>
            <a:r>
              <a:rPr sz="1200" b="0">
                <a:solidFill>
                  <a:srgbClr val="667085"/>
                </a:solidFill>
                <a:latin typeface="Arial"/>
                <a:ea typeface="Arial"/>
                <a:cs typeface="Arial"/>
              </a:rPr>
              <a:t>Escalate before promised dates</a:t>
            </a:r>
          </a:p>
        </p:txBody>
      </p:sp>
      <p:sp>
        <p:nvSpPr>
          <p:cNvPr id="15" name="delivery-caveat">
            <a:extLst xmlns:a="http://schemas.openxmlformats.org/drawingml/2006/main">
              <a:ext uri="{FF2B5EF4-FFF2-40B4-BE49-F238E27FC236}">
                <a16:creationId xmlns:a16="http://schemas.microsoft.com/office/drawing/2014/main" id="{09D4A832-635E-46C3-9AEA-E59B763B54DC}"/>
              </a:ext>
            </a:extLst>
          </p:cNvPr>
          <p:cNvSpPr>
            <a:spLocks xmlns:a="http://schemas.openxmlformats.org/drawingml/2006/main" noGrp="1"/>
          </p:cNvSpPr>
          <p:nvPr/>
        </p:nvSpPr>
        <p:spPr>
          <a:xfrm xmlns:a="http://schemas.openxmlformats.org/drawingml/2006/main">
            <a:off x="7086600" y="6000750"/>
            <a:ext cx="461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050" b="0">
                <a:solidFill>
                  <a:srgbClr val="667085"/>
                </a:solidFill>
                <a:latin typeface="Arial"/>
                <a:ea typeface="Arial"/>
                <a:cs typeface="Arial"/>
              </a:defRPr>
            </a:pPr>
            <a:r>
              <a:rPr sz="1050" b="0">
                <a:solidFill>
                  <a:srgbClr val="667085"/>
                </a:solidFill>
                <a:latin typeface="Arial"/>
                <a:ea typeface="Arial"/>
                <a:cs typeface="Arial"/>
              </a:rPr>
              <a:t>This is an association, not proof that lateness caused each review.</a:t>
            </a:r>
          </a:p>
        </p:txBody>
      </p:sp>
      <p:sp>
        <p:nvSpPr>
          <p:cNvPr id="16" name="footer-rule-4">
            <a:extLst xmlns:a="http://schemas.openxmlformats.org/drawingml/2006/main">
              <a:ext uri="{FF2B5EF4-FFF2-40B4-BE49-F238E27FC236}">
                <a16:creationId xmlns:a16="http://schemas.microsoft.com/office/drawing/2014/main" id="{E61870D8-FF11-45E4-86BC-9F1C12588047}"/>
              </a:ext>
            </a:extLst>
          </p:cNvPr>
          <p:cNvSpPr>
            <a:spLocks xmlns:a="http://schemas.openxmlformats.org/drawingml/2006/main" noGrp="1"/>
          </p:cNvSpPr>
          <p:nvPr/>
        </p:nvSpPr>
        <p:spPr>
          <a:xfrm xmlns:a="http://schemas.openxmlformats.org/drawingml/2006/main">
            <a:off x="495300" y="6419850"/>
            <a:ext cx="112014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7" name="footer-label-4">
            <a:extLst xmlns:a="http://schemas.openxmlformats.org/drawingml/2006/main">
              <a:ext uri="{FF2B5EF4-FFF2-40B4-BE49-F238E27FC236}">
                <a16:creationId xmlns:a16="http://schemas.microsoft.com/office/drawing/2014/main" id="{38CE1C0A-62F2-41CA-B5E8-09C186DD4814}"/>
              </a:ext>
            </a:extLst>
          </p:cNvPr>
          <p:cNvSpPr>
            <a:spLocks xmlns:a="http://schemas.openxmlformats.org/drawingml/2006/main" noGrp="1"/>
          </p:cNvSpPr>
          <p:nvPr/>
        </p:nvSpPr>
        <p:spPr>
          <a:xfrm xmlns:a="http://schemas.openxmlformats.org/drawingml/2006/main">
            <a:off x="495300" y="650557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667085"/>
                </a:solidFill>
                <a:latin typeface="Arial"/>
                <a:ea typeface="Arial"/>
                <a:cs typeface="Arial"/>
              </a:defRPr>
            </a:pPr>
            <a:r>
              <a:rPr sz="825" b="1">
                <a:solidFill>
                  <a:srgbClr val="667085"/>
                </a:solidFill>
                <a:latin typeface="Arial"/>
                <a:ea typeface="Arial"/>
                <a:cs typeface="Arial"/>
              </a:rPr>
              <a:t>COMMERCEIQ · PROJECT WALKTHROUGH</a:t>
            </a:r>
          </a:p>
        </p:txBody>
      </p:sp>
      <p:sp>
        <p:nvSpPr>
          <p:cNvPr id="18" name="footer-number-4">
            <a:extLst xmlns:a="http://schemas.openxmlformats.org/drawingml/2006/main">
              <a:ext uri="{FF2B5EF4-FFF2-40B4-BE49-F238E27FC236}">
                <a16:creationId xmlns:a16="http://schemas.microsoft.com/office/drawing/2014/main" id="{BC701734-C800-4686-9788-B52023C25077}"/>
              </a:ext>
            </a:extLst>
          </p:cNvPr>
          <p:cNvSpPr>
            <a:spLocks xmlns:a="http://schemas.openxmlformats.org/drawingml/2006/main" noGrp="1"/>
          </p:cNvSpPr>
          <p:nvPr/>
        </p:nvSpPr>
        <p:spPr>
          <a:xfrm xmlns:a="http://schemas.openxmlformats.org/drawingml/2006/main">
            <a:off x="11315700" y="6505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r">
              <a:buNone/>
              <a:defRPr sz="825" b="0">
                <a:solidFill>
                  <a:srgbClr val="667085"/>
                </a:solidFill>
                <a:latin typeface="Arial"/>
                <a:ea typeface="Arial"/>
                <a:cs typeface="Arial"/>
              </a:defRPr>
            </a:pPr>
            <a:r>
              <a:rPr sz="825" b="0">
                <a:solidFill>
                  <a:srgbClr val="667085"/>
                </a:solidFill>
                <a:latin typeface="Arial"/>
                <a:ea typeface="Arial"/>
                <a:cs typeface="Arial"/>
              </a:rPr>
              <a:t>4</a:t>
            </a:r>
          </a:p>
        </p:txBody>
      </p:sp>
    </p:spTree>
    <p:extLst>
      <p:ext uri="{BB962C8B-B14F-4D97-AF65-F5344CB8AC3E}">
        <p14:creationId xmlns:p14="http://schemas.microsoft.com/office/powerpoint/2010/main" val="8762665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concentration-title">
            <a:extLst xmlns:a="http://schemas.openxmlformats.org/drawingml/2006/main">
              <a:ext uri="{FF2B5EF4-FFF2-40B4-BE49-F238E27FC236}">
                <a16:creationId xmlns:a16="http://schemas.microsoft.com/office/drawing/2014/main" id="{9FC320B4-6F75-4477-B2BE-43C24327D215}"/>
              </a:ext>
            </a:extLst>
          </p:cNvPr>
          <p:cNvSpPr>
            <a:spLocks xmlns:a="http://schemas.openxmlformats.org/drawingml/2006/main" noGrp="1"/>
          </p:cNvSpPr>
          <p:nvPr/>
        </p:nvSpPr>
        <p:spPr>
          <a:xfrm xmlns:a="http://schemas.openxmlformats.org/drawingml/2006/main">
            <a:off x="495300" y="400050"/>
            <a:ext cx="11201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01827"/>
                </a:solidFill>
                <a:latin typeface="Arial"/>
                <a:ea typeface="Arial"/>
                <a:cs typeface="Arial"/>
              </a:defRPr>
            </a:pPr>
            <a:r>
              <a:rPr sz="2850" b="1">
                <a:solidFill>
                  <a:srgbClr val="101827"/>
                </a:solidFill>
                <a:latin typeface="Arial"/>
                <a:ea typeface="Arial"/>
                <a:cs typeface="Arial"/>
              </a:rPr>
              <a:t>Value is concentrated in a few markets</a:t>
            </a:r>
          </a:p>
        </p:txBody>
      </p:sp>
      <p:sp>
        <p:nvSpPr>
          <p:cNvPr id="2" name="concentration-image-frame">
            <a:extLst xmlns:a="http://schemas.openxmlformats.org/drawingml/2006/main">
              <a:ext uri="{FF2B5EF4-FFF2-40B4-BE49-F238E27FC236}">
                <a16:creationId xmlns:a16="http://schemas.microsoft.com/office/drawing/2014/main" id="{5E89A66C-5BF9-48C7-8056-F5B5984F4E4A}"/>
              </a:ext>
            </a:extLst>
          </p:cNvPr>
          <p:cNvSpPr>
            <a:spLocks xmlns:a="http://schemas.openxmlformats.org/drawingml/2006/main" noGrp="1"/>
          </p:cNvSpPr>
          <p:nvPr/>
        </p:nvSpPr>
        <p:spPr>
          <a:xfrm xmlns:a="http://schemas.openxmlformats.org/drawingml/2006/main">
            <a:off x="495300" y="1428750"/>
            <a:ext cx="6572250" cy="4533900"/>
          </a:xfrm>
          <a:prstGeom xmlns:a="http://schemas.openxmlformats.org/drawingml/2006/main" prst="roundRect">
            <a:avLst>
              <a:gd name="adj" fmla="val 2521"/>
            </a:avLst>
          </a:prstGeom>
          <a:solidFill xmlns:a="http://schemas.openxmlformats.org/drawingml/2006/main">
            <a:srgbClr val="F3F4F6"/>
          </a:solidFill>
          <a:ln xmlns:a="http://schemas.openxmlformats.org/drawingml/2006/main" w="9525">
            <a:solidFill>
              <a:srgbClr val="D0D5DD"/>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33a825be9e941a4"/>
          <a:stretch xmlns:a="http://schemas.openxmlformats.org/drawingml/2006/main"/>
        </p:blipFill>
        <p:spPr>
          <a:xfrm xmlns:a="http://schemas.openxmlformats.org/drawingml/2006/main">
            <a:off x="666750" y="1894442"/>
            <a:ext cx="6229350" cy="3602516"/>
          </a:xfrm>
          <a:prstGeom xmlns:a="http://schemas.openxmlformats.org/drawingml/2006/main" prst="rect">
            <a:avLst/>
          </a:prstGeom>
        </p:spPr>
      </p:pic>
      <p:sp>
        <p:nvSpPr>
          <p:cNvPr id="4" name="fact-stat-1">
            <a:extLst xmlns:a="http://schemas.openxmlformats.org/drawingml/2006/main">
              <a:ext uri="{FF2B5EF4-FFF2-40B4-BE49-F238E27FC236}">
                <a16:creationId xmlns:a16="http://schemas.microsoft.com/office/drawing/2014/main" id="{49B22113-D71D-49CF-8439-3256B71E5983}"/>
              </a:ext>
            </a:extLst>
          </p:cNvPr>
          <p:cNvSpPr>
            <a:spLocks xmlns:a="http://schemas.openxmlformats.org/drawingml/2006/main" noGrp="1"/>
          </p:cNvSpPr>
          <p:nvPr/>
        </p:nvSpPr>
        <p:spPr>
          <a:xfrm xmlns:a="http://schemas.openxmlformats.org/drawingml/2006/main">
            <a:off x="7524750" y="15049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buNone/>
              <a:defRPr sz="2550" b="1">
                <a:solidFill>
                  <a:srgbClr val="101827"/>
                </a:solidFill>
                <a:latin typeface="Arial"/>
                <a:ea typeface="Arial"/>
                <a:cs typeface="Arial"/>
              </a:defRPr>
            </a:pPr>
            <a:r>
              <a:rPr sz="2550" b="1">
                <a:solidFill>
                  <a:srgbClr val="101827"/>
                </a:solidFill>
                <a:latin typeface="Arial"/>
                <a:ea typeface="Arial"/>
                <a:cs typeface="Arial"/>
              </a:rPr>
              <a:t>38.33%</a:t>
            </a:r>
          </a:p>
        </p:txBody>
      </p:sp>
      <p:sp>
        <p:nvSpPr>
          <p:cNvPr id="5" name="fact-detail-1">
            <a:extLst xmlns:a="http://schemas.openxmlformats.org/drawingml/2006/main">
              <a:ext uri="{FF2B5EF4-FFF2-40B4-BE49-F238E27FC236}">
                <a16:creationId xmlns:a16="http://schemas.microsoft.com/office/drawing/2014/main" id="{0EDAB55F-C6EE-42F5-B5D0-7610587CA04E}"/>
              </a:ext>
            </a:extLst>
          </p:cNvPr>
          <p:cNvSpPr>
            <a:spLocks xmlns:a="http://schemas.openxmlformats.org/drawingml/2006/main" noGrp="1"/>
          </p:cNvSpPr>
          <p:nvPr/>
        </p:nvSpPr>
        <p:spPr>
          <a:xfrm xmlns:a="http://schemas.openxmlformats.org/drawingml/2006/main">
            <a:off x="9163050" y="15430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667085"/>
                </a:solidFill>
                <a:latin typeface="Arial"/>
                <a:ea typeface="Arial"/>
                <a:cs typeface="Arial"/>
              </a:defRPr>
            </a:pPr>
            <a:r>
              <a:rPr sz="1350" b="0">
                <a:solidFill>
                  <a:srgbClr val="667085"/>
                </a:solidFill>
                <a:latin typeface="Arial"/>
                <a:ea typeface="Arial"/>
                <a:cs typeface="Arial"/>
              </a:rPr>
              <a:t>of delivered GMV comes from São Paulo</a:t>
            </a:r>
          </a:p>
        </p:txBody>
      </p:sp>
      <p:sp>
        <p:nvSpPr>
          <p:cNvPr id="6" name="fact-rule-1">
            <a:extLst xmlns:a="http://schemas.openxmlformats.org/drawingml/2006/main">
              <a:ext uri="{FF2B5EF4-FFF2-40B4-BE49-F238E27FC236}">
                <a16:creationId xmlns:a16="http://schemas.microsoft.com/office/drawing/2014/main" id="{45083548-AC91-4F62-B98C-F31FACAA79BD}"/>
              </a:ext>
            </a:extLst>
          </p:cNvPr>
          <p:cNvSpPr>
            <a:spLocks xmlns:a="http://schemas.openxmlformats.org/drawingml/2006/main" noGrp="1"/>
          </p:cNvSpPr>
          <p:nvPr/>
        </p:nvSpPr>
        <p:spPr>
          <a:xfrm xmlns:a="http://schemas.openxmlformats.org/drawingml/2006/main">
            <a:off x="7524750" y="2305050"/>
            <a:ext cx="401955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7" name="fact-stat-2">
            <a:extLst xmlns:a="http://schemas.openxmlformats.org/drawingml/2006/main">
              <a:ext uri="{FF2B5EF4-FFF2-40B4-BE49-F238E27FC236}">
                <a16:creationId xmlns:a16="http://schemas.microsoft.com/office/drawing/2014/main" id="{9D1CAE48-A8C7-4E2C-A3A9-D305BED1C82E}"/>
              </a:ext>
            </a:extLst>
          </p:cNvPr>
          <p:cNvSpPr>
            <a:spLocks xmlns:a="http://schemas.openxmlformats.org/drawingml/2006/main" noGrp="1"/>
          </p:cNvSpPr>
          <p:nvPr/>
        </p:nvSpPr>
        <p:spPr>
          <a:xfrm xmlns:a="http://schemas.openxmlformats.org/drawingml/2006/main">
            <a:off x="7524750" y="25717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buNone/>
              <a:defRPr sz="2550" b="1">
                <a:solidFill>
                  <a:srgbClr val="101827"/>
                </a:solidFill>
                <a:latin typeface="Arial"/>
                <a:ea typeface="Arial"/>
                <a:cs typeface="Arial"/>
              </a:defRPr>
            </a:pPr>
            <a:r>
              <a:rPr sz="2550" b="1">
                <a:solidFill>
                  <a:srgbClr val="101827"/>
                </a:solidFill>
                <a:latin typeface="Arial"/>
                <a:ea typeface="Arial"/>
                <a:cs typeface="Arial"/>
              </a:rPr>
              <a:t>63.38%</a:t>
            </a:r>
          </a:p>
        </p:txBody>
      </p:sp>
      <p:sp>
        <p:nvSpPr>
          <p:cNvPr id="8" name="fact-detail-2">
            <a:extLst xmlns:a="http://schemas.openxmlformats.org/drawingml/2006/main">
              <a:ext uri="{FF2B5EF4-FFF2-40B4-BE49-F238E27FC236}">
                <a16:creationId xmlns:a16="http://schemas.microsoft.com/office/drawing/2014/main" id="{550FE7CA-6D09-4C37-A4E2-AD72FA5E0553}"/>
              </a:ext>
            </a:extLst>
          </p:cNvPr>
          <p:cNvSpPr>
            <a:spLocks xmlns:a="http://schemas.openxmlformats.org/drawingml/2006/main" noGrp="1"/>
          </p:cNvSpPr>
          <p:nvPr/>
        </p:nvSpPr>
        <p:spPr>
          <a:xfrm xmlns:a="http://schemas.openxmlformats.org/drawingml/2006/main">
            <a:off x="9163050" y="26098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667085"/>
                </a:solidFill>
                <a:latin typeface="Arial"/>
                <a:ea typeface="Arial"/>
                <a:cs typeface="Arial"/>
              </a:defRPr>
            </a:pPr>
            <a:r>
              <a:rPr sz="1350" b="0">
                <a:solidFill>
                  <a:srgbClr val="667085"/>
                </a:solidFill>
                <a:latin typeface="Arial"/>
                <a:ea typeface="Arial"/>
                <a:cs typeface="Arial"/>
              </a:rPr>
              <a:t>comes from SP, RJ, and MG combined</a:t>
            </a:r>
          </a:p>
        </p:txBody>
      </p:sp>
      <p:sp>
        <p:nvSpPr>
          <p:cNvPr id="9" name="fact-rule-2">
            <a:extLst xmlns:a="http://schemas.openxmlformats.org/drawingml/2006/main">
              <a:ext uri="{FF2B5EF4-FFF2-40B4-BE49-F238E27FC236}">
                <a16:creationId xmlns:a16="http://schemas.microsoft.com/office/drawing/2014/main" id="{06B7080F-AAB7-4BC0-9868-2998FF1B0F64}"/>
              </a:ext>
            </a:extLst>
          </p:cNvPr>
          <p:cNvSpPr>
            <a:spLocks xmlns:a="http://schemas.openxmlformats.org/drawingml/2006/main" noGrp="1"/>
          </p:cNvSpPr>
          <p:nvPr/>
        </p:nvSpPr>
        <p:spPr>
          <a:xfrm xmlns:a="http://schemas.openxmlformats.org/drawingml/2006/main">
            <a:off x="7524750" y="3371850"/>
            <a:ext cx="401955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0" name="fact-stat-3">
            <a:extLst xmlns:a="http://schemas.openxmlformats.org/drawingml/2006/main">
              <a:ext uri="{FF2B5EF4-FFF2-40B4-BE49-F238E27FC236}">
                <a16:creationId xmlns:a16="http://schemas.microsoft.com/office/drawing/2014/main" id="{834B4F58-0972-4076-9F3B-F8EF02EDC951}"/>
              </a:ext>
            </a:extLst>
          </p:cNvPr>
          <p:cNvSpPr>
            <a:spLocks xmlns:a="http://schemas.openxmlformats.org/drawingml/2006/main" noGrp="1"/>
          </p:cNvSpPr>
          <p:nvPr/>
        </p:nvSpPr>
        <p:spPr>
          <a:xfrm xmlns:a="http://schemas.openxmlformats.org/drawingml/2006/main">
            <a:off x="7524750" y="36385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buNone/>
              <a:defRPr sz="2550" b="1">
                <a:solidFill>
                  <a:srgbClr val="101827"/>
                </a:solidFill>
                <a:latin typeface="Arial"/>
                <a:ea typeface="Arial"/>
                <a:cs typeface="Arial"/>
              </a:defRPr>
            </a:pPr>
            <a:r>
              <a:rPr sz="2550" b="1">
                <a:solidFill>
                  <a:srgbClr val="101827"/>
                </a:solidFill>
                <a:latin typeface="Arial"/>
                <a:ea typeface="Arial"/>
                <a:cs typeface="Arial"/>
              </a:rPr>
              <a:t>78.34%</a:t>
            </a:r>
          </a:p>
        </p:txBody>
      </p:sp>
      <p:sp>
        <p:nvSpPr>
          <p:cNvPr id="11" name="fact-detail-3">
            <a:extLst xmlns:a="http://schemas.openxmlformats.org/drawingml/2006/main">
              <a:ext uri="{FF2B5EF4-FFF2-40B4-BE49-F238E27FC236}">
                <a16:creationId xmlns:a16="http://schemas.microsoft.com/office/drawing/2014/main" id="{90E5C133-3059-4254-B78C-452820351E3B}"/>
              </a:ext>
            </a:extLst>
          </p:cNvPr>
          <p:cNvSpPr>
            <a:spLocks xmlns:a="http://schemas.openxmlformats.org/drawingml/2006/main" noGrp="1"/>
          </p:cNvSpPr>
          <p:nvPr/>
        </p:nvSpPr>
        <p:spPr>
          <a:xfrm xmlns:a="http://schemas.openxmlformats.org/drawingml/2006/main">
            <a:off x="9163050" y="36766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667085"/>
                </a:solidFill>
                <a:latin typeface="Arial"/>
                <a:ea typeface="Arial"/>
                <a:cs typeface="Arial"/>
              </a:defRPr>
            </a:pPr>
            <a:r>
              <a:rPr sz="1350" b="0">
                <a:solidFill>
                  <a:srgbClr val="667085"/>
                </a:solidFill>
                <a:latin typeface="Arial"/>
                <a:ea typeface="Arial"/>
                <a:cs typeface="Arial"/>
              </a:rPr>
              <a:t>of payment value uses credit cards</a:t>
            </a:r>
          </a:p>
        </p:txBody>
      </p:sp>
      <p:sp>
        <p:nvSpPr>
          <p:cNvPr id="12" name="fact-rule-3">
            <a:extLst xmlns:a="http://schemas.openxmlformats.org/drawingml/2006/main">
              <a:ext uri="{FF2B5EF4-FFF2-40B4-BE49-F238E27FC236}">
                <a16:creationId xmlns:a16="http://schemas.microsoft.com/office/drawing/2014/main" id="{697F124D-ADC9-4FD8-9553-7E6887C4A870}"/>
              </a:ext>
            </a:extLst>
          </p:cNvPr>
          <p:cNvSpPr>
            <a:spLocks xmlns:a="http://schemas.openxmlformats.org/drawingml/2006/main" noGrp="1"/>
          </p:cNvSpPr>
          <p:nvPr/>
        </p:nvSpPr>
        <p:spPr>
          <a:xfrm xmlns:a="http://schemas.openxmlformats.org/drawingml/2006/main">
            <a:off x="7524750" y="4438650"/>
            <a:ext cx="401955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3" name="fact-stat-4">
            <a:extLst xmlns:a="http://schemas.openxmlformats.org/drawingml/2006/main">
              <a:ext uri="{FF2B5EF4-FFF2-40B4-BE49-F238E27FC236}">
                <a16:creationId xmlns:a16="http://schemas.microsoft.com/office/drawing/2014/main" id="{07B1A371-B506-49A2-8CAF-E269EE547668}"/>
              </a:ext>
            </a:extLst>
          </p:cNvPr>
          <p:cNvSpPr>
            <a:spLocks xmlns:a="http://schemas.openxmlformats.org/drawingml/2006/main" noGrp="1"/>
          </p:cNvSpPr>
          <p:nvPr/>
        </p:nvSpPr>
        <p:spPr>
          <a:xfrm xmlns:a="http://schemas.openxmlformats.org/drawingml/2006/main">
            <a:off x="7524750" y="47053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buNone/>
              <a:defRPr sz="2550" b="1">
                <a:solidFill>
                  <a:srgbClr val="2563EB"/>
                </a:solidFill>
                <a:latin typeface="Arial"/>
                <a:ea typeface="Arial"/>
                <a:cs typeface="Arial"/>
              </a:defRPr>
            </a:pPr>
            <a:r>
              <a:rPr sz="2550" b="1">
                <a:solidFill>
                  <a:srgbClr val="2563EB"/>
                </a:solidFill>
                <a:latin typeface="Arial"/>
                <a:ea typeface="Arial"/>
                <a:cs typeface="Arial"/>
              </a:rPr>
              <a:t>3.00%</a:t>
            </a:r>
          </a:p>
        </p:txBody>
      </p:sp>
      <p:sp>
        <p:nvSpPr>
          <p:cNvPr id="14" name="fact-detail-4">
            <a:extLst xmlns:a="http://schemas.openxmlformats.org/drawingml/2006/main">
              <a:ext uri="{FF2B5EF4-FFF2-40B4-BE49-F238E27FC236}">
                <a16:creationId xmlns:a16="http://schemas.microsoft.com/office/drawing/2014/main" id="{94EB3EE8-E5AE-4293-8F25-0E1DF80F212B}"/>
              </a:ext>
            </a:extLst>
          </p:cNvPr>
          <p:cNvSpPr>
            <a:spLocks xmlns:a="http://schemas.openxmlformats.org/drawingml/2006/main" noGrp="1"/>
          </p:cNvSpPr>
          <p:nvPr/>
        </p:nvSpPr>
        <p:spPr>
          <a:xfrm xmlns:a="http://schemas.openxmlformats.org/drawingml/2006/main">
            <a:off x="9163050" y="4743450"/>
            <a:ext cx="238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667085"/>
                </a:solidFill>
                <a:latin typeface="Arial"/>
                <a:ea typeface="Arial"/>
                <a:cs typeface="Arial"/>
              </a:defRPr>
            </a:pPr>
            <a:r>
              <a:rPr sz="1350" b="0">
                <a:solidFill>
                  <a:srgbClr val="667085"/>
                </a:solidFill>
                <a:latin typeface="Arial"/>
                <a:ea typeface="Arial"/>
                <a:cs typeface="Arial"/>
              </a:rPr>
              <a:t>of delivered customers repeat in-window</a:t>
            </a:r>
          </a:p>
        </p:txBody>
      </p:sp>
      <p:sp>
        <p:nvSpPr>
          <p:cNvPr id="15" name="concentration-implication">
            <a:extLst xmlns:a="http://schemas.openxmlformats.org/drawingml/2006/main">
              <a:ext uri="{FF2B5EF4-FFF2-40B4-BE49-F238E27FC236}">
                <a16:creationId xmlns:a16="http://schemas.microsoft.com/office/drawing/2014/main" id="{3228BBD8-4AB0-4289-A548-395191776415}"/>
              </a:ext>
            </a:extLst>
          </p:cNvPr>
          <p:cNvSpPr>
            <a:spLocks xmlns:a="http://schemas.openxmlformats.org/drawingml/2006/main" noGrp="1"/>
          </p:cNvSpPr>
          <p:nvPr/>
        </p:nvSpPr>
        <p:spPr>
          <a:xfrm xmlns:a="http://schemas.openxmlformats.org/drawingml/2006/main">
            <a:off x="7524750" y="5772150"/>
            <a:ext cx="4019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275" b="1">
                <a:solidFill>
                  <a:srgbClr val="2563EB"/>
                </a:solidFill>
                <a:latin typeface="Arial"/>
                <a:ea typeface="Arial"/>
                <a:cs typeface="Arial"/>
              </a:defRPr>
            </a:pPr>
            <a:r>
              <a:rPr sz="1275" b="1">
                <a:solidFill>
                  <a:srgbClr val="2563EB"/>
                </a:solidFill>
                <a:latin typeface="Arial"/>
                <a:ea typeface="Arial"/>
                <a:cs typeface="Arial"/>
              </a:rPr>
              <a:t>Monitor service levels first in SP, RJ, and MG, then compare with the rest of the marketplace.</a:t>
            </a:r>
          </a:p>
        </p:txBody>
      </p:sp>
      <p:sp>
        <p:nvSpPr>
          <p:cNvPr id="16" name="footer-rule-5">
            <a:extLst xmlns:a="http://schemas.openxmlformats.org/drawingml/2006/main">
              <a:ext uri="{FF2B5EF4-FFF2-40B4-BE49-F238E27FC236}">
                <a16:creationId xmlns:a16="http://schemas.microsoft.com/office/drawing/2014/main" id="{607C53F1-93C4-4BF8-9C24-BDD63FF676DD}"/>
              </a:ext>
            </a:extLst>
          </p:cNvPr>
          <p:cNvSpPr>
            <a:spLocks xmlns:a="http://schemas.openxmlformats.org/drawingml/2006/main" noGrp="1"/>
          </p:cNvSpPr>
          <p:nvPr/>
        </p:nvSpPr>
        <p:spPr>
          <a:xfrm xmlns:a="http://schemas.openxmlformats.org/drawingml/2006/main">
            <a:off x="495300" y="6419850"/>
            <a:ext cx="112014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7" name="footer-label-5">
            <a:extLst xmlns:a="http://schemas.openxmlformats.org/drawingml/2006/main">
              <a:ext uri="{FF2B5EF4-FFF2-40B4-BE49-F238E27FC236}">
                <a16:creationId xmlns:a16="http://schemas.microsoft.com/office/drawing/2014/main" id="{71401CD5-1E5A-4BBB-9549-0B5C0D06DBB8}"/>
              </a:ext>
            </a:extLst>
          </p:cNvPr>
          <p:cNvSpPr>
            <a:spLocks xmlns:a="http://schemas.openxmlformats.org/drawingml/2006/main" noGrp="1"/>
          </p:cNvSpPr>
          <p:nvPr/>
        </p:nvSpPr>
        <p:spPr>
          <a:xfrm xmlns:a="http://schemas.openxmlformats.org/drawingml/2006/main">
            <a:off x="495300" y="650557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667085"/>
                </a:solidFill>
                <a:latin typeface="Arial"/>
                <a:ea typeface="Arial"/>
                <a:cs typeface="Arial"/>
              </a:defRPr>
            </a:pPr>
            <a:r>
              <a:rPr sz="825" b="1">
                <a:solidFill>
                  <a:srgbClr val="667085"/>
                </a:solidFill>
                <a:latin typeface="Arial"/>
                <a:ea typeface="Arial"/>
                <a:cs typeface="Arial"/>
              </a:rPr>
              <a:t>COMMERCEIQ · PROJECT WALKTHROUGH</a:t>
            </a:r>
          </a:p>
        </p:txBody>
      </p:sp>
      <p:sp>
        <p:nvSpPr>
          <p:cNvPr id="18" name="footer-number-5">
            <a:extLst xmlns:a="http://schemas.openxmlformats.org/drawingml/2006/main">
              <a:ext uri="{FF2B5EF4-FFF2-40B4-BE49-F238E27FC236}">
                <a16:creationId xmlns:a16="http://schemas.microsoft.com/office/drawing/2014/main" id="{446C39E7-3F83-49F2-9397-A975BD5E064B}"/>
              </a:ext>
            </a:extLst>
          </p:cNvPr>
          <p:cNvSpPr>
            <a:spLocks xmlns:a="http://schemas.openxmlformats.org/drawingml/2006/main" noGrp="1"/>
          </p:cNvSpPr>
          <p:nvPr/>
        </p:nvSpPr>
        <p:spPr>
          <a:xfrm xmlns:a="http://schemas.openxmlformats.org/drawingml/2006/main">
            <a:off x="11315700" y="6505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r">
              <a:buNone/>
              <a:defRPr sz="825" b="0">
                <a:solidFill>
                  <a:srgbClr val="667085"/>
                </a:solidFill>
                <a:latin typeface="Arial"/>
                <a:ea typeface="Arial"/>
                <a:cs typeface="Arial"/>
              </a:defRPr>
            </a:pPr>
            <a:r>
              <a:rPr sz="825" b="0">
                <a:solidFill>
                  <a:srgbClr val="667085"/>
                </a:solidFill>
                <a:latin typeface="Arial"/>
                <a:ea typeface="Arial"/>
                <a:cs typeface="Arial"/>
              </a:rPr>
              <a:t>5</a:t>
            </a:r>
          </a:p>
        </p:txBody>
      </p:sp>
    </p:spTree>
    <p:extLst>
      <p:ext uri="{BB962C8B-B14F-4D97-AF65-F5344CB8AC3E}">
        <p14:creationId xmlns:p14="http://schemas.microsoft.com/office/powerpoint/2010/main" val="8105732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recommendation-title">
            <a:extLst xmlns:a="http://schemas.openxmlformats.org/drawingml/2006/main">
              <a:ext uri="{FF2B5EF4-FFF2-40B4-BE49-F238E27FC236}">
                <a16:creationId xmlns:a16="http://schemas.microsoft.com/office/drawing/2014/main" id="{BE6680E0-ED1F-477B-B92F-306D3FEB7DC1}"/>
              </a:ext>
            </a:extLst>
          </p:cNvPr>
          <p:cNvSpPr>
            <a:spLocks xmlns:a="http://schemas.openxmlformats.org/drawingml/2006/main" noGrp="1"/>
          </p:cNvSpPr>
          <p:nvPr/>
        </p:nvSpPr>
        <p:spPr>
          <a:xfrm xmlns:a="http://schemas.openxmlformats.org/drawingml/2006/main">
            <a:off x="495300" y="400050"/>
            <a:ext cx="112014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2850" b="1">
                <a:solidFill>
                  <a:srgbClr val="101827"/>
                </a:solidFill>
                <a:latin typeface="Arial"/>
                <a:ea typeface="Arial"/>
                <a:cs typeface="Arial"/>
              </a:defRPr>
            </a:pPr>
            <a:r>
              <a:rPr sz="2850" b="1">
                <a:solidFill>
                  <a:srgbClr val="101827"/>
                </a:solidFill>
                <a:latin typeface="Arial"/>
                <a:ea typeface="Arial"/>
                <a:cs typeface="Arial"/>
              </a:rPr>
              <a:t>Where I would take the analysis next</a:t>
            </a:r>
          </a:p>
        </p:txBody>
      </p:sp>
      <p:sp>
        <p:nvSpPr>
          <p:cNvPr id="2" name="recommendation-subtitle">
            <a:extLst xmlns:a="http://schemas.openxmlformats.org/drawingml/2006/main">
              <a:ext uri="{FF2B5EF4-FFF2-40B4-BE49-F238E27FC236}">
                <a16:creationId xmlns:a16="http://schemas.microsoft.com/office/drawing/2014/main" id="{5C06696A-91EA-4572-9041-5F0B7AC960F0}"/>
              </a:ext>
            </a:extLst>
          </p:cNvPr>
          <p:cNvSpPr>
            <a:spLocks xmlns:a="http://schemas.openxmlformats.org/drawingml/2006/main" noGrp="1"/>
          </p:cNvSpPr>
          <p:nvPr/>
        </p:nvSpPr>
        <p:spPr>
          <a:xfrm xmlns:a="http://schemas.openxmlformats.org/drawingml/2006/main">
            <a:off x="495300" y="1238250"/>
            <a:ext cx="876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575" b="0">
                <a:solidFill>
                  <a:srgbClr val="667085"/>
                </a:solidFill>
                <a:latin typeface="Arial"/>
                <a:ea typeface="Arial"/>
                <a:cs typeface="Arial"/>
              </a:defRPr>
            </a:pPr>
            <a:r>
              <a:rPr sz="1575" b="0">
                <a:solidFill>
                  <a:srgbClr val="667085"/>
                </a:solidFill>
                <a:latin typeface="Arial"/>
                <a:ea typeface="Arial"/>
                <a:cs typeface="Arial"/>
              </a:rPr>
              <a:t>The patterns suggest three practical follow-ups.</a:t>
            </a:r>
          </a:p>
        </p:txBody>
      </p:sp>
      <p:sp>
        <p:nvSpPr>
          <p:cNvPr id="3" name="action-number-01">
            <a:extLst xmlns:a="http://schemas.openxmlformats.org/drawingml/2006/main">
              <a:ext uri="{FF2B5EF4-FFF2-40B4-BE49-F238E27FC236}">
                <a16:creationId xmlns:a16="http://schemas.microsoft.com/office/drawing/2014/main" id="{3CCB07AD-470B-4644-A0C0-A599303C3DE5}"/>
              </a:ext>
            </a:extLst>
          </p:cNvPr>
          <p:cNvSpPr>
            <a:spLocks xmlns:a="http://schemas.openxmlformats.org/drawingml/2006/main" noGrp="1"/>
          </p:cNvSpPr>
          <p:nvPr/>
        </p:nvSpPr>
        <p:spPr>
          <a:xfrm xmlns:a="http://schemas.openxmlformats.org/drawingml/2006/main">
            <a:off x="495300" y="21145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2563EB"/>
                </a:solidFill>
                <a:latin typeface="Arial"/>
                <a:ea typeface="Arial"/>
                <a:cs typeface="Arial"/>
              </a:defRPr>
            </a:pPr>
            <a:r>
              <a:rPr sz="1800" b="1">
                <a:solidFill>
                  <a:srgbClr val="2563EB"/>
                </a:solidFill>
                <a:latin typeface="Arial"/>
                <a:ea typeface="Arial"/>
                <a:cs typeface="Arial"/>
              </a:rPr>
              <a:t>01</a:t>
            </a:r>
          </a:p>
        </p:txBody>
      </p:sp>
      <p:sp>
        <p:nvSpPr>
          <p:cNvPr id="4" name="action-rule-01">
            <a:extLst xmlns:a="http://schemas.openxmlformats.org/drawingml/2006/main">
              <a:ext uri="{FF2B5EF4-FFF2-40B4-BE49-F238E27FC236}">
                <a16:creationId xmlns:a16="http://schemas.microsoft.com/office/drawing/2014/main" id="{F3D3B486-2BB7-4632-8A09-534F4F9EF9DE}"/>
              </a:ext>
            </a:extLst>
          </p:cNvPr>
          <p:cNvSpPr>
            <a:spLocks xmlns:a="http://schemas.openxmlformats.org/drawingml/2006/main" noGrp="1"/>
          </p:cNvSpPr>
          <p:nvPr/>
        </p:nvSpPr>
        <p:spPr>
          <a:xfrm xmlns:a="http://schemas.openxmlformats.org/drawingml/2006/main">
            <a:off x="495300" y="2628900"/>
            <a:ext cx="33528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5" name="action-title-01">
            <a:extLst xmlns:a="http://schemas.openxmlformats.org/drawingml/2006/main">
              <a:ext uri="{FF2B5EF4-FFF2-40B4-BE49-F238E27FC236}">
                <a16:creationId xmlns:a16="http://schemas.microsoft.com/office/drawing/2014/main" id="{E7E25AD3-9CF1-48EA-BE33-CA03967241AA}"/>
              </a:ext>
            </a:extLst>
          </p:cNvPr>
          <p:cNvSpPr>
            <a:spLocks xmlns:a="http://schemas.openxmlformats.org/drawingml/2006/main" noGrp="1"/>
          </p:cNvSpPr>
          <p:nvPr/>
        </p:nvSpPr>
        <p:spPr>
          <a:xfrm xmlns:a="http://schemas.openxmlformats.org/drawingml/2006/main">
            <a:off x="495300" y="2914650"/>
            <a:ext cx="335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01827"/>
                </a:solidFill>
                <a:latin typeface="Arial"/>
                <a:ea typeface="Arial"/>
                <a:cs typeface="Arial"/>
              </a:defRPr>
            </a:pPr>
            <a:r>
              <a:rPr sz="1875" b="1">
                <a:solidFill>
                  <a:srgbClr val="101827"/>
                </a:solidFill>
                <a:latin typeface="Arial"/>
                <a:ea typeface="Arial"/>
                <a:cs typeface="Arial"/>
              </a:rPr>
              <a:t>Catch late orders earlier</a:t>
            </a:r>
          </a:p>
        </p:txBody>
      </p:sp>
      <p:sp>
        <p:nvSpPr>
          <p:cNvPr id="6" name="action-detail-01">
            <a:extLst xmlns:a="http://schemas.openxmlformats.org/drawingml/2006/main">
              <a:ext uri="{FF2B5EF4-FFF2-40B4-BE49-F238E27FC236}">
                <a16:creationId xmlns:a16="http://schemas.microsoft.com/office/drawing/2014/main" id="{3A26B9FC-1717-46C0-B6D2-FB0EB1F8AF00}"/>
              </a:ext>
            </a:extLst>
          </p:cNvPr>
          <p:cNvSpPr>
            <a:spLocks xmlns:a="http://schemas.openxmlformats.org/drawingml/2006/main" noGrp="1"/>
          </p:cNvSpPr>
          <p:nvPr/>
        </p:nvSpPr>
        <p:spPr>
          <a:xfrm xmlns:a="http://schemas.openxmlformats.org/drawingml/2006/main">
            <a:off x="495300" y="3695700"/>
            <a:ext cx="335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667085"/>
                </a:solidFill>
                <a:latin typeface="Arial"/>
                <a:ea typeface="Arial"/>
                <a:cs typeface="Arial"/>
              </a:defRPr>
            </a:pPr>
            <a:r>
              <a:rPr sz="1350" b="0">
                <a:solidFill>
                  <a:srgbClr val="667085"/>
                </a:solidFill>
                <a:latin typeface="Arial"/>
                <a:ea typeface="Arial"/>
                <a:cs typeface="Arial"/>
              </a:rPr>
              <a:t>Flag orders using estimated date, seller, carrier handoff, and destination state.</a:t>
            </a:r>
          </a:p>
        </p:txBody>
      </p:sp>
      <p:sp>
        <p:nvSpPr>
          <p:cNvPr id="7" name="action-number-02">
            <a:extLst xmlns:a="http://schemas.openxmlformats.org/drawingml/2006/main">
              <a:ext uri="{FF2B5EF4-FFF2-40B4-BE49-F238E27FC236}">
                <a16:creationId xmlns:a16="http://schemas.microsoft.com/office/drawing/2014/main" id="{9113A4D4-6156-46C8-983F-FA51C5A9342E}"/>
              </a:ext>
            </a:extLst>
          </p:cNvPr>
          <p:cNvSpPr>
            <a:spLocks xmlns:a="http://schemas.openxmlformats.org/drawingml/2006/main" noGrp="1"/>
          </p:cNvSpPr>
          <p:nvPr/>
        </p:nvSpPr>
        <p:spPr>
          <a:xfrm xmlns:a="http://schemas.openxmlformats.org/drawingml/2006/main">
            <a:off x="4324350" y="21145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2563EB"/>
                </a:solidFill>
                <a:latin typeface="Arial"/>
                <a:ea typeface="Arial"/>
                <a:cs typeface="Arial"/>
              </a:defRPr>
            </a:pPr>
            <a:r>
              <a:rPr sz="1800" b="1">
                <a:solidFill>
                  <a:srgbClr val="2563EB"/>
                </a:solidFill>
                <a:latin typeface="Arial"/>
                <a:ea typeface="Arial"/>
                <a:cs typeface="Arial"/>
              </a:rPr>
              <a:t>02</a:t>
            </a:r>
          </a:p>
        </p:txBody>
      </p:sp>
      <p:sp>
        <p:nvSpPr>
          <p:cNvPr id="8" name="action-rule-02">
            <a:extLst xmlns:a="http://schemas.openxmlformats.org/drawingml/2006/main">
              <a:ext uri="{FF2B5EF4-FFF2-40B4-BE49-F238E27FC236}">
                <a16:creationId xmlns:a16="http://schemas.microsoft.com/office/drawing/2014/main" id="{87FB264D-8B42-40CD-A50C-A7095C830EDA}"/>
              </a:ext>
            </a:extLst>
          </p:cNvPr>
          <p:cNvSpPr>
            <a:spLocks xmlns:a="http://schemas.openxmlformats.org/drawingml/2006/main" noGrp="1"/>
          </p:cNvSpPr>
          <p:nvPr/>
        </p:nvSpPr>
        <p:spPr>
          <a:xfrm xmlns:a="http://schemas.openxmlformats.org/drawingml/2006/main">
            <a:off x="4324350" y="2628900"/>
            <a:ext cx="33528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9" name="action-title-02">
            <a:extLst xmlns:a="http://schemas.openxmlformats.org/drawingml/2006/main">
              <a:ext uri="{FF2B5EF4-FFF2-40B4-BE49-F238E27FC236}">
                <a16:creationId xmlns:a16="http://schemas.microsoft.com/office/drawing/2014/main" id="{B7AEB490-6AF4-44F6-A1F1-8FB1ECAB2C4E}"/>
              </a:ext>
            </a:extLst>
          </p:cNvPr>
          <p:cNvSpPr>
            <a:spLocks xmlns:a="http://schemas.openxmlformats.org/drawingml/2006/main" noGrp="1"/>
          </p:cNvSpPr>
          <p:nvPr/>
        </p:nvSpPr>
        <p:spPr>
          <a:xfrm xmlns:a="http://schemas.openxmlformats.org/drawingml/2006/main">
            <a:off x="4324350" y="2914650"/>
            <a:ext cx="335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01827"/>
                </a:solidFill>
                <a:latin typeface="Arial"/>
                <a:ea typeface="Arial"/>
                <a:cs typeface="Arial"/>
              </a:defRPr>
            </a:pPr>
            <a:r>
              <a:rPr sz="1875" b="1">
                <a:solidFill>
                  <a:srgbClr val="101827"/>
                </a:solidFill>
                <a:latin typeface="Arial"/>
                <a:ea typeface="Arial"/>
                <a:cs typeface="Arial"/>
              </a:rPr>
              <a:t>Focus the first rollout</a:t>
            </a:r>
          </a:p>
        </p:txBody>
      </p:sp>
      <p:sp>
        <p:nvSpPr>
          <p:cNvPr id="10" name="action-detail-02">
            <a:extLst xmlns:a="http://schemas.openxmlformats.org/drawingml/2006/main">
              <a:ext uri="{FF2B5EF4-FFF2-40B4-BE49-F238E27FC236}">
                <a16:creationId xmlns:a16="http://schemas.microsoft.com/office/drawing/2014/main" id="{9F916C62-EB71-4170-B005-3D2F8DBED7DD}"/>
              </a:ext>
            </a:extLst>
          </p:cNvPr>
          <p:cNvSpPr>
            <a:spLocks xmlns:a="http://schemas.openxmlformats.org/drawingml/2006/main" noGrp="1"/>
          </p:cNvSpPr>
          <p:nvPr/>
        </p:nvSpPr>
        <p:spPr>
          <a:xfrm xmlns:a="http://schemas.openxmlformats.org/drawingml/2006/main">
            <a:off x="4324350" y="3695700"/>
            <a:ext cx="335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667085"/>
                </a:solidFill>
                <a:latin typeface="Arial"/>
                <a:ea typeface="Arial"/>
                <a:cs typeface="Arial"/>
              </a:defRPr>
            </a:pPr>
            <a:r>
              <a:rPr sz="1350" b="0">
                <a:solidFill>
                  <a:srgbClr val="667085"/>
                </a:solidFill>
                <a:latin typeface="Arial"/>
                <a:ea typeface="Arial"/>
                <a:cs typeface="Arial"/>
              </a:rPr>
              <a:t>Monitor service levels first in the highest-GMV states and categories.</a:t>
            </a:r>
          </a:p>
        </p:txBody>
      </p:sp>
      <p:sp>
        <p:nvSpPr>
          <p:cNvPr id="11" name="action-number-03">
            <a:extLst xmlns:a="http://schemas.openxmlformats.org/drawingml/2006/main">
              <a:ext uri="{FF2B5EF4-FFF2-40B4-BE49-F238E27FC236}">
                <a16:creationId xmlns:a16="http://schemas.microsoft.com/office/drawing/2014/main" id="{7B8CC56A-4DE3-4EC1-89A5-67B5F11C206F}"/>
              </a:ext>
            </a:extLst>
          </p:cNvPr>
          <p:cNvSpPr>
            <a:spLocks xmlns:a="http://schemas.openxmlformats.org/drawingml/2006/main" noGrp="1"/>
          </p:cNvSpPr>
          <p:nvPr/>
        </p:nvSpPr>
        <p:spPr>
          <a:xfrm xmlns:a="http://schemas.openxmlformats.org/drawingml/2006/main">
            <a:off x="8153400" y="2114550"/>
            <a:ext cx="66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00" b="1">
                <a:solidFill>
                  <a:srgbClr val="2563EB"/>
                </a:solidFill>
                <a:latin typeface="Arial"/>
                <a:ea typeface="Arial"/>
                <a:cs typeface="Arial"/>
              </a:defRPr>
            </a:pPr>
            <a:r>
              <a:rPr sz="1800" b="1">
                <a:solidFill>
                  <a:srgbClr val="2563EB"/>
                </a:solidFill>
                <a:latin typeface="Arial"/>
                <a:ea typeface="Arial"/>
                <a:cs typeface="Arial"/>
              </a:rPr>
              <a:t>03</a:t>
            </a:r>
          </a:p>
        </p:txBody>
      </p:sp>
      <p:sp>
        <p:nvSpPr>
          <p:cNvPr id="12" name="action-rule-03">
            <a:extLst xmlns:a="http://schemas.openxmlformats.org/drawingml/2006/main">
              <a:ext uri="{FF2B5EF4-FFF2-40B4-BE49-F238E27FC236}">
                <a16:creationId xmlns:a16="http://schemas.microsoft.com/office/drawing/2014/main" id="{221F4CAC-DB72-426D-88BC-938059352334}"/>
              </a:ext>
            </a:extLst>
          </p:cNvPr>
          <p:cNvSpPr>
            <a:spLocks xmlns:a="http://schemas.openxmlformats.org/drawingml/2006/main" noGrp="1"/>
          </p:cNvSpPr>
          <p:nvPr/>
        </p:nvSpPr>
        <p:spPr>
          <a:xfrm xmlns:a="http://schemas.openxmlformats.org/drawingml/2006/main">
            <a:off x="8153400" y="2628900"/>
            <a:ext cx="3352800" cy="38100"/>
          </a:xfrm>
          <a:prstGeom xmlns:a="http://schemas.openxmlformats.org/drawingml/2006/main" prst="rect">
            <a:avLst/>
          </a:prstGeom>
          <a:solidFill xmlns:a="http://schemas.openxmlformats.org/drawingml/2006/main">
            <a:srgbClr val="60A5FA"/>
          </a:solidFill>
          <a:ln xmlns:a="http://schemas.openxmlformats.org/drawingml/2006/main" w="0">
            <a:solidFill>
              <a:srgbClr val="60A5FA"/>
            </a:solidFill>
            <a:prstDash val="solid"/>
          </a:ln>
        </p:spPr>
      </p:sp>
      <p:sp>
        <p:nvSpPr>
          <p:cNvPr id="13" name="action-title-03">
            <a:extLst xmlns:a="http://schemas.openxmlformats.org/drawingml/2006/main">
              <a:ext uri="{FF2B5EF4-FFF2-40B4-BE49-F238E27FC236}">
                <a16:creationId xmlns:a16="http://schemas.microsoft.com/office/drawing/2014/main" id="{93F37687-BE8B-4069-9D8C-CBC2B6E56D42}"/>
              </a:ext>
            </a:extLst>
          </p:cNvPr>
          <p:cNvSpPr>
            <a:spLocks xmlns:a="http://schemas.openxmlformats.org/drawingml/2006/main" noGrp="1"/>
          </p:cNvSpPr>
          <p:nvPr/>
        </p:nvSpPr>
        <p:spPr>
          <a:xfrm xmlns:a="http://schemas.openxmlformats.org/drawingml/2006/main">
            <a:off x="8153400" y="2914650"/>
            <a:ext cx="335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875" b="1">
                <a:solidFill>
                  <a:srgbClr val="101827"/>
                </a:solidFill>
                <a:latin typeface="Arial"/>
                <a:ea typeface="Arial"/>
                <a:cs typeface="Arial"/>
              </a:defRPr>
            </a:pPr>
            <a:r>
              <a:rPr sz="1875" b="1">
                <a:solidFill>
                  <a:srgbClr val="101827"/>
                </a:solidFill>
                <a:latin typeface="Arial"/>
                <a:ea typeface="Arial"/>
                <a:cs typeface="Arial"/>
              </a:rPr>
              <a:t>Test repeat-purchase ideas</a:t>
            </a:r>
          </a:p>
        </p:txBody>
      </p:sp>
      <p:sp>
        <p:nvSpPr>
          <p:cNvPr id="14" name="action-detail-03">
            <a:extLst xmlns:a="http://schemas.openxmlformats.org/drawingml/2006/main">
              <a:ext uri="{FF2B5EF4-FFF2-40B4-BE49-F238E27FC236}">
                <a16:creationId xmlns:a16="http://schemas.microsoft.com/office/drawing/2014/main" id="{AF6874F7-02EB-4677-B4FC-FCB07F6F34A6}"/>
              </a:ext>
            </a:extLst>
          </p:cNvPr>
          <p:cNvSpPr>
            <a:spLocks xmlns:a="http://schemas.openxmlformats.org/drawingml/2006/main" noGrp="1"/>
          </p:cNvSpPr>
          <p:nvPr/>
        </p:nvSpPr>
        <p:spPr>
          <a:xfrm xmlns:a="http://schemas.openxmlformats.org/drawingml/2006/main">
            <a:off x="8153400" y="3695700"/>
            <a:ext cx="335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buNone/>
              <a:defRPr sz="1350" b="0">
                <a:solidFill>
                  <a:srgbClr val="667085"/>
                </a:solidFill>
                <a:latin typeface="Arial"/>
                <a:ea typeface="Arial"/>
                <a:cs typeface="Arial"/>
              </a:defRPr>
            </a:pPr>
            <a:r>
              <a:rPr sz="1350" b="0">
                <a:solidFill>
                  <a:srgbClr val="667085"/>
                </a:solidFill>
                <a:latin typeface="Arial"/>
                <a:ea typeface="Arial"/>
                <a:cs typeface="Arial"/>
              </a:rPr>
              <a:t>Compare post-purchase, replenishment, and service-recovery journeys.</a:t>
            </a:r>
          </a:p>
        </p:txBody>
      </p:sp>
      <p:sp>
        <p:nvSpPr>
          <p:cNvPr id="15" name="skills-proof">
            <a:extLst xmlns:a="http://schemas.openxmlformats.org/drawingml/2006/main">
              <a:ext uri="{FF2B5EF4-FFF2-40B4-BE49-F238E27FC236}">
                <a16:creationId xmlns:a16="http://schemas.microsoft.com/office/drawing/2014/main" id="{32B582B4-2823-4170-AEC3-F3E1211AFFAE}"/>
              </a:ext>
            </a:extLst>
          </p:cNvPr>
          <p:cNvSpPr>
            <a:spLocks xmlns:a="http://schemas.openxmlformats.org/drawingml/2006/main" noGrp="1"/>
          </p:cNvSpPr>
          <p:nvPr/>
        </p:nvSpPr>
        <p:spPr>
          <a:xfrm xmlns:a="http://schemas.openxmlformats.org/drawingml/2006/main">
            <a:off x="495300" y="5219700"/>
            <a:ext cx="11201400" cy="876300"/>
          </a:xfrm>
          <a:prstGeom xmlns:a="http://schemas.openxmlformats.org/drawingml/2006/main" prst="roundRect">
            <a:avLst>
              <a:gd name="adj" fmla="val 13043"/>
            </a:avLst>
          </a:prstGeom>
          <a:solidFill xmlns:a="http://schemas.openxmlformats.org/drawingml/2006/main">
            <a:srgbClr val="101827"/>
          </a:solidFill>
          <a:ln xmlns:a="http://schemas.openxmlformats.org/drawingml/2006/main" w="9525">
            <a:solidFill>
              <a:srgbClr val="101827"/>
            </a:solidFill>
            <a:prstDash val="solid"/>
          </a:ln>
        </p:spPr>
      </p:sp>
      <p:sp>
        <p:nvSpPr>
          <p:cNvPr id="16" name="skills-proof-text">
            <a:extLst xmlns:a="http://schemas.openxmlformats.org/drawingml/2006/main">
              <a:ext uri="{FF2B5EF4-FFF2-40B4-BE49-F238E27FC236}">
                <a16:creationId xmlns:a16="http://schemas.microsoft.com/office/drawing/2014/main" id="{2A9BEC73-05C6-4888-828D-C9225CA31A6D}"/>
              </a:ext>
            </a:extLst>
          </p:cNvPr>
          <p:cNvSpPr>
            <a:spLocks xmlns:a="http://schemas.openxmlformats.org/drawingml/2006/main" noGrp="1"/>
          </p:cNvSpPr>
          <p:nvPr/>
        </p:nvSpPr>
        <p:spPr>
          <a:xfrm xmlns:a="http://schemas.openxmlformats.org/drawingml/2006/main">
            <a:off x="781050" y="5410200"/>
            <a:ext cx="1062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159"/>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Next data I would add: product cost and marketing spend, so the project can move from GMV and retention signals to contribution margin and acquisition economics.</a:t>
            </a:r>
          </a:p>
        </p:txBody>
      </p:sp>
      <p:sp>
        <p:nvSpPr>
          <p:cNvPr id="17" name="footer-rule-6">
            <a:extLst xmlns:a="http://schemas.openxmlformats.org/drawingml/2006/main">
              <a:ext uri="{FF2B5EF4-FFF2-40B4-BE49-F238E27FC236}">
                <a16:creationId xmlns:a16="http://schemas.microsoft.com/office/drawing/2014/main" id="{E5942D04-6B83-44EA-B781-00754923224A}"/>
              </a:ext>
            </a:extLst>
          </p:cNvPr>
          <p:cNvSpPr>
            <a:spLocks xmlns:a="http://schemas.openxmlformats.org/drawingml/2006/main" noGrp="1"/>
          </p:cNvSpPr>
          <p:nvPr/>
        </p:nvSpPr>
        <p:spPr>
          <a:xfrm xmlns:a="http://schemas.openxmlformats.org/drawingml/2006/main">
            <a:off x="495300" y="6419850"/>
            <a:ext cx="11201400" cy="19050"/>
          </a:xfrm>
          <a:prstGeom xmlns:a="http://schemas.openxmlformats.org/drawingml/2006/main" prst="rect">
            <a:avLst/>
          </a:prstGeom>
          <a:solidFill xmlns:a="http://schemas.openxmlformats.org/drawingml/2006/main">
            <a:srgbClr val="D0D5DD"/>
          </a:solidFill>
          <a:ln xmlns:a="http://schemas.openxmlformats.org/drawingml/2006/main" w="0">
            <a:solidFill>
              <a:srgbClr val="D0D5DD"/>
            </a:solidFill>
            <a:prstDash val="solid"/>
          </a:ln>
        </p:spPr>
      </p:sp>
      <p:sp>
        <p:nvSpPr>
          <p:cNvPr id="18" name="footer-label-6">
            <a:extLst xmlns:a="http://schemas.openxmlformats.org/drawingml/2006/main">
              <a:ext uri="{FF2B5EF4-FFF2-40B4-BE49-F238E27FC236}">
                <a16:creationId xmlns:a16="http://schemas.microsoft.com/office/drawing/2014/main" id="{23825AC2-E5D2-44CF-900B-42C31DBE23C6}"/>
              </a:ext>
            </a:extLst>
          </p:cNvPr>
          <p:cNvSpPr>
            <a:spLocks xmlns:a="http://schemas.openxmlformats.org/drawingml/2006/main" noGrp="1"/>
          </p:cNvSpPr>
          <p:nvPr/>
        </p:nvSpPr>
        <p:spPr>
          <a:xfrm xmlns:a="http://schemas.openxmlformats.org/drawingml/2006/main">
            <a:off x="495300" y="650557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l">
              <a:buNone/>
              <a:defRPr sz="825" b="1">
                <a:solidFill>
                  <a:srgbClr val="667085"/>
                </a:solidFill>
                <a:latin typeface="Arial"/>
                <a:ea typeface="Arial"/>
                <a:cs typeface="Arial"/>
              </a:defRPr>
            </a:pPr>
            <a:r>
              <a:rPr sz="825" b="1">
                <a:solidFill>
                  <a:srgbClr val="667085"/>
                </a:solidFill>
                <a:latin typeface="Arial"/>
                <a:ea typeface="Arial"/>
                <a:cs typeface="Arial"/>
              </a:rPr>
              <a:t>COMMERCEIQ · PROJECT WALKTHROUGH</a:t>
            </a:r>
          </a:p>
        </p:txBody>
      </p:sp>
      <p:sp>
        <p:nvSpPr>
          <p:cNvPr id="19" name="footer-number-6">
            <a:extLst xmlns:a="http://schemas.openxmlformats.org/drawingml/2006/main">
              <a:ext uri="{FF2B5EF4-FFF2-40B4-BE49-F238E27FC236}">
                <a16:creationId xmlns:a16="http://schemas.microsoft.com/office/drawing/2014/main" id="{1C6DC292-191A-42C3-9ACD-6EB02D771ABE}"/>
              </a:ext>
            </a:extLst>
          </p:cNvPr>
          <p:cNvSpPr>
            <a:spLocks xmlns:a="http://schemas.openxmlformats.org/drawingml/2006/main" noGrp="1"/>
          </p:cNvSpPr>
          <p:nvPr/>
        </p:nvSpPr>
        <p:spPr>
          <a:xfrm xmlns:a="http://schemas.openxmlformats.org/drawingml/2006/main">
            <a:off x="11315700" y="65055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788"/>
          </a:bodyPr>
          <a:lstStyle xmlns:a="http://schemas.openxmlformats.org/drawingml/2006/main"/>
          <a:p xmlns:a="http://schemas.openxmlformats.org/drawingml/2006/main">
            <a:pPr algn="r">
              <a:buNone/>
              <a:defRPr sz="825" b="0">
                <a:solidFill>
                  <a:srgbClr val="667085"/>
                </a:solidFill>
                <a:latin typeface="Arial"/>
                <a:ea typeface="Arial"/>
                <a:cs typeface="Arial"/>
              </a:defRPr>
            </a:pPr>
            <a:r>
              <a:rPr sz="825" b="0">
                <a:solidFill>
                  <a:srgbClr val="667085"/>
                </a:solidFill>
                <a:latin typeface="Arial"/>
                <a:ea typeface="Arial"/>
                <a:cs typeface="Arial"/>
              </a:rPr>
              <a:t>6</a:t>
            </a:r>
          </a:p>
        </p:txBody>
      </p:sp>
    </p:spTree>
    <p:extLst>
      <p:ext uri="{BB962C8B-B14F-4D97-AF65-F5344CB8AC3E}">
        <p14:creationId xmlns:p14="http://schemas.microsoft.com/office/powerpoint/2010/main" val="19680761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2026-09-02T14:33:06.1910000Z</dcterms:created>
  <dcterms:modified xsi:type="dcterms:W3CDTF">2026-09-02T14:33:06.1910000Z</dcterms:modified>
</coreProperties>
</file>